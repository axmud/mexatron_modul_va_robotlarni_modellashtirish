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embeddedFontLst>
    <p:embeddedFont>
      <p:font typeface="Noto Sans" panose="020B0502040504020204" pitchFamily="34" charset="0"/>
      <p:regular r:id="rId28"/>
      <p:bold r:id="rId29"/>
    </p:embeddedFont>
    <p:embeddedFont>
      <p:font typeface="Noto Serif" panose="02020502060505020204" pitchFamily="18" charset="0"/>
      <p:regular r:id="rId30"/>
      <p:bold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Bugun manipulyatorning kinematik zanjirini matematik tavsiflaymiz: zvenolar va sharnirlar, erkinlik darajalari, bir jinsli oʻzgartirishlar, Denavit–Hartenberg usuli, toʻgʻri va teskari kinematika.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Kinematik model sharnir koordinatalari bilan ishchi organning fazodagi holati orasidagi bogʻlanishni beradi. U traektoriya rejalashtirish, dinamika va boshqaruvning asosi. Mashgʻulot toʻrt qismdan iborat.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Sanoat manipulyatorlarida asosan R va P sharnirlar ishlatiladi, chunki ularning har biri bitta erkinlik darajasiga ega va bitta yuritma bilan boshqariladi. Koʻp harakatchanlikli juftliklar parallel mexanizmlarda uchraydi.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zvenoga bitta koordinata tizimi biriktiriladi. Qoʻshni tizimlar orasidagi bogʻlanish faqat bitta sharnir koordinatasiga bogʻliq Aᵢ matritsa bilan beriladi. Butun zanjirning modeli bu matritsalarning koʻpaytmasi.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Birinchi uchta sharnir ishchi zonaning shaklini belgilaydi: Dekart — parallelepiped, silindrik — silindr, sferik — shar qatlami. SCARA va sferik ikkalasi RRP, lekin oʻqlarning joylashuvi farq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Grübler–Kutzbach formulasida n asos bilan birga zvenolar soni, j juftliklar soni. Ishchi organni fazoda ixtiyoriy holat va orientatsiyaga keltirish uchun olti erkinlik darajasi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Aylanish matritsasi orientatsiyani toʻqqizta element bilan beradi, lekin ortogonallik sharti tufayli faqat uchtasi mustaqil.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Holat va orientatsiyani bitta 4×4 matritsaga birlashtiramiz. Asosiy afzallik: ketma-ket oʻzgartirishlar oddiy koʻpaytma, teskari oʻzgartirish esa sodda formula bilan topiladi.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Ikki tizim orasidagi umumiy bogʻlanish 6 ta parametr talab qiladi. DH qoidalari tizimlarni maxsus joylashtirib, har bir zveno uchun parametrlar sonini 4 taga kamaytiradi.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Toʻrt parametrning ikkitasi zveno geometriyasini, qolgan ikkitasi sharnir holatini tavsiflaydi. Har bir sharnirda faqat bitta parametr oʻzgaradi.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Zveno matritsasi toʻrtta elementar oʻzgartirishning koʻpaytmasi. Ikki xil konvensiya bor: standart (Spong, Saha) va modifikatsiyalangan (Craig). Adabiyot bilan ishlashda bu farqqa eʼtibor 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Asosiy gʻoya: murakkab fazoviy mexanizmning modeli bir xil tuzilishdagi matritsalar koʻpaytmasiga keltiriladi. Bu dasturlashni ham juda osonlashtiradi.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Toʻgʻri kinematika sharnirlar fazosidan ishchi fazoga akslantirish va u har doim yagona yechimga ega. p — ishchi organ holati, n, s, a — normal, sirpanish va yaqinlashish vektorlari. Pastda modellashtirish algoritmi.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 sodda, lekin juda ibratli misol. αᵢ = 0, dᵢ = 0 boʻlgani uchun A₁A₂ koʻpaytmadan bevosita x, y va φ olinadi. Sharnirlar cheklanmagan boʻlsa, ishchi zona ichki radiusi |l₁ − l₂|, tashqi radiusi l₁ + l₂ boʻlgan halqa.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Teskari kinematika nochiziqli: yechim yagona emas, mavjud boʻlmasligi yoki cheksiz koʻp boʻlishi mumkin. RR uchun kosinuslar teoremasidan θ₂, soʻng θ₁ topiladi.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Hisob: a) 6(7−1−6)+6 = 6; b) 6(5−1−4)+4 = 4; c) 3(4−1−4)+4 = 1; d) 3(8−1−9)+9 = 3. Ochiq zanjirlarda natija sharnirlar soniga teng.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Toʻgʻri kinematika: x = 0.3464 + 0.0776, y = 0.2 + 0.2898. Teskari kinematika: avval ishchi zonani tekshiramiz, keyin θ₂ ning ikki qiymati va har biriga mos θ₁. Tekshirish: birinchi yechimni qoʻysak, aynan (0.5; 0.3) olinadi. Ikki yechimdan sharnir cheklovlari va oldingi holatga yaqinlik boʻyicha bittasi tanlanadi.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SCARA da birinchi ikki sharnir aylanma, oʻqlari vertikal; uchinchisi ilgarilanma shtok, toʻrtinchisi asbobni buradi. α₂ = 180° tanlansa, z₂ oʻqi pastga qaraydi va d₃ oshganda ishchi organ pastga tushadi.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Umumiy koʻrinishdan koʻrinadiki, gorizontal holat RR manipulyator formulasi bilan bir xil, balandlik esa faqat shtokka bogʻliq. Ushlagich doimo vertikal pastga qaragan, uning burilish burchagi φ = θ₁ + θ₂ − θ₄. Shuning uchun SCARA teskari kinematikasi RR masalasiga keltiriladi.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RR uchun: toʻgʻri kinematika, P nuqtani ishchi zonaga tekshirish, teskari kinematikaning ikkala yechimi va ularni tekshirish. SCARA uchun: DH jadvali, A₁…A₄ matritsalar, T⁰₄, holat p va burilish burchagi 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Nazorat savollari mashgʻulotning barcha boʻlimlarini qamraydi.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B57"/>
                </a:solidFill>
                <a:latin typeface="Noto Serif" pitchFamily="34" charset="0"/>
                <a:ea typeface="Noto Serif" pitchFamily="34" charset="-122"/>
                <a:cs typeface="Noto Serif"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42B57"/>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B57"/>
                </a:solidFill>
                <a:latin typeface="Noto Serif" pitchFamily="34" charset="0"/>
                <a:ea typeface="Noto Serif" pitchFamily="34" charset="-122"/>
                <a:cs typeface="Noto Serif"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42B57"/>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B57"/>
        </a:solidFill>
      </p:bgPr>
    </p:bg>
    <p:spTree>
      <p:nvGrpSpPr>
        <p:cNvPr id="1" name=""/>
        <p:cNvGrpSpPr/>
        <p:nvPr/>
      </p:nvGrpSpPr>
      <p:grpSpPr>
        <a:xfrm>
          <a:off x="0" y="0"/>
          <a:ext cx="0" cy="0"/>
          <a:chOff x="0" y="0"/>
          <a:chExt cx="0" cy="0"/>
        </a:xfrm>
      </p:grpSpPr>
      <p:sp>
        <p:nvSpPr>
          <p:cNvPr id="2" name="Shape 0"/>
          <p:cNvSpPr/>
          <p:nvPr/>
        </p:nvSpPr>
        <p:spPr>
          <a:xfrm>
            <a:off x="0" y="0"/>
            <a:ext cx="203200" cy="6858000"/>
          </a:xfrm>
          <a:prstGeom prst="rect">
            <a:avLst/>
          </a:prstGeom>
          <a:solidFill>
            <a:srgbClr val="D9731F"/>
          </a:solidFill>
          <a:ln/>
        </p:spPr>
      </p:sp>
      <p:sp>
        <p:nvSpPr>
          <p:cNvPr id="3" name="Text 1"/>
          <p:cNvSpPr/>
          <p:nvPr/>
        </p:nvSpPr>
        <p:spPr>
          <a:xfrm>
            <a:off x="812800" y="17272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0A766"/>
                </a:solidFill>
                <a:latin typeface="Noto Sans" pitchFamily="34" charset="0"/>
                <a:ea typeface="Noto Sans" pitchFamily="34" charset="-122"/>
                <a:cs typeface="Noto Sans" pitchFamily="34" charset="-120"/>
              </a:rPr>
              <a:t>AMALIYOT MASHGʻULOTI №6</a:t>
            </a:r>
            <a:endParaRPr lang="en-US" sz="1600" dirty="0"/>
          </a:p>
        </p:txBody>
      </p:sp>
      <p:sp>
        <p:nvSpPr>
          <p:cNvPr id="4" name="Text 2"/>
          <p:cNvSpPr/>
          <p:nvPr>
            <p:ph type="title"/>
          </p:nvPr>
        </p:nvSpPr>
        <p:spPr>
          <a:xfrm>
            <a:off x="812800" y="2265680"/>
            <a:ext cx="10883392" cy="203708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Noto Serif" pitchFamily="18" charset="0"/>
                <a:ea typeface="Noto Serif" pitchFamily="18" charset="-122"/>
                <a:cs typeface="Noto Serif" pitchFamily="18" charset="-120"/>
              </a:rPr>
              <a:t>Manipulyatsion robotning kinematik zanjirini modellashtirish</a:t>
            </a:r>
            <a:endParaRPr lang="en-US" sz="4800" dirty="0"/>
          </a:p>
        </p:txBody>
      </p:sp>
      <p:pic>
        <p:nvPicPr>
          <p:cNvPr id="5" name="Image 0" descr="line">    </p:cNvPr>
          <p:cNvPicPr>
            <a:picLocks noChangeAspect="1"/>
          </p:cNvPicPr>
          <p:nvPr/>
        </p:nvPicPr>
        <p:blipFill>
          <a:blip r:embed="rId1"/>
          <a:srcRect l="0" r="0" t="0" b="0"/>
          <a:stretch/>
        </p:blipFill>
        <p:spPr>
          <a:xfrm>
            <a:off x="812800" y="4531360"/>
            <a:ext cx="1524000" cy="25400"/>
          </a:xfrm>
          <a:prstGeom prst="rect">
            <a:avLst/>
          </a:prstGeom>
        </p:spPr>
      </p:pic>
      <p:sp>
        <p:nvSpPr>
          <p:cNvPr id="6" name="Text 3"/>
          <p:cNvSpPr/>
          <p:nvPr/>
        </p:nvSpPr>
        <p:spPr>
          <a:xfrm>
            <a:off x="812800" y="481076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E6"/>
                </a:solidFill>
                <a:latin typeface="Noto Sans" pitchFamily="34" charset="0"/>
                <a:ea typeface="Noto Sans" pitchFamily="34" charset="-122"/>
                <a:cs typeface="Noto Sans" pitchFamily="34" charset="-120"/>
              </a:rPr>
              <a:t>Mexatron modul va robotlarni modellashtirish</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1 · ISHNING MAQSADI</a:t>
            </a:r>
            <a:endParaRPr lang="en-US" sz="1200" dirty="0"/>
          </a:p>
        </p:txBody>
      </p:sp>
      <p:sp>
        <p:nvSpPr>
          <p:cNvPr id="3" name="Text 1"/>
          <p:cNvSpPr/>
          <p:nvPr>
            <p:ph type="title"/>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Mashgʻulotning maqsadi</a:t>
            </a:r>
            <a:endParaRPr lang="en-US" sz="3200" dirty="0"/>
          </a:p>
        </p:txBody>
      </p:sp>
      <p:sp>
        <p:nvSpPr>
          <p:cNvPr id="4" name="Text 2"/>
          <p:cNvSpPr/>
          <p:nvPr/>
        </p:nvSpPr>
        <p:spPr>
          <a:xfrm>
            <a:off x="812800" y="1803400"/>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B57"/>
                </a:solidFill>
                <a:latin typeface="Noto Sans" pitchFamily="34" charset="0"/>
                <a:ea typeface="Noto Sans" pitchFamily="34" charset="-122"/>
                <a:cs typeface="Noto Sans" pitchFamily="34" charset="-120"/>
              </a:rPr>
              <a:t>Manipulyatorning kinematik zanjirini bir jinsli oʻzgartirishlar va Denavit–Hartenberg usuli yordamida modellashtirish, toʻgʻri va teskari kinematika masalalarini yechishni oʻrganish.</a:t>
            </a:r>
            <a:endParaRPr lang="en-US" sz="1700" dirty="0"/>
          </a:p>
        </p:txBody>
      </p:sp>
      <p:sp>
        <p:nvSpPr>
          <p:cNvPr id="5" name="Shape 3"/>
          <p:cNvSpPr/>
          <p:nvPr/>
        </p:nvSpPr>
        <p:spPr>
          <a:xfrm>
            <a:off x="815975" y="2665095"/>
            <a:ext cx="2482850" cy="2472690"/>
          </a:xfrm>
          <a:prstGeom prst="roundRect">
            <a:avLst>
              <a:gd name="adj" fmla="val 3980"/>
            </a:avLst>
          </a:prstGeom>
          <a:solidFill>
            <a:srgbClr val="FCFBF8"/>
          </a:solidFill>
          <a:ln w="6350">
            <a:solidFill>
              <a:srgbClr val="D6DBE4"/>
            </a:solidFill>
            <a:prstDash val="solid"/>
          </a:ln>
        </p:spPr>
      </p:sp>
      <p:sp>
        <p:nvSpPr>
          <p:cNvPr id="6" name="Text 4"/>
          <p:cNvSpPr/>
          <p:nvPr/>
        </p:nvSpPr>
        <p:spPr>
          <a:xfrm>
            <a:off x="1071880" y="2921000"/>
            <a:ext cx="20301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40F"/>
                </a:solidFill>
                <a:latin typeface="Noto Sans" pitchFamily="34" charset="0"/>
                <a:ea typeface="Noto Sans" pitchFamily="34" charset="-122"/>
                <a:cs typeface="Noto Sans" pitchFamily="34" charset="-120"/>
              </a:rPr>
              <a:t>01</a:t>
            </a:r>
            <a:endParaRPr lang="en-US" sz="1200" dirty="0"/>
          </a:p>
        </p:txBody>
      </p:sp>
      <p:sp>
        <p:nvSpPr>
          <p:cNvPr id="7" name="Text 5"/>
          <p:cNvSpPr/>
          <p:nvPr/>
        </p:nvSpPr>
        <p:spPr>
          <a:xfrm>
            <a:off x="1071880" y="3235960"/>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Kinematik zanjir</a:t>
            </a:r>
            <a:endParaRPr lang="en-US" sz="1800" dirty="0"/>
          </a:p>
        </p:txBody>
      </p:sp>
      <p:sp>
        <p:nvSpPr>
          <p:cNvPr id="8" name="Text 6"/>
          <p:cNvSpPr/>
          <p:nvPr/>
        </p:nvSpPr>
        <p:spPr>
          <a:xfrm>
            <a:off x="1071880" y="3611880"/>
            <a:ext cx="203017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Zvenolar, kinematik juftliklar va erkinlik darajalari soni</a:t>
            </a:r>
            <a:endParaRPr lang="en-US" sz="1400" dirty="0"/>
          </a:p>
        </p:txBody>
      </p:sp>
      <p:sp>
        <p:nvSpPr>
          <p:cNvPr id="9" name="Shape 7"/>
          <p:cNvSpPr/>
          <p:nvPr/>
        </p:nvSpPr>
        <p:spPr>
          <a:xfrm>
            <a:off x="3508375" y="2665095"/>
            <a:ext cx="2482850" cy="2472690"/>
          </a:xfrm>
          <a:prstGeom prst="roundRect">
            <a:avLst>
              <a:gd name="adj" fmla="val 3980"/>
            </a:avLst>
          </a:prstGeom>
          <a:solidFill>
            <a:srgbClr val="FCFBF8"/>
          </a:solidFill>
          <a:ln w="6350">
            <a:solidFill>
              <a:srgbClr val="D6DBE4"/>
            </a:solidFill>
            <a:prstDash val="solid"/>
          </a:ln>
        </p:spPr>
      </p:sp>
      <p:sp>
        <p:nvSpPr>
          <p:cNvPr id="10" name="Text 8"/>
          <p:cNvSpPr/>
          <p:nvPr/>
        </p:nvSpPr>
        <p:spPr>
          <a:xfrm>
            <a:off x="3764280" y="2921000"/>
            <a:ext cx="20301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40F"/>
                </a:solidFill>
                <a:latin typeface="Noto Sans" pitchFamily="34" charset="0"/>
                <a:ea typeface="Noto Sans" pitchFamily="34" charset="-122"/>
                <a:cs typeface="Noto Sans" pitchFamily="34" charset="-120"/>
              </a:rPr>
              <a:t>02</a:t>
            </a:r>
            <a:endParaRPr lang="en-US" sz="1200" dirty="0"/>
          </a:p>
        </p:txBody>
      </p:sp>
      <p:sp>
        <p:nvSpPr>
          <p:cNvPr id="11" name="Text 9"/>
          <p:cNvSpPr/>
          <p:nvPr/>
        </p:nvSpPr>
        <p:spPr>
          <a:xfrm>
            <a:off x="3764280" y="3235960"/>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DH modeli</a:t>
            </a:r>
            <a:endParaRPr lang="en-US" sz="1800" dirty="0"/>
          </a:p>
        </p:txBody>
      </p:sp>
      <p:sp>
        <p:nvSpPr>
          <p:cNvPr id="12" name="Text 10"/>
          <p:cNvSpPr/>
          <p:nvPr/>
        </p:nvSpPr>
        <p:spPr>
          <a:xfrm>
            <a:off x="3764280" y="3611880"/>
            <a:ext cx="203017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Koordinata tizimlarini joylashtirish va DH parametrlari jadvali</a:t>
            </a:r>
            <a:endParaRPr lang="en-US" sz="1400" dirty="0"/>
          </a:p>
        </p:txBody>
      </p:sp>
      <p:sp>
        <p:nvSpPr>
          <p:cNvPr id="13" name="Shape 11"/>
          <p:cNvSpPr/>
          <p:nvPr/>
        </p:nvSpPr>
        <p:spPr>
          <a:xfrm>
            <a:off x="6200775" y="2665095"/>
            <a:ext cx="2482850" cy="2472690"/>
          </a:xfrm>
          <a:prstGeom prst="roundRect">
            <a:avLst>
              <a:gd name="adj" fmla="val 3980"/>
            </a:avLst>
          </a:prstGeom>
          <a:solidFill>
            <a:srgbClr val="FCFBF8"/>
          </a:solidFill>
          <a:ln w="6350">
            <a:solidFill>
              <a:srgbClr val="D6DBE4"/>
            </a:solidFill>
            <a:prstDash val="solid"/>
          </a:ln>
        </p:spPr>
      </p:sp>
      <p:sp>
        <p:nvSpPr>
          <p:cNvPr id="14" name="Text 12"/>
          <p:cNvSpPr/>
          <p:nvPr/>
        </p:nvSpPr>
        <p:spPr>
          <a:xfrm>
            <a:off x="6456680" y="2921000"/>
            <a:ext cx="20301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40F"/>
                </a:solidFill>
                <a:latin typeface="Noto Sans" pitchFamily="34" charset="0"/>
                <a:ea typeface="Noto Sans" pitchFamily="34" charset="-122"/>
                <a:cs typeface="Noto Sans" pitchFamily="34" charset="-120"/>
              </a:rPr>
              <a:t>03</a:t>
            </a:r>
            <a:endParaRPr lang="en-US" sz="1200" dirty="0"/>
          </a:p>
        </p:txBody>
      </p:sp>
      <p:sp>
        <p:nvSpPr>
          <p:cNvPr id="15" name="Text 13"/>
          <p:cNvSpPr/>
          <p:nvPr/>
        </p:nvSpPr>
        <p:spPr>
          <a:xfrm>
            <a:off x="6456680" y="3235960"/>
            <a:ext cx="2030171"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Toʻgʻri kinematika</a:t>
            </a:r>
            <a:endParaRPr lang="en-US" sz="1800" dirty="0"/>
          </a:p>
        </p:txBody>
      </p:sp>
      <p:sp>
        <p:nvSpPr>
          <p:cNvPr id="16" name="Text 14"/>
          <p:cNvSpPr/>
          <p:nvPr/>
        </p:nvSpPr>
        <p:spPr>
          <a:xfrm>
            <a:off x="6456680" y="3886200"/>
            <a:ext cx="203017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Sharnir koordinatalaridan ishchi organ holati va orientatsiyasi</a:t>
            </a:r>
            <a:endParaRPr lang="en-US" sz="1400" dirty="0"/>
          </a:p>
        </p:txBody>
      </p:sp>
      <p:sp>
        <p:nvSpPr>
          <p:cNvPr id="17" name="Shape 15"/>
          <p:cNvSpPr/>
          <p:nvPr/>
        </p:nvSpPr>
        <p:spPr>
          <a:xfrm>
            <a:off x="8893175" y="2665095"/>
            <a:ext cx="2482850" cy="2472690"/>
          </a:xfrm>
          <a:prstGeom prst="roundRect">
            <a:avLst>
              <a:gd name="adj" fmla="val 3980"/>
            </a:avLst>
          </a:prstGeom>
          <a:solidFill>
            <a:srgbClr val="FCFBF8"/>
          </a:solidFill>
          <a:ln w="6350">
            <a:solidFill>
              <a:srgbClr val="D6DBE4"/>
            </a:solidFill>
            <a:prstDash val="solid"/>
          </a:ln>
        </p:spPr>
      </p:sp>
      <p:sp>
        <p:nvSpPr>
          <p:cNvPr id="18" name="Text 16"/>
          <p:cNvSpPr/>
          <p:nvPr/>
        </p:nvSpPr>
        <p:spPr>
          <a:xfrm>
            <a:off x="9149080" y="2921000"/>
            <a:ext cx="20301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40F"/>
                </a:solidFill>
                <a:latin typeface="Noto Sans" pitchFamily="34" charset="0"/>
                <a:ea typeface="Noto Sans" pitchFamily="34" charset="-122"/>
                <a:cs typeface="Noto Sans" pitchFamily="34" charset="-120"/>
              </a:rPr>
              <a:t>04</a:t>
            </a:r>
            <a:endParaRPr lang="en-US" sz="1200" dirty="0"/>
          </a:p>
        </p:txBody>
      </p:sp>
      <p:sp>
        <p:nvSpPr>
          <p:cNvPr id="19" name="Text 17"/>
          <p:cNvSpPr/>
          <p:nvPr/>
        </p:nvSpPr>
        <p:spPr>
          <a:xfrm>
            <a:off x="9149080" y="3235960"/>
            <a:ext cx="2030171"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Teskari kinematika</a:t>
            </a:r>
            <a:endParaRPr lang="en-US" sz="1800" dirty="0"/>
          </a:p>
        </p:txBody>
      </p:sp>
      <p:sp>
        <p:nvSpPr>
          <p:cNvPr id="20" name="Text 18"/>
          <p:cNvSpPr/>
          <p:nvPr/>
        </p:nvSpPr>
        <p:spPr>
          <a:xfrm>
            <a:off x="9149080" y="3886200"/>
            <a:ext cx="203017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Berilgan nuqta uchun sharnir burchaklari va koʻp yechimlilik</a:t>
            </a:r>
            <a:endParaRPr lang="en-US" sz="1400" dirty="0"/>
          </a:p>
        </p:txBody>
      </p:sp>
      <p:sp>
        <p:nvSpPr>
          <p:cNvPr id="21" name="Text 1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2 · KINEMATIK ZANJIR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Zvenolar va kinematik juftliklar</a:t>
            </a:r>
            <a:endParaRPr lang="en-US" sz="3200" dirty="0"/>
          </a:p>
        </p:txBody>
      </p:sp>
      <p:sp>
        <p:nvSpPr>
          <p:cNvPr id="4" name="Text 2"/>
          <p:cNvSpPr/>
          <p:nvPr/>
        </p:nvSpPr>
        <p:spPr>
          <a:xfrm>
            <a:off x="812800" y="18034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Kinematik zanjir — sharnirlar orqali bogʻlangan zvenolar tizimi. Asos 0, harakatlanuvchi zvenolar 1…n; i-sharnir holati qᵢ: aylanmada θᵢ, ilgarilanmada dᵢ.</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600960"/>
          <a:ext cx="10556240" cy="2684780"/>
        </p:xfrm>
        <a:graphic>
          <a:graphicData uri="http://schemas.openxmlformats.org/drawingml/2006/table">
            <a:tbl>
              <a:tblPr/>
              <a:tblGrid>
                <a:gridCol w="3589122"/>
                <a:gridCol w="1266749"/>
                <a:gridCol w="1900123"/>
                <a:gridCol w="3800246"/>
              </a:tblGrid>
              <a:tr h="383540">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Juftlik</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Belgi</a:t>
                      </a:r>
                      <a:endParaRPr lang="en-US" sz="1400" dirty="0">
                        <a:latin typeface="Noto Sans" charset="0"/>
                        <a:ea typeface="Noto Sans" charset="0"/>
                        <a:cs typeface="Noto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Harakatchanlik fᵢ</a:t>
                      </a:r>
                      <a:endParaRPr lang="en-US" sz="1400" dirty="0">
                        <a:latin typeface="Noto Sans" charset="0"/>
                        <a:ea typeface="Noto Sans" charset="0"/>
                        <a:cs typeface="Noto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Ruxsat etilgan harakat</a:t>
                      </a:r>
                      <a:endParaRPr lang="en-US" sz="1400" dirty="0">
                        <a:latin typeface="Noto Sans" charset="0"/>
                        <a:ea typeface="Noto Sans" charset="0"/>
                        <a:cs typeface="Noto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Aylanma (revolute)</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R</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1</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bitta oʻq atrofida aylanish</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Ilgarilanma (prismatic)</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P</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1</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bitta oʻq boʻylab siljish</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Vintli (helical)</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H</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1</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bogʻliq aylanish va siljish</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Silindrik (cylindrical)</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C</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2</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aylanish va siljish</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Universal, kardan</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U</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2</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ikki oʻq atrofida aylanish</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Sferik (spherical)</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S</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3</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nuqta atrofida uch aylanish</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2 · KINEMATIK ZANJIR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Kinematik zanjir — tizimlar ketma-ketligi</a:t>
            </a:r>
            <a:endParaRPr lang="en-US" sz="3200" dirty="0"/>
          </a:p>
        </p:txBody>
      </p:sp>
      <p:sp>
        <p:nvSpPr>
          <p:cNvPr id="4" name="Shape 2"/>
          <p:cNvSpPr/>
          <p:nvPr/>
        </p:nvSpPr>
        <p:spPr>
          <a:xfrm>
            <a:off x="812800" y="1803400"/>
            <a:ext cx="10566400" cy="2044700"/>
          </a:xfrm>
          <a:prstGeom prst="roundRect">
            <a:avLst>
              <a:gd name="adj" fmla="val 4969"/>
            </a:avLst>
          </a:prstGeom>
          <a:solidFill>
            <a:srgbClr val="FFFFFF"/>
          </a:solidFill>
          <a:ln/>
        </p:spPr>
      </p:sp>
      <p:pic>
        <p:nvPicPr>
          <p:cNvPr id="5" name="Image 0" descr="Koordinata tizimlari ketma-ketligi: asosdan ishchi organgacha A1…An matritsalar">    </p:cNvPr>
          <p:cNvPicPr>
            <a:picLocks noChangeAspect="1"/>
          </p:cNvPicPr>
          <p:nvPr/>
        </p:nvPicPr>
        <p:blipFill>
          <a:blip r:embed="rId1"/>
          <a:srcRect l="0" r="0" t="-54" b="-54"/>
          <a:stretch/>
        </p:blipFill>
        <p:spPr>
          <a:xfrm>
            <a:off x="1492250" y="1955800"/>
            <a:ext cx="9207500" cy="1739900"/>
          </a:xfrm>
          <a:prstGeom prst="rect">
            <a:avLst/>
          </a:prstGeom>
        </p:spPr>
      </p:pic>
      <p:sp>
        <p:nvSpPr>
          <p:cNvPr id="6" name="Shape 3"/>
          <p:cNvSpPr/>
          <p:nvPr/>
        </p:nvSpPr>
        <p:spPr>
          <a:xfrm>
            <a:off x="815975" y="4105275"/>
            <a:ext cx="5175250" cy="1385570"/>
          </a:xfrm>
          <a:prstGeom prst="roundRect">
            <a:avLst>
              <a:gd name="adj" fmla="val 7104"/>
            </a:avLst>
          </a:prstGeom>
          <a:solidFill>
            <a:srgbClr val="FCFBF8"/>
          </a:solidFill>
          <a:ln w="6350">
            <a:solidFill>
              <a:srgbClr val="D6DBE4"/>
            </a:solidFill>
            <a:prstDash val="solid"/>
          </a:ln>
        </p:spPr>
      </p:sp>
      <p:sp>
        <p:nvSpPr>
          <p:cNvPr id="7" name="Text 4"/>
          <p:cNvSpPr/>
          <p:nvPr/>
        </p:nvSpPr>
        <p:spPr>
          <a:xfrm>
            <a:off x="1071880" y="4361180"/>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Ochiq zanjir</a:t>
            </a:r>
            <a:endParaRPr lang="en-US" sz="1800" dirty="0"/>
          </a:p>
        </p:txBody>
      </p:sp>
      <p:sp>
        <p:nvSpPr>
          <p:cNvPr id="8" name="Text 5"/>
          <p:cNvSpPr/>
          <p:nvPr/>
        </p:nvSpPr>
        <p:spPr>
          <a:xfrm>
            <a:off x="1071880" y="473710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Zvenolar ketma-ket, oxirgisi erkin: klassik sanoat manipulyatorlari.</a:t>
            </a:r>
            <a:endParaRPr lang="en-US" sz="1400" dirty="0"/>
          </a:p>
        </p:txBody>
      </p:sp>
      <p:sp>
        <p:nvSpPr>
          <p:cNvPr id="9" name="Shape 6"/>
          <p:cNvSpPr/>
          <p:nvPr/>
        </p:nvSpPr>
        <p:spPr>
          <a:xfrm>
            <a:off x="6200775" y="4105275"/>
            <a:ext cx="5175250" cy="1385570"/>
          </a:xfrm>
          <a:prstGeom prst="roundRect">
            <a:avLst>
              <a:gd name="adj" fmla="val 7104"/>
            </a:avLst>
          </a:prstGeom>
          <a:solidFill>
            <a:srgbClr val="FCFBF8"/>
          </a:solidFill>
          <a:ln w="6350">
            <a:solidFill>
              <a:srgbClr val="D6DBE4"/>
            </a:solidFill>
            <a:prstDash val="solid"/>
          </a:ln>
        </p:spPr>
      </p:sp>
      <p:sp>
        <p:nvSpPr>
          <p:cNvPr id="10" name="Text 7"/>
          <p:cNvSpPr/>
          <p:nvPr/>
        </p:nvSpPr>
        <p:spPr>
          <a:xfrm>
            <a:off x="6456680" y="4361180"/>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Yopiq zanjir</a:t>
            </a:r>
            <a:endParaRPr lang="en-US" sz="1800" dirty="0"/>
          </a:p>
        </p:txBody>
      </p:sp>
      <p:sp>
        <p:nvSpPr>
          <p:cNvPr id="11" name="Text 8"/>
          <p:cNvSpPr/>
          <p:nvPr/>
        </p:nvSpPr>
        <p:spPr>
          <a:xfrm>
            <a:off x="6456680" y="473710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Zvenolar yopiq kontur hosil qiladi: delta-robot, Gyu–Styuart platformasi.</a:t>
            </a:r>
            <a:endParaRPr lang="en-US" sz="1400" dirty="0"/>
          </a:p>
        </p:txBody>
      </p:sp>
      <p:sp>
        <p:nvSpPr>
          <p:cNvPr id="12" name="Text 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2 · KINEMATIK ZANJIR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Manipulyatorlar tasnifi</a:t>
            </a:r>
            <a:endParaRPr lang="en-US" sz="3200" dirty="0"/>
          </a:p>
        </p:txBody>
      </p:sp>
      <p:sp>
        <p:nvSpPr>
          <p:cNvPr id="4" name="Text 2"/>
          <p:cNvSpPr/>
          <p:nvPr/>
        </p:nvSpPr>
        <p:spPr>
          <a:xfrm>
            <a:off x="812800" y="18034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Tasnif dastlabki uchta — holatni belgilovchi — sharnir turi boʻyicha. Qolgan sharnirlar orientatsiyani belgilaydi va bilak deb ataladi.</a:t>
            </a:r>
            <a:endParaRPr lang="en-US" sz="1500" dirty="0"/>
          </a:p>
        </p:txBody>
      </p:sp>
      <p:sp>
        <p:nvSpPr>
          <p:cNvPr id="5" name="Shape 3"/>
          <p:cNvSpPr/>
          <p:nvPr/>
        </p:nvSpPr>
        <p:spPr>
          <a:xfrm>
            <a:off x="815975" y="2593975"/>
            <a:ext cx="1985010" cy="2010410"/>
          </a:xfrm>
          <a:prstGeom prst="roundRect">
            <a:avLst>
              <a:gd name="adj" fmla="val 4958"/>
            </a:avLst>
          </a:prstGeom>
          <a:solidFill>
            <a:srgbClr val="FCFBF8"/>
          </a:solidFill>
          <a:ln w="6350">
            <a:solidFill>
              <a:srgbClr val="D6DBE4"/>
            </a:solidFill>
            <a:prstDash val="solid"/>
          </a:ln>
        </p:spPr>
      </p:sp>
      <p:sp>
        <p:nvSpPr>
          <p:cNvPr id="6" name="Text 4"/>
          <p:cNvSpPr/>
          <p:nvPr/>
        </p:nvSpPr>
        <p:spPr>
          <a:xfrm>
            <a:off x="1021080" y="2799079"/>
            <a:ext cx="16256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540F"/>
                </a:solidFill>
                <a:latin typeface="Noto Serif" pitchFamily="18" charset="0"/>
                <a:ea typeface="Noto Serif" pitchFamily="18" charset="-122"/>
                <a:cs typeface="Noto Serif" pitchFamily="18" charset="-120"/>
              </a:rPr>
              <a:t>PPP</a:t>
            </a:r>
            <a:endParaRPr lang="en-US" sz="2400" dirty="0"/>
          </a:p>
        </p:txBody>
      </p:sp>
      <p:sp>
        <p:nvSpPr>
          <p:cNvPr id="7" name="Text 5"/>
          <p:cNvSpPr/>
          <p:nvPr/>
        </p:nvSpPr>
        <p:spPr>
          <a:xfrm>
            <a:off x="1021080" y="3302000"/>
            <a:ext cx="16256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Dekart</a:t>
            </a:r>
            <a:endParaRPr lang="en-US" sz="1800" dirty="0"/>
          </a:p>
        </p:txBody>
      </p:sp>
      <p:sp>
        <p:nvSpPr>
          <p:cNvPr id="8" name="Text 6"/>
          <p:cNvSpPr/>
          <p:nvPr/>
        </p:nvSpPr>
        <p:spPr>
          <a:xfrm>
            <a:off x="1021080" y="3652521"/>
            <a:ext cx="162560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Uchta ilgarilanma oʻq: portal robotlar, CNC</a:t>
            </a:r>
            <a:endParaRPr lang="en-US" sz="1400" dirty="0"/>
          </a:p>
        </p:txBody>
      </p:sp>
      <p:sp>
        <p:nvSpPr>
          <p:cNvPr id="9" name="Shape 7"/>
          <p:cNvSpPr/>
          <p:nvPr/>
        </p:nvSpPr>
        <p:spPr>
          <a:xfrm>
            <a:off x="2959735" y="2593975"/>
            <a:ext cx="1985010" cy="2010410"/>
          </a:xfrm>
          <a:prstGeom prst="roundRect">
            <a:avLst>
              <a:gd name="adj" fmla="val 4958"/>
            </a:avLst>
          </a:prstGeom>
          <a:solidFill>
            <a:srgbClr val="FCFBF8"/>
          </a:solidFill>
          <a:ln w="6350">
            <a:solidFill>
              <a:srgbClr val="D6DBE4"/>
            </a:solidFill>
            <a:prstDash val="solid"/>
          </a:ln>
        </p:spPr>
      </p:sp>
      <p:sp>
        <p:nvSpPr>
          <p:cNvPr id="10" name="Text 8"/>
          <p:cNvSpPr/>
          <p:nvPr/>
        </p:nvSpPr>
        <p:spPr>
          <a:xfrm>
            <a:off x="3164840" y="2799079"/>
            <a:ext cx="16256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540F"/>
                </a:solidFill>
                <a:latin typeface="Noto Serif" pitchFamily="18" charset="0"/>
                <a:ea typeface="Noto Serif" pitchFamily="18" charset="-122"/>
                <a:cs typeface="Noto Serif" pitchFamily="18" charset="-120"/>
              </a:rPr>
              <a:t>RPP</a:t>
            </a:r>
            <a:endParaRPr lang="en-US" sz="2400" dirty="0"/>
          </a:p>
        </p:txBody>
      </p:sp>
      <p:sp>
        <p:nvSpPr>
          <p:cNvPr id="11" name="Text 9"/>
          <p:cNvSpPr/>
          <p:nvPr/>
        </p:nvSpPr>
        <p:spPr>
          <a:xfrm>
            <a:off x="3164840" y="3302000"/>
            <a:ext cx="16256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Silindrik</a:t>
            </a:r>
            <a:endParaRPr lang="en-US" sz="1800" dirty="0"/>
          </a:p>
        </p:txBody>
      </p:sp>
      <p:sp>
        <p:nvSpPr>
          <p:cNvPr id="12" name="Text 10"/>
          <p:cNvSpPr/>
          <p:nvPr/>
        </p:nvSpPr>
        <p:spPr>
          <a:xfrm>
            <a:off x="3164840" y="3652521"/>
            <a:ext cx="162560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Aylanish va ikki siljish: silindrik ishchi zona</a:t>
            </a:r>
            <a:endParaRPr lang="en-US" sz="1400" dirty="0"/>
          </a:p>
        </p:txBody>
      </p:sp>
      <p:sp>
        <p:nvSpPr>
          <p:cNvPr id="13" name="Shape 11"/>
          <p:cNvSpPr/>
          <p:nvPr/>
        </p:nvSpPr>
        <p:spPr>
          <a:xfrm>
            <a:off x="5103495" y="2593975"/>
            <a:ext cx="1985010" cy="2010410"/>
          </a:xfrm>
          <a:prstGeom prst="roundRect">
            <a:avLst>
              <a:gd name="adj" fmla="val 4958"/>
            </a:avLst>
          </a:prstGeom>
          <a:solidFill>
            <a:srgbClr val="FCFBF8"/>
          </a:solidFill>
          <a:ln w="6350">
            <a:solidFill>
              <a:srgbClr val="D6DBE4"/>
            </a:solidFill>
            <a:prstDash val="solid"/>
          </a:ln>
        </p:spPr>
      </p:sp>
      <p:sp>
        <p:nvSpPr>
          <p:cNvPr id="14" name="Text 12"/>
          <p:cNvSpPr/>
          <p:nvPr/>
        </p:nvSpPr>
        <p:spPr>
          <a:xfrm>
            <a:off x="5308600" y="2799079"/>
            <a:ext cx="16256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540F"/>
                </a:solidFill>
                <a:latin typeface="Noto Serif" pitchFamily="18" charset="0"/>
                <a:ea typeface="Noto Serif" pitchFamily="18" charset="-122"/>
                <a:cs typeface="Noto Serif" pitchFamily="18" charset="-120"/>
              </a:rPr>
              <a:t>RRP</a:t>
            </a:r>
            <a:endParaRPr lang="en-US" sz="2400" dirty="0"/>
          </a:p>
        </p:txBody>
      </p:sp>
      <p:sp>
        <p:nvSpPr>
          <p:cNvPr id="15" name="Text 13"/>
          <p:cNvSpPr/>
          <p:nvPr/>
        </p:nvSpPr>
        <p:spPr>
          <a:xfrm>
            <a:off x="5308600" y="3302000"/>
            <a:ext cx="16256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Sferik</a:t>
            </a:r>
            <a:endParaRPr lang="en-US" sz="1800" dirty="0"/>
          </a:p>
        </p:txBody>
      </p:sp>
      <p:sp>
        <p:nvSpPr>
          <p:cNvPr id="16" name="Text 14"/>
          <p:cNvSpPr/>
          <p:nvPr/>
        </p:nvSpPr>
        <p:spPr>
          <a:xfrm>
            <a:off x="5308600" y="3652521"/>
            <a:ext cx="16256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Ikki aylanish va radial siljish</a:t>
            </a:r>
            <a:endParaRPr lang="en-US" sz="1400" dirty="0"/>
          </a:p>
        </p:txBody>
      </p:sp>
      <p:sp>
        <p:nvSpPr>
          <p:cNvPr id="17" name="Shape 15"/>
          <p:cNvSpPr/>
          <p:nvPr/>
        </p:nvSpPr>
        <p:spPr>
          <a:xfrm>
            <a:off x="7247255" y="2593975"/>
            <a:ext cx="1985010" cy="2010410"/>
          </a:xfrm>
          <a:prstGeom prst="roundRect">
            <a:avLst>
              <a:gd name="adj" fmla="val 4958"/>
            </a:avLst>
          </a:prstGeom>
          <a:solidFill>
            <a:srgbClr val="FCFBF8"/>
          </a:solidFill>
          <a:ln w="6350">
            <a:solidFill>
              <a:srgbClr val="D6DBE4"/>
            </a:solidFill>
            <a:prstDash val="solid"/>
          </a:ln>
        </p:spPr>
      </p:sp>
      <p:sp>
        <p:nvSpPr>
          <p:cNvPr id="18" name="Text 16"/>
          <p:cNvSpPr/>
          <p:nvPr/>
        </p:nvSpPr>
        <p:spPr>
          <a:xfrm>
            <a:off x="7452360" y="2799079"/>
            <a:ext cx="16256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540F"/>
                </a:solidFill>
                <a:latin typeface="Noto Serif" pitchFamily="18" charset="0"/>
                <a:ea typeface="Noto Serif" pitchFamily="18" charset="-122"/>
                <a:cs typeface="Noto Serif" pitchFamily="18" charset="-120"/>
              </a:rPr>
              <a:t>RRP</a:t>
            </a:r>
            <a:endParaRPr lang="en-US" sz="2400" dirty="0"/>
          </a:p>
        </p:txBody>
      </p:sp>
      <p:sp>
        <p:nvSpPr>
          <p:cNvPr id="19" name="Text 17"/>
          <p:cNvSpPr/>
          <p:nvPr/>
        </p:nvSpPr>
        <p:spPr>
          <a:xfrm>
            <a:off x="7452360" y="3302000"/>
            <a:ext cx="16256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SCARA</a:t>
            </a:r>
            <a:endParaRPr lang="en-US" sz="1800" dirty="0"/>
          </a:p>
        </p:txBody>
      </p:sp>
      <p:sp>
        <p:nvSpPr>
          <p:cNvPr id="20" name="Text 18"/>
          <p:cNvSpPr/>
          <p:nvPr/>
        </p:nvSpPr>
        <p:spPr>
          <a:xfrm>
            <a:off x="7452360" y="3652521"/>
            <a:ext cx="162560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Vertikal parallel oʻqlar: tez montaj ishlari</a:t>
            </a:r>
            <a:endParaRPr lang="en-US" sz="1400" dirty="0"/>
          </a:p>
        </p:txBody>
      </p:sp>
      <p:sp>
        <p:nvSpPr>
          <p:cNvPr id="21" name="Shape 19"/>
          <p:cNvSpPr/>
          <p:nvPr/>
        </p:nvSpPr>
        <p:spPr>
          <a:xfrm>
            <a:off x="9391015" y="2593975"/>
            <a:ext cx="1985010" cy="2010410"/>
          </a:xfrm>
          <a:prstGeom prst="roundRect">
            <a:avLst>
              <a:gd name="adj" fmla="val 4958"/>
            </a:avLst>
          </a:prstGeom>
          <a:solidFill>
            <a:srgbClr val="FCFBF8"/>
          </a:solidFill>
          <a:ln w="6350">
            <a:solidFill>
              <a:srgbClr val="D6DBE4"/>
            </a:solidFill>
            <a:prstDash val="solid"/>
          </a:ln>
        </p:spPr>
      </p:sp>
      <p:sp>
        <p:nvSpPr>
          <p:cNvPr id="22" name="Text 20"/>
          <p:cNvSpPr/>
          <p:nvPr/>
        </p:nvSpPr>
        <p:spPr>
          <a:xfrm>
            <a:off x="9596120" y="2799079"/>
            <a:ext cx="16256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540F"/>
                </a:solidFill>
                <a:latin typeface="Noto Serif" pitchFamily="18" charset="0"/>
                <a:ea typeface="Noto Serif" pitchFamily="18" charset="-122"/>
                <a:cs typeface="Noto Serif" pitchFamily="18" charset="-120"/>
              </a:rPr>
              <a:t>RRR</a:t>
            </a:r>
            <a:endParaRPr lang="en-US" sz="2400" dirty="0"/>
          </a:p>
        </p:txBody>
      </p:sp>
      <p:sp>
        <p:nvSpPr>
          <p:cNvPr id="23" name="Text 21"/>
          <p:cNvSpPr/>
          <p:nvPr/>
        </p:nvSpPr>
        <p:spPr>
          <a:xfrm>
            <a:off x="9596120" y="3302000"/>
            <a:ext cx="16256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Antropomorf</a:t>
            </a:r>
            <a:endParaRPr lang="en-US" sz="1800" dirty="0"/>
          </a:p>
        </p:txBody>
      </p:sp>
      <p:sp>
        <p:nvSpPr>
          <p:cNvPr id="24" name="Text 22"/>
          <p:cNvSpPr/>
          <p:nvPr/>
        </p:nvSpPr>
        <p:spPr>
          <a:xfrm>
            <a:off x="9596120" y="3652521"/>
            <a:ext cx="162560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Inson qoʻliga oʻxshash: eng keng tarqalgan</a:t>
            </a:r>
            <a:endParaRPr lang="en-US" sz="1400" dirty="0"/>
          </a:p>
        </p:txBody>
      </p:sp>
      <p:sp>
        <p:nvSpPr>
          <p:cNvPr id="25" name="Text 2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3 · ERKINLIK DARAJALARI</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Erkinlik darajalari soni</a:t>
            </a:r>
            <a:endParaRPr lang="en-US" sz="3200" dirty="0"/>
          </a:p>
        </p:txBody>
      </p:sp>
      <p:sp>
        <p:nvSpPr>
          <p:cNvPr id="4" name="Shape 2"/>
          <p:cNvSpPr/>
          <p:nvPr/>
        </p:nvSpPr>
        <p:spPr>
          <a:xfrm>
            <a:off x="815975" y="1806575"/>
            <a:ext cx="10560050" cy="1699260"/>
          </a:xfrm>
          <a:prstGeom prst="roundRect">
            <a:avLst>
              <a:gd name="adj" fmla="val 5792"/>
            </a:avLst>
          </a:prstGeom>
          <a:solidFill>
            <a:srgbClr val="FCFBF8"/>
          </a:solidFill>
          <a:ln w="6350">
            <a:solidFill>
              <a:srgbClr val="D6DBE4"/>
            </a:solidFill>
            <a:prstDash val="solid"/>
          </a:ln>
        </p:spPr>
      </p:sp>
      <p:pic>
        <p:nvPicPr>
          <p:cNvPr id="5" name="Image 0" descr="M = λ(n − 1 − j) + Σfᵢ">    </p:cNvPr>
          <p:cNvPicPr>
            <a:picLocks noChangeAspect="1"/>
          </p:cNvPicPr>
          <p:nvPr/>
        </p:nvPicPr>
        <p:blipFill>
          <a:blip r:embed="rId1"/>
          <a:srcRect l="0" r="0" t="-107" b="-107"/>
          <a:stretch/>
        </p:blipFill>
        <p:spPr>
          <a:xfrm>
            <a:off x="4010025" y="2062479"/>
            <a:ext cx="4171950" cy="1187450"/>
          </a:xfrm>
          <a:prstGeom prst="rect">
            <a:avLst/>
          </a:prstGeom>
        </p:spPr>
      </p:pic>
      <p:sp>
        <p:nvSpPr>
          <p:cNvPr id="6" name="Shape 3"/>
          <p:cNvSpPr/>
          <p:nvPr/>
        </p:nvSpPr>
        <p:spPr>
          <a:xfrm>
            <a:off x="815975" y="3766186"/>
            <a:ext cx="3380317" cy="1634490"/>
          </a:xfrm>
          <a:prstGeom prst="roundRect">
            <a:avLst>
              <a:gd name="adj" fmla="val 6022"/>
            </a:avLst>
          </a:prstGeom>
          <a:solidFill>
            <a:srgbClr val="FCFBF8"/>
          </a:solidFill>
          <a:ln w="6350">
            <a:solidFill>
              <a:srgbClr val="D6DBE4"/>
            </a:solidFill>
            <a:prstDash val="solid"/>
          </a:ln>
        </p:spPr>
      </p:sp>
      <p:sp>
        <p:nvSpPr>
          <p:cNvPr id="7" name="Text 4"/>
          <p:cNvSpPr/>
          <p:nvPr/>
        </p:nvSpPr>
        <p:spPr>
          <a:xfrm>
            <a:off x="1071880" y="402208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λ = 6 yoki 3</a:t>
            </a:r>
            <a:endParaRPr lang="en-US" sz="1800" dirty="0"/>
          </a:p>
        </p:txBody>
      </p:sp>
      <p:sp>
        <p:nvSpPr>
          <p:cNvPr id="8" name="Text 5"/>
          <p:cNvSpPr/>
          <p:nvPr/>
        </p:nvSpPr>
        <p:spPr>
          <a:xfrm>
            <a:off x="1071880" y="4398011"/>
            <a:ext cx="295456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Fazoviy mexanizmda zveno 6, tekis mexanizmda 3 erkinlik darajasiga ega.</a:t>
            </a:r>
            <a:endParaRPr lang="en-US" sz="1400" dirty="0"/>
          </a:p>
        </p:txBody>
      </p:sp>
      <p:sp>
        <p:nvSpPr>
          <p:cNvPr id="9" name="Shape 6"/>
          <p:cNvSpPr/>
          <p:nvPr/>
        </p:nvSpPr>
        <p:spPr>
          <a:xfrm>
            <a:off x="4405842" y="3766186"/>
            <a:ext cx="3380317" cy="1634490"/>
          </a:xfrm>
          <a:prstGeom prst="roundRect">
            <a:avLst>
              <a:gd name="adj" fmla="val 6022"/>
            </a:avLst>
          </a:prstGeom>
          <a:solidFill>
            <a:srgbClr val="FCFBF8"/>
          </a:solidFill>
          <a:ln w="6350">
            <a:solidFill>
              <a:srgbClr val="D6DBE4"/>
            </a:solidFill>
            <a:prstDash val="solid"/>
          </a:ln>
        </p:spPr>
      </p:sp>
      <p:sp>
        <p:nvSpPr>
          <p:cNvPr id="10" name="Text 7"/>
          <p:cNvSpPr/>
          <p:nvPr/>
        </p:nvSpPr>
        <p:spPr>
          <a:xfrm>
            <a:off x="4661746" y="402208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Ochiq zanjir: M = Σfᵢ</a:t>
            </a:r>
            <a:endParaRPr lang="en-US" sz="1800" dirty="0"/>
          </a:p>
        </p:txBody>
      </p:sp>
      <p:sp>
        <p:nvSpPr>
          <p:cNvPr id="11" name="Text 8"/>
          <p:cNvSpPr/>
          <p:nvPr/>
        </p:nvSpPr>
        <p:spPr>
          <a:xfrm>
            <a:off x="4661746" y="4398011"/>
            <a:ext cx="295456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j = n − 1, erkinlik darajalari soni sharnirlar soniga teng.</a:t>
            </a:r>
            <a:endParaRPr lang="en-US" sz="1400" dirty="0"/>
          </a:p>
        </p:txBody>
      </p:sp>
      <p:sp>
        <p:nvSpPr>
          <p:cNvPr id="12" name="Shape 9"/>
          <p:cNvSpPr/>
          <p:nvPr/>
        </p:nvSpPr>
        <p:spPr>
          <a:xfrm>
            <a:off x="7995708" y="3766186"/>
            <a:ext cx="3380317" cy="1634490"/>
          </a:xfrm>
          <a:prstGeom prst="roundRect">
            <a:avLst>
              <a:gd name="adj" fmla="val 6022"/>
            </a:avLst>
          </a:prstGeom>
          <a:solidFill>
            <a:srgbClr val="FCFBF8"/>
          </a:solidFill>
          <a:ln w="6350">
            <a:solidFill>
              <a:srgbClr val="D6DBE4"/>
            </a:solidFill>
            <a:prstDash val="solid"/>
          </a:ln>
        </p:spPr>
      </p:sp>
      <p:sp>
        <p:nvSpPr>
          <p:cNvPr id="13" name="Text 10"/>
          <p:cNvSpPr/>
          <p:nvPr/>
        </p:nvSpPr>
        <p:spPr>
          <a:xfrm>
            <a:off x="8251613" y="402208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8540F"/>
                </a:solidFill>
                <a:latin typeface="Noto Sans" pitchFamily="34" charset="0"/>
                <a:ea typeface="Noto Sans" pitchFamily="34" charset="-122"/>
                <a:cs typeface="Noto Sans" pitchFamily="34" charset="-120"/>
              </a:rPr>
              <a:t>M &gt; 6 — ortiqcha</a:t>
            </a:r>
            <a:endParaRPr lang="en-US" sz="1800" dirty="0"/>
          </a:p>
        </p:txBody>
      </p:sp>
      <p:sp>
        <p:nvSpPr>
          <p:cNvPr id="14" name="Text 11"/>
          <p:cNvSpPr/>
          <p:nvPr/>
        </p:nvSpPr>
        <p:spPr>
          <a:xfrm>
            <a:off x="8251613" y="4398011"/>
            <a:ext cx="295456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Toʻsiqlarni aylanib oʻtish va maxsus holatlardan qochish imkoni.</a:t>
            </a:r>
            <a:endParaRPr lang="en-US" sz="1400" dirty="0"/>
          </a:p>
        </p:txBody>
      </p:sp>
      <p:sp>
        <p:nvSpPr>
          <p:cNvPr id="15"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4 · FAZOVIY TAVSIF</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Holat va orientatsiya</a:t>
            </a:r>
            <a:endParaRPr lang="en-US" sz="3200" dirty="0"/>
          </a:p>
        </p:txBody>
      </p:sp>
      <p:sp>
        <p:nvSpPr>
          <p:cNvPr id="4" name="Text 2"/>
          <p:cNvSpPr/>
          <p:nvPr/>
        </p:nvSpPr>
        <p:spPr>
          <a:xfrm>
            <a:off x="812800" y="18034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Holat — radius-vektor </a:t>
            </a:r>
            <a:r>
              <a:rPr lang="en-US" sz="1500" b="1" dirty="0">
                <a:solidFill>
                  <a:srgbClr val="142B57"/>
                </a:solidFill>
                <a:latin typeface="Noto Sans" pitchFamily="34" charset="0"/>
                <a:ea typeface="Noto Sans" pitchFamily="34" charset="-122"/>
                <a:cs typeface="Noto Sans" pitchFamily="34" charset="-120"/>
              </a:rPr>
              <a:t>p</a:t>
            </a:r>
            <a:r>
              <a:rPr lang="en-US" sz="1500" dirty="0">
                <a:solidFill>
                  <a:srgbClr val="142B57"/>
                </a:solidFill>
                <a:latin typeface="Noto Sans" pitchFamily="34" charset="0"/>
                <a:ea typeface="Noto Sans" pitchFamily="34" charset="-122"/>
                <a:cs typeface="Noto Sans" pitchFamily="34" charset="-120"/>
              </a:rPr>
              <a:t>, orientatsiya — 3×3 aylanish matritsasi R. Elementar aylanishlar:</a:t>
            </a:r>
            <a:endParaRPr lang="en-US" sz="1500" dirty="0"/>
          </a:p>
        </p:txBody>
      </p:sp>
      <p:sp>
        <p:nvSpPr>
          <p:cNvPr id="5" name="Shape 3"/>
          <p:cNvSpPr/>
          <p:nvPr/>
        </p:nvSpPr>
        <p:spPr>
          <a:xfrm>
            <a:off x="815975" y="2327275"/>
            <a:ext cx="10560050" cy="1559560"/>
          </a:xfrm>
          <a:prstGeom prst="roundRect">
            <a:avLst>
              <a:gd name="adj" fmla="val 6311"/>
            </a:avLst>
          </a:prstGeom>
          <a:solidFill>
            <a:srgbClr val="FCFBF8"/>
          </a:solidFill>
          <a:ln w="6350">
            <a:solidFill>
              <a:srgbClr val="D6DBE4"/>
            </a:solidFill>
            <a:prstDash val="solid"/>
          </a:ln>
        </p:spPr>
      </p:sp>
      <p:pic>
        <p:nvPicPr>
          <p:cNvPr id="6" name="Image 0" descr="Rz, Ry, Rx elementar aylanish matritsalari">    </p:cNvPr>
          <p:cNvPicPr>
            <a:picLocks noChangeAspect="1"/>
          </p:cNvPicPr>
          <p:nvPr/>
        </p:nvPicPr>
        <p:blipFill>
          <a:blip r:embed="rId1"/>
          <a:srcRect l="-150" r="-150" t="0" b="0"/>
          <a:stretch/>
        </p:blipFill>
        <p:spPr>
          <a:xfrm>
            <a:off x="1333500" y="2583179"/>
            <a:ext cx="9525000" cy="1047750"/>
          </a:xfrm>
          <a:prstGeom prst="rect">
            <a:avLst/>
          </a:prstGeom>
        </p:spPr>
      </p:pic>
      <p:sp>
        <p:nvSpPr>
          <p:cNvPr id="7" name="Shape 4"/>
          <p:cNvSpPr/>
          <p:nvPr/>
        </p:nvSpPr>
        <p:spPr>
          <a:xfrm>
            <a:off x="815975" y="4147186"/>
            <a:ext cx="3380317" cy="1385570"/>
          </a:xfrm>
          <a:prstGeom prst="roundRect">
            <a:avLst>
              <a:gd name="adj" fmla="val 7104"/>
            </a:avLst>
          </a:prstGeom>
          <a:solidFill>
            <a:srgbClr val="FCFBF8"/>
          </a:solidFill>
          <a:ln w="6350">
            <a:solidFill>
              <a:srgbClr val="D6DBE4"/>
            </a:solidFill>
            <a:prstDash val="solid"/>
          </a:ln>
        </p:spPr>
      </p:sp>
      <p:sp>
        <p:nvSpPr>
          <p:cNvPr id="8" name="Text 5"/>
          <p:cNvSpPr/>
          <p:nvPr/>
        </p:nvSpPr>
        <p:spPr>
          <a:xfrm>
            <a:off x="1071880" y="440308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Ortogonallik</a:t>
            </a:r>
            <a:endParaRPr lang="en-US" sz="1800" dirty="0"/>
          </a:p>
        </p:txBody>
      </p:sp>
      <p:sp>
        <p:nvSpPr>
          <p:cNvPr id="9" name="Text 6"/>
          <p:cNvSpPr/>
          <p:nvPr/>
        </p:nvSpPr>
        <p:spPr>
          <a:xfrm>
            <a:off x="1071880" y="4779011"/>
            <a:ext cx="295456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R⁻¹ = Rᵀ — teskari aylanish transponirlash bilan topiladi.</a:t>
            </a:r>
            <a:endParaRPr lang="en-US" sz="1400" dirty="0"/>
          </a:p>
        </p:txBody>
      </p:sp>
      <p:sp>
        <p:nvSpPr>
          <p:cNvPr id="10" name="Shape 7"/>
          <p:cNvSpPr/>
          <p:nvPr/>
        </p:nvSpPr>
        <p:spPr>
          <a:xfrm>
            <a:off x="4405842" y="4147186"/>
            <a:ext cx="3380317" cy="1385570"/>
          </a:xfrm>
          <a:prstGeom prst="roundRect">
            <a:avLst>
              <a:gd name="adj" fmla="val 7104"/>
            </a:avLst>
          </a:prstGeom>
          <a:solidFill>
            <a:srgbClr val="FCFBF8"/>
          </a:solidFill>
          <a:ln w="6350">
            <a:solidFill>
              <a:srgbClr val="D6DBE4"/>
            </a:solidFill>
            <a:prstDash val="solid"/>
          </a:ln>
        </p:spPr>
      </p:sp>
      <p:sp>
        <p:nvSpPr>
          <p:cNvPr id="11" name="Text 8"/>
          <p:cNvSpPr/>
          <p:nvPr/>
        </p:nvSpPr>
        <p:spPr>
          <a:xfrm>
            <a:off x="4661746" y="440308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det R = 1</a:t>
            </a:r>
            <a:endParaRPr lang="en-US" sz="1800" dirty="0"/>
          </a:p>
        </p:txBody>
      </p:sp>
      <p:sp>
        <p:nvSpPr>
          <p:cNvPr id="12" name="Text 9"/>
          <p:cNvSpPr/>
          <p:nvPr/>
        </p:nvSpPr>
        <p:spPr>
          <a:xfrm>
            <a:off x="4661746" y="4779011"/>
            <a:ext cx="295456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Oʻng koordinata sistemasi saqlanadi.</a:t>
            </a:r>
            <a:endParaRPr lang="en-US" sz="1400" dirty="0"/>
          </a:p>
        </p:txBody>
      </p:sp>
      <p:sp>
        <p:nvSpPr>
          <p:cNvPr id="13" name="Shape 10"/>
          <p:cNvSpPr/>
          <p:nvPr/>
        </p:nvSpPr>
        <p:spPr>
          <a:xfrm>
            <a:off x="7995708" y="4147186"/>
            <a:ext cx="3380317" cy="1385570"/>
          </a:xfrm>
          <a:prstGeom prst="roundRect">
            <a:avLst>
              <a:gd name="adj" fmla="val 7104"/>
            </a:avLst>
          </a:prstGeom>
          <a:solidFill>
            <a:srgbClr val="FCFBF8"/>
          </a:solidFill>
          <a:ln w="6350">
            <a:solidFill>
              <a:srgbClr val="D6DBE4"/>
            </a:solidFill>
            <a:prstDash val="solid"/>
          </a:ln>
        </p:spPr>
      </p:sp>
      <p:sp>
        <p:nvSpPr>
          <p:cNvPr id="14" name="Text 11"/>
          <p:cNvSpPr/>
          <p:nvPr/>
        </p:nvSpPr>
        <p:spPr>
          <a:xfrm>
            <a:off x="8251613" y="440308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Ustunlar</a:t>
            </a:r>
            <a:endParaRPr lang="en-US" sz="1800" dirty="0"/>
          </a:p>
        </p:txBody>
      </p:sp>
      <p:sp>
        <p:nvSpPr>
          <p:cNvPr id="15" name="Text 12"/>
          <p:cNvSpPr/>
          <p:nvPr/>
        </p:nvSpPr>
        <p:spPr>
          <a:xfrm>
            <a:off x="8251613" y="4779011"/>
            <a:ext cx="295456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{B} tizim birlik vektorlarining {A} dagi proyeksiyalari.</a:t>
            </a:r>
            <a:endParaRPr lang="en-US" sz="1400" dirty="0"/>
          </a:p>
        </p:txBody>
      </p:sp>
      <p:sp>
        <p:nvSpPr>
          <p:cNvPr id="16" name="Text 1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4 · FAZOVIY TAVSIF</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Bir jinsli oʻzgartirish matritsasi</a:t>
            </a:r>
            <a:endParaRPr lang="en-US" sz="3200" dirty="0"/>
          </a:p>
        </p:txBody>
      </p:sp>
      <p:sp>
        <p:nvSpPr>
          <p:cNvPr id="4" name="Shape 2"/>
          <p:cNvSpPr/>
          <p:nvPr/>
        </p:nvSpPr>
        <p:spPr>
          <a:xfrm>
            <a:off x="815975" y="1806575"/>
            <a:ext cx="10560050" cy="1540510"/>
          </a:xfrm>
          <a:prstGeom prst="roundRect">
            <a:avLst>
              <a:gd name="adj" fmla="val 6389"/>
            </a:avLst>
          </a:prstGeom>
          <a:solidFill>
            <a:srgbClr val="FCFBF8"/>
          </a:solidFill>
          <a:ln w="6350">
            <a:solidFill>
              <a:srgbClr val="D6DBE4"/>
            </a:solidFill>
            <a:prstDash val="solid"/>
          </a:ln>
        </p:spPr>
      </p:sp>
      <p:pic>
        <p:nvPicPr>
          <p:cNvPr id="5" name="Image 0" descr="T = [R p; 0 1]">    </p:cNvPr>
          <p:cNvPicPr>
            <a:picLocks noChangeAspect="1"/>
          </p:cNvPicPr>
          <p:nvPr/>
        </p:nvPicPr>
        <p:blipFill>
          <a:blip r:embed="rId1"/>
          <a:srcRect l="0" r="0" t="0" b="0"/>
          <a:stretch/>
        </p:blipFill>
        <p:spPr>
          <a:xfrm>
            <a:off x="3613150" y="2062479"/>
            <a:ext cx="4965700" cy="1028700"/>
          </a:xfrm>
          <a:prstGeom prst="rect">
            <a:avLst/>
          </a:prstGeom>
        </p:spPr>
      </p:pic>
      <p:sp>
        <p:nvSpPr>
          <p:cNvPr id="6" name="Shape 3"/>
          <p:cNvSpPr/>
          <p:nvPr/>
        </p:nvSpPr>
        <p:spPr>
          <a:xfrm>
            <a:off x="815975" y="3607436"/>
            <a:ext cx="10560050" cy="1540510"/>
          </a:xfrm>
          <a:prstGeom prst="roundRect">
            <a:avLst>
              <a:gd name="adj" fmla="val 6389"/>
            </a:avLst>
          </a:prstGeom>
          <a:solidFill>
            <a:srgbClr val="FCFBF8"/>
          </a:solidFill>
          <a:ln w="6350">
            <a:solidFill>
              <a:srgbClr val="D6DBE4"/>
            </a:solidFill>
            <a:prstDash val="solid"/>
          </a:ln>
        </p:spPr>
      </p:sp>
      <p:pic>
        <p:nvPicPr>
          <p:cNvPr id="7" name="Image 1" descr="Koʻpaytma va teskari matritsa">    </p:cNvPr>
          <p:cNvPicPr>
            <a:picLocks noChangeAspect="1"/>
          </p:cNvPicPr>
          <p:nvPr/>
        </p:nvPicPr>
        <p:blipFill>
          <a:blip r:embed="rId2"/>
          <a:srcRect l="0" r="0" t="0" b="0"/>
          <a:stretch/>
        </p:blipFill>
        <p:spPr>
          <a:xfrm>
            <a:off x="2955925" y="3863339"/>
            <a:ext cx="6280150" cy="1028700"/>
          </a:xfrm>
          <a:prstGeom prst="rect">
            <a:avLst/>
          </a:prstGeom>
        </p:spPr>
      </p:pic>
      <p:sp>
        <p:nvSpPr>
          <p:cNvPr id="8" name="Text 4"/>
          <p:cNvSpPr/>
          <p:nvPr/>
        </p:nvSpPr>
        <p:spPr>
          <a:xfrm>
            <a:off x="812800" y="54051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8540F"/>
                </a:solidFill>
                <a:latin typeface="Noto Sans" pitchFamily="34" charset="0"/>
                <a:ea typeface="Noto Sans" pitchFamily="34" charset="-122"/>
                <a:cs typeface="Noto Sans" pitchFamily="34" charset="-120"/>
              </a:rPr>
              <a:t>Matritsa koʻpaytmasi kommutativ emas: oʻzgartirishlar doimo asosdan ishchi organ tomon yoziladi.</a:t>
            </a:r>
            <a:endParaRPr lang="en-US" sz="1500" dirty="0"/>
          </a:p>
        </p:txBody>
      </p:sp>
      <p:sp>
        <p:nvSpPr>
          <p:cNvPr id="9"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5 · DH USULI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Denavit–Hartenberg: tizimlarni joylashtirish</a:t>
            </a:r>
            <a:endParaRPr lang="en-US" sz="3200" dirty="0"/>
          </a:p>
        </p:txBody>
      </p:sp>
      <p:sp>
        <p:nvSpPr>
          <p:cNvPr id="4" name="Shape 2"/>
          <p:cNvSpPr/>
          <p:nvPr/>
        </p:nvSpPr>
        <p:spPr>
          <a:xfrm>
            <a:off x="812800" y="1803400"/>
            <a:ext cx="5765800" cy="3968750"/>
          </a:xfrm>
          <a:prstGeom prst="roundRect">
            <a:avLst>
              <a:gd name="adj" fmla="val 2560"/>
            </a:avLst>
          </a:prstGeom>
          <a:solidFill>
            <a:srgbClr val="FFFFFF"/>
          </a:solidFill>
          <a:ln/>
        </p:spPr>
      </p:sp>
      <p:pic>
        <p:nvPicPr>
          <p:cNvPr id="5" name="Image 0" descr="Standart DH parametrlarining geometrik maʼnosi">    </p:cNvPr>
          <p:cNvPicPr>
            <a:picLocks noChangeAspect="1"/>
          </p:cNvPicPr>
          <p:nvPr/>
        </p:nvPicPr>
        <p:blipFill>
          <a:blip r:embed="rId1"/>
          <a:srcRect l="0" r="0" t="-16" b="-16"/>
          <a:stretch/>
        </p:blipFill>
        <p:spPr>
          <a:xfrm>
            <a:off x="965200" y="1955800"/>
            <a:ext cx="5461000" cy="3663950"/>
          </a:xfrm>
          <a:prstGeom prst="rect">
            <a:avLst/>
          </a:prstGeom>
        </p:spPr>
      </p:pic>
      <p:sp>
        <p:nvSpPr>
          <p:cNvPr id="6" name="Text 3"/>
          <p:cNvSpPr/>
          <p:nvPr/>
        </p:nvSpPr>
        <p:spPr>
          <a:xfrm>
            <a:off x="6883400" y="2812417"/>
            <a:ext cx="3048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1</a:t>
            </a:r>
            <a:endParaRPr lang="en-US" sz="1800" dirty="0"/>
          </a:p>
        </p:txBody>
      </p:sp>
      <p:sp>
        <p:nvSpPr>
          <p:cNvPr id="7" name="Text 4"/>
          <p:cNvSpPr/>
          <p:nvPr/>
        </p:nvSpPr>
        <p:spPr>
          <a:xfrm>
            <a:off x="7264400" y="2812417"/>
            <a:ext cx="420484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B57"/>
                </a:solidFill>
                <a:latin typeface="Noto Sans" pitchFamily="34" charset="0"/>
                <a:ea typeface="Noto Sans" pitchFamily="34" charset="-122"/>
                <a:cs typeface="Noto Sans" pitchFamily="34" charset="-120"/>
              </a:rPr>
              <a:t>zᵢ₋₁</a:t>
            </a:r>
            <a:r>
              <a:rPr lang="en-US" sz="1500" dirty="0">
                <a:solidFill>
                  <a:srgbClr val="142B57"/>
                </a:solidFill>
                <a:latin typeface="Noto Sans" pitchFamily="34" charset="0"/>
                <a:ea typeface="Noto Sans" pitchFamily="34" charset="-122"/>
                <a:cs typeface="Noto Sans" pitchFamily="34" charset="-120"/>
              </a:rPr>
              <a:t> — i-sharnirning harakat oʻqi boʻylab</a:t>
            </a:r>
            <a:endParaRPr lang="en-US" sz="1500" dirty="0"/>
          </a:p>
        </p:txBody>
      </p:sp>
      <p:sp>
        <p:nvSpPr>
          <p:cNvPr id="8" name="Text 5"/>
          <p:cNvSpPr/>
          <p:nvPr/>
        </p:nvSpPr>
        <p:spPr>
          <a:xfrm>
            <a:off x="6883400" y="3284854"/>
            <a:ext cx="3048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2</a:t>
            </a:r>
            <a:endParaRPr lang="en-US" sz="1800" dirty="0"/>
          </a:p>
        </p:txBody>
      </p:sp>
      <p:sp>
        <p:nvSpPr>
          <p:cNvPr id="9" name="Text 6"/>
          <p:cNvSpPr/>
          <p:nvPr/>
        </p:nvSpPr>
        <p:spPr>
          <a:xfrm>
            <a:off x="7264400" y="3284854"/>
            <a:ext cx="423824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B57"/>
                </a:solidFill>
                <a:latin typeface="Noto Sans" pitchFamily="34" charset="0"/>
                <a:ea typeface="Noto Sans" pitchFamily="34" charset="-122"/>
                <a:cs typeface="Noto Sans" pitchFamily="34" charset="-120"/>
              </a:rPr>
              <a:t>xᵢ</a:t>
            </a:r>
            <a:r>
              <a:rPr lang="en-US" sz="1500" dirty="0">
                <a:solidFill>
                  <a:srgbClr val="142B57"/>
                </a:solidFill>
                <a:latin typeface="Noto Sans" pitchFamily="34" charset="0"/>
                <a:ea typeface="Noto Sans" pitchFamily="34" charset="-122"/>
                <a:cs typeface="Noto Sans" pitchFamily="34" charset="-120"/>
              </a:rPr>
              <a:t> — zᵢ₋₁ va zᵢ ning umumiy perpendikulyari boʻylab, zᵢ₋₁ dan zᵢ ga</a:t>
            </a:r>
            <a:endParaRPr lang="en-US" sz="1500" dirty="0"/>
          </a:p>
        </p:txBody>
      </p:sp>
      <p:sp>
        <p:nvSpPr>
          <p:cNvPr id="10" name="Text 7"/>
          <p:cNvSpPr/>
          <p:nvPr/>
        </p:nvSpPr>
        <p:spPr>
          <a:xfrm>
            <a:off x="6883400" y="3970654"/>
            <a:ext cx="3048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3</a:t>
            </a:r>
            <a:endParaRPr lang="en-US" sz="1800" dirty="0"/>
          </a:p>
        </p:txBody>
      </p:sp>
      <p:sp>
        <p:nvSpPr>
          <p:cNvPr id="11" name="Text 8"/>
          <p:cNvSpPr/>
          <p:nvPr/>
        </p:nvSpPr>
        <p:spPr>
          <a:xfrm>
            <a:off x="7264400" y="3970654"/>
            <a:ext cx="43393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B57"/>
                </a:solidFill>
                <a:latin typeface="Noto Sans" pitchFamily="34" charset="0"/>
                <a:ea typeface="Noto Sans" pitchFamily="34" charset="-122"/>
                <a:cs typeface="Noto Sans" pitchFamily="34" charset="-120"/>
              </a:rPr>
              <a:t>Oᵢ</a:t>
            </a:r>
            <a:r>
              <a:rPr lang="en-US" sz="1500" dirty="0">
                <a:solidFill>
                  <a:srgbClr val="142B57"/>
                </a:solidFill>
                <a:latin typeface="Noto Sans" pitchFamily="34" charset="0"/>
                <a:ea typeface="Noto Sans" pitchFamily="34" charset="-122"/>
                <a:cs typeface="Noto Sans" pitchFamily="34" charset="-120"/>
              </a:rPr>
              <a:t> — xᵢ va zᵢ oʻqlarining kesishish nuqtasi</a:t>
            </a:r>
            <a:endParaRPr lang="en-US" sz="1500" dirty="0"/>
          </a:p>
        </p:txBody>
      </p:sp>
      <p:sp>
        <p:nvSpPr>
          <p:cNvPr id="12" name="Text 9"/>
          <p:cNvSpPr/>
          <p:nvPr/>
        </p:nvSpPr>
        <p:spPr>
          <a:xfrm>
            <a:off x="6883400" y="4443096"/>
            <a:ext cx="3048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4</a:t>
            </a:r>
            <a:endParaRPr lang="en-US" sz="1800" dirty="0"/>
          </a:p>
        </p:txBody>
      </p:sp>
      <p:sp>
        <p:nvSpPr>
          <p:cNvPr id="13" name="Text 10"/>
          <p:cNvSpPr/>
          <p:nvPr/>
        </p:nvSpPr>
        <p:spPr>
          <a:xfrm>
            <a:off x="7264400" y="4443096"/>
            <a:ext cx="46155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B57"/>
                </a:solidFill>
                <a:latin typeface="Noto Sans" pitchFamily="34" charset="0"/>
                <a:ea typeface="Noto Sans" pitchFamily="34" charset="-122"/>
                <a:cs typeface="Noto Sans" pitchFamily="34" charset="-120"/>
              </a:rPr>
              <a:t>yᵢ = zᵢ × xᵢ</a:t>
            </a:r>
            <a:r>
              <a:rPr lang="en-US" sz="1500" dirty="0">
                <a:solidFill>
                  <a:srgbClr val="142B57"/>
                </a:solidFill>
                <a:latin typeface="Noto Sans" pitchFamily="34" charset="0"/>
                <a:ea typeface="Noto Sans" pitchFamily="34" charset="-122"/>
                <a:cs typeface="Noto Sans" pitchFamily="34" charset="-120"/>
              </a:rPr>
              <a:t> — oʻng sistema hosil qilish uchun</a:t>
            </a:r>
            <a:endParaRPr lang="en-US" sz="1500" dirty="0"/>
          </a:p>
        </p:txBody>
      </p:sp>
      <p:sp>
        <p:nvSpPr>
          <p:cNvPr id="14"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5 · DH USULI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DH parametrlari</a:t>
            </a:r>
            <a:endParaRPr lang="en-US" sz="3200" dirty="0"/>
          </a:p>
        </p:txBody>
      </p:sp>
      <p:sp>
        <p:nvSpPr>
          <p:cNvPr id="4" name="Shape 2"/>
          <p:cNvSpPr/>
          <p:nvPr/>
        </p:nvSpPr>
        <p:spPr>
          <a:xfrm>
            <a:off x="815975" y="1806575"/>
            <a:ext cx="2520950" cy="2233930"/>
          </a:xfrm>
          <a:prstGeom prst="roundRect">
            <a:avLst>
              <a:gd name="adj" fmla="val 4406"/>
            </a:avLst>
          </a:prstGeom>
          <a:solidFill>
            <a:srgbClr val="FCFBF8"/>
          </a:solidFill>
          <a:ln w="6350">
            <a:solidFill>
              <a:srgbClr val="D6DBE4"/>
            </a:solidFill>
            <a:prstDash val="solid"/>
          </a:ln>
        </p:spPr>
      </p:sp>
      <p:sp>
        <p:nvSpPr>
          <p:cNvPr id="5" name="Text 3"/>
          <p:cNvSpPr/>
          <p:nvPr/>
        </p:nvSpPr>
        <p:spPr>
          <a:xfrm>
            <a:off x="1071880" y="2062479"/>
            <a:ext cx="2069414"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540F"/>
                </a:solidFill>
                <a:latin typeface="Noto Serif" pitchFamily="18" charset="0"/>
                <a:ea typeface="Noto Serif" pitchFamily="18" charset="-122"/>
                <a:cs typeface="Noto Serif" pitchFamily="18" charset="-120"/>
              </a:rPr>
              <a:t>θᵢ</a:t>
            </a:r>
            <a:endParaRPr lang="en-US" sz="2800" dirty="0"/>
          </a:p>
        </p:txBody>
      </p:sp>
      <p:sp>
        <p:nvSpPr>
          <p:cNvPr id="6" name="Text 4"/>
          <p:cNvSpPr/>
          <p:nvPr/>
        </p:nvSpPr>
        <p:spPr>
          <a:xfrm>
            <a:off x="1071880" y="2661921"/>
            <a:ext cx="206941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Burilish</a:t>
            </a:r>
            <a:endParaRPr lang="en-US" sz="1800" dirty="0"/>
          </a:p>
        </p:txBody>
      </p:sp>
      <p:sp>
        <p:nvSpPr>
          <p:cNvPr id="7" name="Text 5"/>
          <p:cNvSpPr/>
          <p:nvPr/>
        </p:nvSpPr>
        <p:spPr>
          <a:xfrm>
            <a:off x="1071880" y="3037842"/>
            <a:ext cx="206941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x₍ᵢ₋₁₎ dan xᵢ gacha zᵢ₋₁ atrofida; aylanma sharnirda oʻzgaruvchi</a:t>
            </a:r>
            <a:endParaRPr lang="en-US" sz="1400" dirty="0"/>
          </a:p>
        </p:txBody>
      </p:sp>
      <p:sp>
        <p:nvSpPr>
          <p:cNvPr id="8" name="Shape 6"/>
          <p:cNvSpPr/>
          <p:nvPr/>
        </p:nvSpPr>
        <p:spPr>
          <a:xfrm>
            <a:off x="3495675" y="1806575"/>
            <a:ext cx="2520950" cy="2233930"/>
          </a:xfrm>
          <a:prstGeom prst="roundRect">
            <a:avLst>
              <a:gd name="adj" fmla="val 4406"/>
            </a:avLst>
          </a:prstGeom>
          <a:solidFill>
            <a:srgbClr val="FCFBF8"/>
          </a:solidFill>
          <a:ln w="6350">
            <a:solidFill>
              <a:srgbClr val="D6DBE4"/>
            </a:solidFill>
            <a:prstDash val="solid"/>
          </a:ln>
        </p:spPr>
      </p:sp>
      <p:sp>
        <p:nvSpPr>
          <p:cNvPr id="9" name="Text 7"/>
          <p:cNvSpPr/>
          <p:nvPr/>
        </p:nvSpPr>
        <p:spPr>
          <a:xfrm>
            <a:off x="3751580" y="2062479"/>
            <a:ext cx="2069414"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540F"/>
                </a:solidFill>
                <a:latin typeface="Noto Serif" pitchFamily="18" charset="0"/>
                <a:ea typeface="Noto Serif" pitchFamily="18" charset="-122"/>
                <a:cs typeface="Noto Serif" pitchFamily="18" charset="-120"/>
              </a:rPr>
              <a:t>dᵢ</a:t>
            </a:r>
            <a:endParaRPr lang="en-US" sz="2800" dirty="0"/>
          </a:p>
        </p:txBody>
      </p:sp>
      <p:sp>
        <p:nvSpPr>
          <p:cNvPr id="10" name="Text 8"/>
          <p:cNvSpPr/>
          <p:nvPr/>
        </p:nvSpPr>
        <p:spPr>
          <a:xfrm>
            <a:off x="3751580" y="2661921"/>
            <a:ext cx="206941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Siljish</a:t>
            </a:r>
            <a:endParaRPr lang="en-US" sz="1800" dirty="0"/>
          </a:p>
        </p:txBody>
      </p:sp>
      <p:sp>
        <p:nvSpPr>
          <p:cNvPr id="11" name="Text 9"/>
          <p:cNvSpPr/>
          <p:nvPr/>
        </p:nvSpPr>
        <p:spPr>
          <a:xfrm>
            <a:off x="3751580" y="3037842"/>
            <a:ext cx="206941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zᵢ₋₁ boʻylab masofa; ilgarilanma sharnirda oʻzgaruvchi</a:t>
            </a:r>
            <a:endParaRPr lang="en-US" sz="1400" dirty="0"/>
          </a:p>
        </p:txBody>
      </p:sp>
      <p:sp>
        <p:nvSpPr>
          <p:cNvPr id="12" name="Shape 10"/>
          <p:cNvSpPr/>
          <p:nvPr/>
        </p:nvSpPr>
        <p:spPr>
          <a:xfrm>
            <a:off x="6175375" y="1806575"/>
            <a:ext cx="2520950" cy="2233930"/>
          </a:xfrm>
          <a:prstGeom prst="roundRect">
            <a:avLst>
              <a:gd name="adj" fmla="val 4406"/>
            </a:avLst>
          </a:prstGeom>
          <a:solidFill>
            <a:srgbClr val="FCFBF8"/>
          </a:solidFill>
          <a:ln w="6350">
            <a:solidFill>
              <a:srgbClr val="D6DBE4"/>
            </a:solidFill>
            <a:prstDash val="solid"/>
          </a:ln>
        </p:spPr>
      </p:sp>
      <p:sp>
        <p:nvSpPr>
          <p:cNvPr id="13" name="Text 11"/>
          <p:cNvSpPr/>
          <p:nvPr/>
        </p:nvSpPr>
        <p:spPr>
          <a:xfrm>
            <a:off x="6431280" y="2062479"/>
            <a:ext cx="2069414"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540F"/>
                </a:solidFill>
                <a:latin typeface="Noto Serif" pitchFamily="18" charset="0"/>
                <a:ea typeface="Noto Serif" pitchFamily="18" charset="-122"/>
                <a:cs typeface="Noto Serif" pitchFamily="18" charset="-120"/>
              </a:rPr>
              <a:t>aᵢ</a:t>
            </a:r>
            <a:endParaRPr lang="en-US" sz="2800" dirty="0"/>
          </a:p>
        </p:txBody>
      </p:sp>
      <p:sp>
        <p:nvSpPr>
          <p:cNvPr id="14" name="Text 12"/>
          <p:cNvSpPr/>
          <p:nvPr/>
        </p:nvSpPr>
        <p:spPr>
          <a:xfrm>
            <a:off x="6431280" y="2661921"/>
            <a:ext cx="206941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Zveno uzunligi</a:t>
            </a:r>
            <a:endParaRPr lang="en-US" sz="1800" dirty="0"/>
          </a:p>
        </p:txBody>
      </p:sp>
      <p:sp>
        <p:nvSpPr>
          <p:cNvPr id="15" name="Text 13"/>
          <p:cNvSpPr/>
          <p:nvPr/>
        </p:nvSpPr>
        <p:spPr>
          <a:xfrm>
            <a:off x="6431280" y="3037842"/>
            <a:ext cx="20694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zᵢ₋₁ dan zᵢ gacha xᵢ boʻylab; oʻzgarmas</a:t>
            </a:r>
            <a:endParaRPr lang="en-US" sz="1400" dirty="0"/>
          </a:p>
        </p:txBody>
      </p:sp>
      <p:sp>
        <p:nvSpPr>
          <p:cNvPr id="16" name="Shape 14"/>
          <p:cNvSpPr/>
          <p:nvPr/>
        </p:nvSpPr>
        <p:spPr>
          <a:xfrm>
            <a:off x="8855075" y="1806575"/>
            <a:ext cx="2520950" cy="2233930"/>
          </a:xfrm>
          <a:prstGeom prst="roundRect">
            <a:avLst>
              <a:gd name="adj" fmla="val 4406"/>
            </a:avLst>
          </a:prstGeom>
          <a:solidFill>
            <a:srgbClr val="FCFBF8"/>
          </a:solidFill>
          <a:ln w="6350">
            <a:solidFill>
              <a:srgbClr val="D6DBE4"/>
            </a:solidFill>
            <a:prstDash val="solid"/>
          </a:ln>
        </p:spPr>
      </p:sp>
      <p:sp>
        <p:nvSpPr>
          <p:cNvPr id="17" name="Text 15"/>
          <p:cNvSpPr/>
          <p:nvPr/>
        </p:nvSpPr>
        <p:spPr>
          <a:xfrm>
            <a:off x="9110980" y="2062479"/>
            <a:ext cx="2069414"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540F"/>
                </a:solidFill>
                <a:latin typeface="Noto Serif" pitchFamily="18" charset="0"/>
                <a:ea typeface="Noto Serif" pitchFamily="18" charset="-122"/>
                <a:cs typeface="Noto Serif" pitchFamily="18" charset="-120"/>
              </a:rPr>
              <a:t>αᵢ</a:t>
            </a:r>
            <a:endParaRPr lang="en-US" sz="2800" dirty="0"/>
          </a:p>
        </p:txBody>
      </p:sp>
      <p:sp>
        <p:nvSpPr>
          <p:cNvPr id="18" name="Text 16"/>
          <p:cNvSpPr/>
          <p:nvPr/>
        </p:nvSpPr>
        <p:spPr>
          <a:xfrm>
            <a:off x="9110980" y="2661921"/>
            <a:ext cx="22618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Buralish burchagi</a:t>
            </a:r>
            <a:endParaRPr lang="en-US" sz="1800" dirty="0"/>
          </a:p>
        </p:txBody>
      </p:sp>
      <p:sp>
        <p:nvSpPr>
          <p:cNvPr id="19" name="Text 17"/>
          <p:cNvSpPr/>
          <p:nvPr/>
        </p:nvSpPr>
        <p:spPr>
          <a:xfrm>
            <a:off x="9110980" y="3037842"/>
            <a:ext cx="20694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zᵢ₋₁ dan zᵢ gacha xᵢ atrofida; oʻzgarmas</a:t>
            </a:r>
            <a:endParaRPr lang="en-US" sz="1400" dirty="0"/>
          </a:p>
        </p:txBody>
      </p:sp>
      <p:sp>
        <p:nvSpPr>
          <p:cNvPr id="20" name="Text 18"/>
          <p:cNvSpPr/>
          <p:nvPr/>
        </p:nvSpPr>
        <p:spPr>
          <a:xfrm>
            <a:off x="812800" y="4297679"/>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B57"/>
                </a:solidFill>
                <a:latin typeface="Noto Sans" pitchFamily="34" charset="0"/>
                <a:ea typeface="Noto Sans" pitchFamily="34" charset="-122"/>
                <a:cs typeface="Noto Sans" pitchFamily="34" charset="-120"/>
              </a:rPr>
              <a:t>aᵢ va αᵢ konstruksiya bilan belgilanadi; θᵢ va dᵢ dan biri — sharnir koordinatasi.</a:t>
            </a:r>
            <a:endParaRPr lang="en-US" sz="1600" dirty="0"/>
          </a:p>
        </p:txBody>
      </p:sp>
      <p:sp>
        <p:nvSpPr>
          <p:cNvPr id="21" name="Text 1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5 · DH USULI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Zveno matritsasi Aᵢ</a:t>
            </a:r>
            <a:endParaRPr lang="en-US" sz="3200" dirty="0"/>
          </a:p>
        </p:txBody>
      </p:sp>
      <p:sp>
        <p:nvSpPr>
          <p:cNvPr id="4" name="Shape 2"/>
          <p:cNvSpPr/>
          <p:nvPr/>
        </p:nvSpPr>
        <p:spPr>
          <a:xfrm>
            <a:off x="815975" y="1806575"/>
            <a:ext cx="10560050" cy="1877060"/>
          </a:xfrm>
          <a:prstGeom prst="roundRect">
            <a:avLst>
              <a:gd name="adj" fmla="val 5244"/>
            </a:avLst>
          </a:prstGeom>
          <a:solidFill>
            <a:srgbClr val="FCFBF8"/>
          </a:solidFill>
          <a:ln w="6350">
            <a:solidFill>
              <a:srgbClr val="D6DBE4"/>
            </a:solidFill>
            <a:prstDash val="solid"/>
          </a:ln>
        </p:spPr>
      </p:sp>
      <p:pic>
        <p:nvPicPr>
          <p:cNvPr id="5" name="Image 0" descr="Ai = Rotz Transz Transx Rotx matritsasi">    </p:cNvPr>
          <p:cNvPicPr>
            <a:picLocks noChangeAspect="1"/>
          </p:cNvPicPr>
          <p:nvPr/>
        </p:nvPicPr>
        <p:blipFill>
          <a:blip r:embed="rId1"/>
          <a:srcRect l="0" r="0" t="-528" b="-528"/>
          <a:stretch/>
        </p:blipFill>
        <p:spPr>
          <a:xfrm>
            <a:off x="1071880" y="2062479"/>
            <a:ext cx="10048240" cy="1365250"/>
          </a:xfrm>
          <a:prstGeom prst="rect">
            <a:avLst/>
          </a:prstGeom>
        </p:spPr>
      </p:pic>
      <p:sp>
        <p:nvSpPr>
          <p:cNvPr id="6" name="Text 3"/>
          <p:cNvSpPr/>
          <p:nvPr/>
        </p:nvSpPr>
        <p:spPr>
          <a:xfrm>
            <a:off x="815975" y="3943983"/>
            <a:ext cx="10560050" cy="1009650"/>
          </a:xfrm>
          <a:prstGeom prst="roundRect">
            <a:avLst>
              <a:gd name="adj" fmla="val 9748"/>
            </a:avLst>
          </a:prstGeom>
          <a:solidFill>
            <a:srgbClr val="FCFBF8"/>
          </a:solidFill>
          <a:ln w="6350">
            <a:solidFill>
              <a:srgbClr val="D6DBE4"/>
            </a:solidFill>
            <a:prstDash val="solid"/>
          </a:ln>
        </p:spPr>
        <p:txBody>
          <a:bodyPr wrap="square" lIns="227077" tIns="227077" rIns="0" bIns="201677" rtlCol="0" anchor="t">
            <a:normAutofit/>
          </a:bodyPr>
          <a:lstStyle/>
          <a:p>
            <a:pPr algn="l" indent="0" marL="0">
              <a:lnSpc>
                <a:spcPts val="1960"/>
              </a:lnSpc>
              <a:buNone/>
            </a:pPr>
            <a:r>
              <a:rPr lang="en-US" sz="1400" b="1" dirty="0">
                <a:solidFill>
                  <a:srgbClr val="3B4862"/>
                </a:solidFill>
                <a:latin typeface="Noto Sans" pitchFamily="34" charset="0"/>
                <a:ea typeface="Noto Sans" pitchFamily="34" charset="-122"/>
                <a:cs typeface="Noto Sans" pitchFamily="34" charset="-120"/>
              </a:rPr>
              <a:t>Craig darsligi</a:t>
            </a:r>
            <a:r>
              <a:rPr lang="en-US" sz="1400" dirty="0">
                <a:solidFill>
                  <a:srgbClr val="3B4862"/>
                </a:solidFill>
                <a:latin typeface="Noto Sans" pitchFamily="34" charset="0"/>
                <a:ea typeface="Noto Sans" pitchFamily="34" charset="-122"/>
                <a:cs typeface="Noto Sans" pitchFamily="34" charset="-120"/>
              </a:rPr>
              <a:t> modifikatsiyalangan DH konvensiyasidan foydalanadi: {i} tizim i-sharnir oʻqida, tartib Rotₓ(αᵢ₋₁)·Transₓ(aᵢ₋₁)·Rot_z(θᵢ)·Trans_z(dᵢ). Natija bir xil, jadval esa farq qiladi — konvensiyani doimo koʻrsating.</a:t>
            </a:r>
            <a:endParaRPr lang="en-US" sz="1400" dirty="0"/>
          </a:p>
        </p:txBody>
      </p:sp>
      <p:sp>
        <p:nvSpPr>
          <p:cNvPr id="7"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9731F"/>
        </a:solidFill>
      </p:bgPr>
    </p:bg>
    <p:spTree>
      <p:nvGrpSpPr>
        <p:cNvPr id="1" name=""/>
        <p:cNvGrpSpPr/>
        <p:nvPr/>
      </p:nvGrpSpPr>
      <p:grpSpPr>
        <a:xfrm>
          <a:off x="0" y="0"/>
          <a:ext cx="0" cy="0"/>
          <a:chOff x="0" y="0"/>
          <a:chExt cx="0" cy="0"/>
        </a:xfrm>
      </p:grpSpPr>
      <p:sp>
        <p:nvSpPr>
          <p:cNvPr id="2" name="Text 0"/>
          <p:cNvSpPr/>
          <p:nvPr/>
        </p:nvSpPr>
        <p:spPr>
          <a:xfrm>
            <a:off x="812800" y="199644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142B57"/>
                </a:solidFill>
                <a:latin typeface="Noto Sans" pitchFamily="34" charset="0"/>
                <a:ea typeface="Noto Sans" pitchFamily="34" charset="-122"/>
                <a:cs typeface="Noto Sans" pitchFamily="34" charset="-120"/>
              </a:rPr>
              <a:t>KINEMATIK MODEL</a:t>
            </a:r>
            <a:endParaRPr lang="en-US" sz="1600" dirty="0"/>
          </a:p>
        </p:txBody>
      </p:sp>
      <p:sp>
        <p:nvSpPr>
          <p:cNvPr id="3" name="Text 1"/>
          <p:cNvSpPr/>
          <p:nvPr>
            <p:ph type="title"/>
          </p:nvPr>
        </p:nvSpPr>
        <p:spPr>
          <a:xfrm>
            <a:off x="812800" y="2534921"/>
            <a:ext cx="10883392" cy="17780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142B57"/>
                </a:solidFill>
                <a:latin typeface="Noto Serif" pitchFamily="18" charset="0"/>
                <a:ea typeface="Noto Serif" pitchFamily="18" charset="-122"/>
                <a:cs typeface="Noto Serif" pitchFamily="18" charset="-120"/>
              </a:rPr>
              <a:t>Har bir zveno — toʻrtta DH parametri, butun robot — matritsalarning ketma-ket koʻpaytmasi.</a:t>
            </a:r>
            <a:endParaRPr lang="en-US" sz="4000" dirty="0"/>
          </a:p>
        </p:txBody>
      </p:sp>
      <p:sp>
        <p:nvSpPr>
          <p:cNvPr id="4" name="Text 2"/>
          <p:cNvSpPr/>
          <p:nvPr/>
        </p:nvSpPr>
        <p:spPr>
          <a:xfrm>
            <a:off x="812800" y="4541521"/>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B57"/>
                </a:solidFill>
                <a:latin typeface="Noto Sans" pitchFamily="34" charset="0"/>
                <a:ea typeface="Noto Sans" pitchFamily="34" charset="-122"/>
                <a:cs typeface="Noto Sans" pitchFamily="34" charset="-120"/>
              </a:rPr>
              <a:t>T⁰ₙ = A₁(q₁) · A₂(q₂) · … · Aₙ(qₙ)</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6 · TOʻGʻRI KINEMATIKA</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Toʻgʻri kinematika masalasi</a:t>
            </a:r>
            <a:endParaRPr lang="en-US" sz="3200" dirty="0"/>
          </a:p>
        </p:txBody>
      </p:sp>
      <p:sp>
        <p:nvSpPr>
          <p:cNvPr id="4" name="Shape 2"/>
          <p:cNvSpPr/>
          <p:nvPr/>
        </p:nvSpPr>
        <p:spPr>
          <a:xfrm>
            <a:off x="815975" y="1806575"/>
            <a:ext cx="10560050" cy="1362710"/>
          </a:xfrm>
          <a:prstGeom prst="roundRect">
            <a:avLst>
              <a:gd name="adj" fmla="val 7223"/>
            </a:avLst>
          </a:prstGeom>
          <a:solidFill>
            <a:srgbClr val="FCFBF8"/>
          </a:solidFill>
          <a:ln w="6350">
            <a:solidFill>
              <a:srgbClr val="D6DBE4"/>
            </a:solidFill>
            <a:prstDash val="solid"/>
          </a:ln>
        </p:spPr>
      </p:sp>
      <p:pic>
        <p:nvPicPr>
          <p:cNvPr id="5" name="Image 0" descr="T0n(q) = A1 A2 … An = [n s a p; 0 0 0 1]">    </p:cNvPr>
          <p:cNvPicPr>
            <a:picLocks noChangeAspect="1"/>
          </p:cNvPicPr>
          <p:nvPr/>
        </p:nvPicPr>
        <p:blipFill>
          <a:blip r:embed="rId1"/>
          <a:srcRect l="-160" r="-160" t="0" b="0"/>
          <a:stretch/>
        </p:blipFill>
        <p:spPr>
          <a:xfrm>
            <a:off x="3067050" y="2062479"/>
            <a:ext cx="6057900" cy="850900"/>
          </a:xfrm>
          <a:prstGeom prst="rect">
            <a:avLst/>
          </a:prstGeom>
        </p:spPr>
      </p:pic>
      <p:sp>
        <p:nvSpPr>
          <p:cNvPr id="6" name="Shape 3"/>
          <p:cNvSpPr/>
          <p:nvPr/>
        </p:nvSpPr>
        <p:spPr>
          <a:xfrm>
            <a:off x="815975" y="3429633"/>
            <a:ext cx="1985010" cy="1802130"/>
          </a:xfrm>
          <a:prstGeom prst="roundRect">
            <a:avLst>
              <a:gd name="adj" fmla="val 5462"/>
            </a:avLst>
          </a:prstGeom>
          <a:solidFill>
            <a:srgbClr val="FCFBF8"/>
          </a:solidFill>
          <a:ln w="6350">
            <a:solidFill>
              <a:srgbClr val="D6DBE4"/>
            </a:solidFill>
            <a:prstDash val="solid"/>
          </a:ln>
        </p:spPr>
      </p:sp>
      <p:sp>
        <p:nvSpPr>
          <p:cNvPr id="7" name="Text 4"/>
          <p:cNvSpPr/>
          <p:nvPr/>
        </p:nvSpPr>
        <p:spPr>
          <a:xfrm>
            <a:off x="1021080" y="3634742"/>
            <a:ext cx="162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1</a:t>
            </a:r>
            <a:endParaRPr lang="en-US" sz="1800" dirty="0"/>
          </a:p>
        </p:txBody>
      </p:sp>
      <p:sp>
        <p:nvSpPr>
          <p:cNvPr id="8" name="Text 5"/>
          <p:cNvSpPr/>
          <p:nvPr/>
        </p:nvSpPr>
        <p:spPr>
          <a:xfrm>
            <a:off x="1021080" y="4030979"/>
            <a:ext cx="1625600"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B57"/>
                </a:solidFill>
                <a:latin typeface="Noto Sans" pitchFamily="34" charset="0"/>
                <a:ea typeface="Noto Sans" pitchFamily="34" charset="-122"/>
                <a:cs typeface="Noto Sans" pitchFamily="34" charset="-120"/>
              </a:rPr>
              <a:t>Kinematik sxemani chizish, sharnirlarni raqamlash</a:t>
            </a:r>
            <a:endParaRPr lang="en-US" sz="1400" dirty="0"/>
          </a:p>
        </p:txBody>
      </p:sp>
      <p:sp>
        <p:nvSpPr>
          <p:cNvPr id="9" name="Shape 6"/>
          <p:cNvSpPr/>
          <p:nvPr/>
        </p:nvSpPr>
        <p:spPr>
          <a:xfrm>
            <a:off x="2959735" y="3429633"/>
            <a:ext cx="1985010" cy="1802130"/>
          </a:xfrm>
          <a:prstGeom prst="roundRect">
            <a:avLst>
              <a:gd name="adj" fmla="val 5462"/>
            </a:avLst>
          </a:prstGeom>
          <a:solidFill>
            <a:srgbClr val="FCFBF8"/>
          </a:solidFill>
          <a:ln w="6350">
            <a:solidFill>
              <a:srgbClr val="D6DBE4"/>
            </a:solidFill>
            <a:prstDash val="solid"/>
          </a:ln>
        </p:spPr>
      </p:sp>
      <p:sp>
        <p:nvSpPr>
          <p:cNvPr id="10" name="Text 7"/>
          <p:cNvSpPr/>
          <p:nvPr/>
        </p:nvSpPr>
        <p:spPr>
          <a:xfrm>
            <a:off x="3164840" y="3634742"/>
            <a:ext cx="162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2</a:t>
            </a:r>
            <a:endParaRPr lang="en-US" sz="1800" dirty="0"/>
          </a:p>
        </p:txBody>
      </p:sp>
      <p:sp>
        <p:nvSpPr>
          <p:cNvPr id="11" name="Text 8"/>
          <p:cNvSpPr/>
          <p:nvPr/>
        </p:nvSpPr>
        <p:spPr>
          <a:xfrm>
            <a:off x="3164840" y="4030979"/>
            <a:ext cx="162560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B57"/>
                </a:solidFill>
                <a:latin typeface="Noto Sans" pitchFamily="34" charset="0"/>
                <a:ea typeface="Noto Sans" pitchFamily="34" charset="-122"/>
                <a:cs typeface="Noto Sans" pitchFamily="34" charset="-120"/>
              </a:rPr>
              <a:t>DH qoidalari boʻyicha tizimlarni joylashtirish</a:t>
            </a:r>
            <a:endParaRPr lang="en-US" sz="1400" dirty="0"/>
          </a:p>
        </p:txBody>
      </p:sp>
      <p:sp>
        <p:nvSpPr>
          <p:cNvPr id="12" name="Shape 9"/>
          <p:cNvSpPr/>
          <p:nvPr/>
        </p:nvSpPr>
        <p:spPr>
          <a:xfrm>
            <a:off x="5103495" y="3429633"/>
            <a:ext cx="1985010" cy="1802130"/>
          </a:xfrm>
          <a:prstGeom prst="roundRect">
            <a:avLst>
              <a:gd name="adj" fmla="val 5462"/>
            </a:avLst>
          </a:prstGeom>
          <a:solidFill>
            <a:srgbClr val="FCFBF8"/>
          </a:solidFill>
          <a:ln w="6350">
            <a:solidFill>
              <a:srgbClr val="D6DBE4"/>
            </a:solidFill>
            <a:prstDash val="solid"/>
          </a:ln>
        </p:spPr>
      </p:sp>
      <p:sp>
        <p:nvSpPr>
          <p:cNvPr id="13" name="Text 10"/>
          <p:cNvSpPr/>
          <p:nvPr/>
        </p:nvSpPr>
        <p:spPr>
          <a:xfrm>
            <a:off x="5308600" y="3634742"/>
            <a:ext cx="162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3</a:t>
            </a:r>
            <a:endParaRPr lang="en-US" sz="1800" dirty="0"/>
          </a:p>
        </p:txBody>
      </p:sp>
      <p:sp>
        <p:nvSpPr>
          <p:cNvPr id="14" name="Text 11"/>
          <p:cNvSpPr/>
          <p:nvPr/>
        </p:nvSpPr>
        <p:spPr>
          <a:xfrm>
            <a:off x="5308600" y="4030979"/>
            <a:ext cx="16256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B57"/>
                </a:solidFill>
                <a:latin typeface="Noto Sans" pitchFamily="34" charset="0"/>
                <a:ea typeface="Noto Sans" pitchFamily="34" charset="-122"/>
                <a:cs typeface="Noto Sans" pitchFamily="34" charset="-120"/>
              </a:rPr>
              <a:t>DH parametrlari jadvalini tuzish</a:t>
            </a:r>
            <a:endParaRPr lang="en-US" sz="1400" dirty="0"/>
          </a:p>
        </p:txBody>
      </p:sp>
      <p:sp>
        <p:nvSpPr>
          <p:cNvPr id="15" name="Shape 12"/>
          <p:cNvSpPr/>
          <p:nvPr/>
        </p:nvSpPr>
        <p:spPr>
          <a:xfrm>
            <a:off x="7247255" y="3429633"/>
            <a:ext cx="1985010" cy="1802130"/>
          </a:xfrm>
          <a:prstGeom prst="roundRect">
            <a:avLst>
              <a:gd name="adj" fmla="val 5462"/>
            </a:avLst>
          </a:prstGeom>
          <a:solidFill>
            <a:srgbClr val="FCFBF8"/>
          </a:solidFill>
          <a:ln w="6350">
            <a:solidFill>
              <a:srgbClr val="D6DBE4"/>
            </a:solidFill>
            <a:prstDash val="solid"/>
          </a:ln>
        </p:spPr>
      </p:sp>
      <p:sp>
        <p:nvSpPr>
          <p:cNvPr id="16" name="Text 13"/>
          <p:cNvSpPr/>
          <p:nvPr/>
        </p:nvSpPr>
        <p:spPr>
          <a:xfrm>
            <a:off x="7452360" y="3634742"/>
            <a:ext cx="162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4</a:t>
            </a:r>
            <a:endParaRPr lang="en-US" sz="1800" dirty="0"/>
          </a:p>
        </p:txBody>
      </p:sp>
      <p:sp>
        <p:nvSpPr>
          <p:cNvPr id="17" name="Text 14"/>
          <p:cNvSpPr/>
          <p:nvPr/>
        </p:nvSpPr>
        <p:spPr>
          <a:xfrm>
            <a:off x="7452360" y="4030979"/>
            <a:ext cx="16256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B57"/>
                </a:solidFill>
                <a:latin typeface="Noto Sans" pitchFamily="34" charset="0"/>
                <a:ea typeface="Noto Sans" pitchFamily="34" charset="-122"/>
                <a:cs typeface="Noto Sans" pitchFamily="34" charset="-120"/>
              </a:rPr>
              <a:t>Har bir Aᵢ matritsani yozish</a:t>
            </a:r>
            <a:endParaRPr lang="en-US" sz="1400" dirty="0"/>
          </a:p>
        </p:txBody>
      </p:sp>
      <p:sp>
        <p:nvSpPr>
          <p:cNvPr id="18" name="Shape 15"/>
          <p:cNvSpPr/>
          <p:nvPr/>
        </p:nvSpPr>
        <p:spPr>
          <a:xfrm>
            <a:off x="9391015" y="3429633"/>
            <a:ext cx="1985010" cy="1802130"/>
          </a:xfrm>
          <a:prstGeom prst="roundRect">
            <a:avLst>
              <a:gd name="adj" fmla="val 5462"/>
            </a:avLst>
          </a:prstGeom>
          <a:solidFill>
            <a:srgbClr val="FCFBF8"/>
          </a:solidFill>
          <a:ln w="6350">
            <a:solidFill>
              <a:srgbClr val="D6DBE4"/>
            </a:solidFill>
            <a:prstDash val="solid"/>
          </a:ln>
        </p:spPr>
      </p:sp>
      <p:sp>
        <p:nvSpPr>
          <p:cNvPr id="19" name="Text 16"/>
          <p:cNvSpPr/>
          <p:nvPr/>
        </p:nvSpPr>
        <p:spPr>
          <a:xfrm>
            <a:off x="9596120" y="3634742"/>
            <a:ext cx="162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5</a:t>
            </a:r>
            <a:endParaRPr lang="en-US" sz="1800" dirty="0"/>
          </a:p>
        </p:txBody>
      </p:sp>
      <p:sp>
        <p:nvSpPr>
          <p:cNvPr id="20" name="Text 17"/>
          <p:cNvSpPr/>
          <p:nvPr/>
        </p:nvSpPr>
        <p:spPr>
          <a:xfrm>
            <a:off x="9596120" y="4030979"/>
            <a:ext cx="162560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B57"/>
                </a:solidFill>
                <a:latin typeface="Noto Sans" pitchFamily="34" charset="0"/>
                <a:ea typeface="Noto Sans" pitchFamily="34" charset="-122"/>
                <a:cs typeface="Noto Sans" pitchFamily="34" charset="-120"/>
              </a:rPr>
              <a:t>Koʻpaytmani hisoblash va q = 0 da tekshirish</a:t>
            </a:r>
            <a:endParaRPr lang="en-US" sz="1400" dirty="0"/>
          </a:p>
        </p:txBody>
      </p:sp>
      <p:sp>
        <p:nvSpPr>
          <p:cNvPr id="21"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2833"/>
          </a:xfrm>
          <a:prstGeom prst="rect">
            <a:avLst/>
          </a:prstGeom>
          <a:noFill/>
          <a:ln/>
        </p:spPr>
        <p:txBody>
          <a:bodyPr wrap="square" lIns="0" tIns="0" rIns="0" bIns="0" rtlCol="0" anchor="t">
            <a:normAutofit/>
          </a:bodyPr>
          <a:lstStyle/>
          <a:p>
            <a:pPr algn="l" indent="0" marL="0">
              <a:lnSpc>
                <a:spcPts val="1670"/>
              </a:lnSpc>
              <a:buNone/>
            </a:pPr>
            <a:r>
              <a:rPr lang="en-US" sz="1193" b="1" spc="100" kern="0" dirty="0">
                <a:solidFill>
                  <a:srgbClr val="A8540F"/>
                </a:solidFill>
                <a:latin typeface="Noto Sans" pitchFamily="34" charset="0"/>
                <a:ea typeface="Noto Sans" pitchFamily="34" charset="-122"/>
                <a:cs typeface="Noto Sans" pitchFamily="34" charset="-120"/>
              </a:rPr>
              <a:t>6 · TOʻGʻRI KINEMATIKA</a:t>
            </a:r>
            <a:endParaRPr lang="en-US" sz="1193" dirty="0"/>
          </a:p>
        </p:txBody>
      </p:sp>
      <p:sp>
        <p:nvSpPr>
          <p:cNvPr id="3" name="Text 1"/>
          <p:cNvSpPr/>
          <p:nvPr>
            <p:ph type="title"/>
          </p:nvPr>
        </p:nvSpPr>
        <p:spPr>
          <a:xfrm>
            <a:off x="812800" y="1096435"/>
            <a:ext cx="10883392" cy="460057"/>
          </a:xfrm>
          <a:prstGeom prst="rect">
            <a:avLst/>
          </a:prstGeom>
          <a:noFill/>
          <a:ln/>
        </p:spPr>
        <p:txBody>
          <a:bodyPr wrap="square" lIns="0" tIns="0" rIns="0" bIns="0" rtlCol="0" anchor="t">
            <a:normAutofit/>
          </a:bodyPr>
          <a:lstStyle/>
          <a:p>
            <a:pPr algn="l" indent="0" marL="0">
              <a:lnSpc>
                <a:spcPts val="3421"/>
              </a:lnSpc>
              <a:buNone/>
            </a:pPr>
            <a:r>
              <a:rPr lang="en-US" sz="3110" b="1" i="0" dirty="0">
                <a:solidFill>
                  <a:srgbClr val="142B57"/>
                </a:solidFill>
                <a:latin typeface="Noto Serif" pitchFamily="18" charset="0"/>
                <a:ea typeface="Noto Serif" pitchFamily="18" charset="-122"/>
                <a:cs typeface="Noto Serif" pitchFamily="18" charset="-120"/>
              </a:rPr>
              <a:t>Ikki zvenoli tekis manipulyator</a:t>
            </a:r>
            <a:endParaRPr lang="en-US" sz="3110" dirty="0"/>
          </a:p>
        </p:txBody>
      </p:sp>
      <p:sp>
        <p:nvSpPr>
          <p:cNvPr id="4" name="Shape 2"/>
          <p:cNvSpPr/>
          <p:nvPr/>
        </p:nvSpPr>
        <p:spPr>
          <a:xfrm>
            <a:off x="812800" y="1987866"/>
            <a:ext cx="4114800" cy="3651250"/>
          </a:xfrm>
          <a:prstGeom prst="roundRect">
            <a:avLst>
              <a:gd name="adj" fmla="val 2783"/>
            </a:avLst>
          </a:prstGeom>
          <a:solidFill>
            <a:srgbClr val="FFFFFF"/>
          </a:solidFill>
          <a:ln/>
        </p:spPr>
      </p:sp>
      <p:pic>
        <p:nvPicPr>
          <p:cNvPr id="5" name="Image 0" descr="Ikki zvenoli RR tekis manipulyator sxemasi">    </p:cNvPr>
          <p:cNvPicPr>
            <a:picLocks noChangeAspect="1"/>
          </p:cNvPicPr>
          <p:nvPr/>
        </p:nvPicPr>
        <p:blipFill>
          <a:blip r:embed="rId1"/>
          <a:srcRect l="0" r="0" t="-32" b="-32"/>
          <a:stretch/>
        </p:blipFill>
        <p:spPr>
          <a:xfrm>
            <a:off x="965200" y="2140266"/>
            <a:ext cx="3810000" cy="3346450"/>
          </a:xfrm>
          <a:prstGeom prst="rect">
            <a:avLst/>
          </a:prstGeom>
        </p:spPr>
      </p:pic>
      <p:sp>
        <p:nvSpPr>
          <p:cNvPr id="6" name="Text 3"/>
          <p:cNvSpPr/>
          <p:nvPr/>
        </p:nvSpPr>
        <p:spPr>
          <a:xfrm>
            <a:off x="5181600" y="1733339"/>
            <a:ext cx="63835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DH: (θ₁, 0, l₁, 0) va (θ₂, 0, l₂, 0)</a:t>
            </a:r>
            <a:endParaRPr lang="en-US" sz="1500" dirty="0"/>
          </a:p>
        </p:txBody>
      </p:sp>
      <p:sp>
        <p:nvSpPr>
          <p:cNvPr id="7" name="Shape 4"/>
          <p:cNvSpPr/>
          <p:nvPr/>
        </p:nvSpPr>
        <p:spPr>
          <a:xfrm>
            <a:off x="5184775" y="2155614"/>
            <a:ext cx="6191250" cy="2169160"/>
          </a:xfrm>
          <a:prstGeom prst="roundRect">
            <a:avLst>
              <a:gd name="adj" fmla="val 4537"/>
            </a:avLst>
          </a:prstGeom>
          <a:solidFill>
            <a:srgbClr val="FCFBF8"/>
          </a:solidFill>
          <a:ln w="6350">
            <a:solidFill>
              <a:srgbClr val="D6DBE4"/>
            </a:solidFill>
            <a:prstDash val="solid"/>
          </a:ln>
        </p:spPr>
      </p:sp>
      <p:pic>
        <p:nvPicPr>
          <p:cNvPr id="8" name="Image 1" descr="RR manipulyator toʻgʻri kinematikasi">    </p:cNvPr>
          <p:cNvPicPr>
            <a:picLocks noChangeAspect="1"/>
          </p:cNvPicPr>
          <p:nvPr/>
        </p:nvPicPr>
        <p:blipFill>
          <a:blip r:embed="rId2"/>
          <a:srcRect l="-1" r="-1" t="0" b="0"/>
          <a:stretch/>
        </p:blipFill>
        <p:spPr>
          <a:xfrm>
            <a:off x="5994400" y="2411518"/>
            <a:ext cx="4572000" cy="1657350"/>
          </a:xfrm>
          <a:prstGeom prst="rect">
            <a:avLst/>
          </a:prstGeom>
        </p:spPr>
      </p:pic>
      <p:sp>
        <p:nvSpPr>
          <p:cNvPr id="9" name="Text 5"/>
          <p:cNvSpPr/>
          <p:nvPr/>
        </p:nvSpPr>
        <p:spPr>
          <a:xfrm>
            <a:off x="5181600" y="4480347"/>
            <a:ext cx="63835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Ishchi zona — halqa:</a:t>
            </a:r>
            <a:endParaRPr lang="en-US" sz="1500" dirty="0"/>
          </a:p>
        </p:txBody>
      </p:sp>
      <p:sp>
        <p:nvSpPr>
          <p:cNvPr id="10" name="Shape 6"/>
          <p:cNvSpPr/>
          <p:nvPr/>
        </p:nvSpPr>
        <p:spPr>
          <a:xfrm>
            <a:off x="5184775" y="4902622"/>
            <a:ext cx="6191250" cy="988060"/>
          </a:xfrm>
          <a:prstGeom prst="roundRect">
            <a:avLst>
              <a:gd name="adj" fmla="val 9961"/>
            </a:avLst>
          </a:prstGeom>
          <a:solidFill>
            <a:srgbClr val="FCFBF8"/>
          </a:solidFill>
          <a:ln w="6350">
            <a:solidFill>
              <a:srgbClr val="D6DBE4"/>
            </a:solidFill>
            <a:prstDash val="solid"/>
          </a:ln>
        </p:spPr>
      </p:sp>
      <p:pic>
        <p:nvPicPr>
          <p:cNvPr id="11" name="Image 2" descr="|l1 − l2| ≤ r ≤ l1 + l2">    </p:cNvPr>
          <p:cNvPicPr>
            <a:picLocks noChangeAspect="1"/>
          </p:cNvPicPr>
          <p:nvPr/>
        </p:nvPicPr>
        <p:blipFill>
          <a:blip r:embed="rId3"/>
          <a:srcRect l="-303" r="-303" t="0" b="0"/>
          <a:stretch/>
        </p:blipFill>
        <p:spPr>
          <a:xfrm>
            <a:off x="6502400" y="5158525"/>
            <a:ext cx="3556000" cy="476250"/>
          </a:xfrm>
          <a:prstGeom prst="rect">
            <a:avLst/>
          </a:prstGeom>
        </p:spPr>
      </p:pic>
      <p:sp>
        <p:nvSpPr>
          <p:cNvPr id="12" name="Text 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7 · TESKARI KINEMATIKA</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Teskari kinematika: geometrik yechim</a:t>
            </a:r>
            <a:endParaRPr lang="en-US" sz="3200" dirty="0"/>
          </a:p>
        </p:txBody>
      </p:sp>
      <p:sp>
        <p:nvSpPr>
          <p:cNvPr id="4" name="Shape 2"/>
          <p:cNvSpPr/>
          <p:nvPr/>
        </p:nvSpPr>
        <p:spPr>
          <a:xfrm>
            <a:off x="815975" y="1806575"/>
            <a:ext cx="10560050" cy="2226310"/>
          </a:xfrm>
          <a:prstGeom prst="roundRect">
            <a:avLst>
              <a:gd name="adj" fmla="val 4421"/>
            </a:avLst>
          </a:prstGeom>
          <a:solidFill>
            <a:srgbClr val="FCFBF8"/>
          </a:solidFill>
          <a:ln w="6350">
            <a:solidFill>
              <a:srgbClr val="D6DBE4"/>
            </a:solidFill>
            <a:prstDash val="solid"/>
          </a:ln>
        </p:spPr>
      </p:sp>
      <p:pic>
        <p:nvPicPr>
          <p:cNvPr id="5" name="Image 0" descr="RR teskari kinematika formulalari">    </p:cNvPr>
          <p:cNvPicPr>
            <a:picLocks noChangeAspect="1"/>
          </p:cNvPicPr>
          <p:nvPr/>
        </p:nvPicPr>
        <p:blipFill>
          <a:blip r:embed="rId1"/>
          <a:srcRect l="0" r="0" t="-16" b="-16"/>
          <a:stretch/>
        </p:blipFill>
        <p:spPr>
          <a:xfrm>
            <a:off x="3238500" y="2062479"/>
            <a:ext cx="5715000" cy="1714500"/>
          </a:xfrm>
          <a:prstGeom prst="rect">
            <a:avLst/>
          </a:prstGeom>
        </p:spPr>
      </p:pic>
      <p:sp>
        <p:nvSpPr>
          <p:cNvPr id="6" name="Text 3"/>
          <p:cNvSpPr/>
          <p:nvPr/>
        </p:nvSpPr>
        <p:spPr>
          <a:xfrm>
            <a:off x="815975" y="4293233"/>
            <a:ext cx="3380317" cy="1156970"/>
          </a:xfrm>
          <a:prstGeom prst="roundRect">
            <a:avLst>
              <a:gd name="adj" fmla="val 8507"/>
            </a:avLst>
          </a:prstGeom>
          <a:solidFill>
            <a:srgbClr val="FCFBF8"/>
          </a:solidFill>
          <a:ln w="6350">
            <a:solidFill>
              <a:srgbClr val="D6DBE4"/>
            </a:solidFill>
            <a:prstDash val="solid"/>
          </a:ln>
        </p:spPr>
        <p:txBody>
          <a:bodyPr wrap="square" lIns="176277" tIns="176277" rIns="87174" bIns="150877" rtlCol="0" anchor="t">
            <a:normAutofit/>
          </a:bodyPr>
          <a:lstStyle/>
          <a:p>
            <a:pPr algn="l" indent="0" marL="0">
              <a:lnSpc>
                <a:spcPts val="1960"/>
              </a:lnSpc>
              <a:buNone/>
            </a:pPr>
            <a:r>
              <a:rPr lang="en-US" sz="1400" b="1" dirty="0">
                <a:solidFill>
                  <a:srgbClr val="3B4862"/>
                </a:solidFill>
                <a:latin typeface="Noto Sans" pitchFamily="34" charset="0"/>
                <a:ea typeface="Noto Sans" pitchFamily="34" charset="-122"/>
                <a:cs typeface="Noto Sans" pitchFamily="34" charset="-120"/>
              </a:rPr>
              <a:t>Ikki yechim:</a:t>
            </a:r>
            <a:r>
              <a:rPr lang="en-US" sz="1400" dirty="0">
                <a:solidFill>
                  <a:srgbClr val="3B4862"/>
                </a:solidFill>
                <a:latin typeface="Noto Sans" pitchFamily="34" charset="0"/>
                <a:ea typeface="Noto Sans" pitchFamily="34" charset="-122"/>
                <a:cs typeface="Noto Sans" pitchFamily="34" charset="-120"/>
              </a:rPr>
              <a:t> ± ishora — «tirsak pastda» (θ₂ &gt; 0) va «tirsak yuqorida» (θ₂ &lt; 0).</a:t>
            </a:r>
            <a:endParaRPr lang="en-US" sz="1400" dirty="0"/>
          </a:p>
        </p:txBody>
      </p:sp>
      <p:sp>
        <p:nvSpPr>
          <p:cNvPr id="7" name="Text 4"/>
          <p:cNvSpPr/>
          <p:nvPr/>
        </p:nvSpPr>
        <p:spPr>
          <a:xfrm>
            <a:off x="4405842" y="4293233"/>
            <a:ext cx="3380317" cy="1156970"/>
          </a:xfrm>
          <a:prstGeom prst="roundRect">
            <a:avLst>
              <a:gd name="adj" fmla="val 8507"/>
            </a:avLst>
          </a:prstGeom>
          <a:solidFill>
            <a:srgbClr val="FCFBF8"/>
          </a:solidFill>
          <a:ln w="6350">
            <a:solidFill>
              <a:srgbClr val="D6DBE4"/>
            </a:solidFill>
            <a:prstDash val="solid"/>
          </a:ln>
        </p:spPr>
        <p:txBody>
          <a:bodyPr wrap="square" lIns="176277" tIns="176277" rIns="87174" bIns="176277" rtlCol="0" anchor="t">
            <a:normAutofit/>
          </a:bodyPr>
          <a:lstStyle/>
          <a:p>
            <a:pPr algn="l" indent="0" marL="0">
              <a:lnSpc>
                <a:spcPts val="1960"/>
              </a:lnSpc>
              <a:buNone/>
            </a:pPr>
            <a:r>
              <a:rPr lang="en-US" sz="1400" b="1" dirty="0">
                <a:solidFill>
                  <a:srgbClr val="3B4862"/>
                </a:solidFill>
                <a:latin typeface="Noto Sans" pitchFamily="34" charset="0"/>
                <a:ea typeface="Noto Sans" pitchFamily="34" charset="-122"/>
                <a:cs typeface="Noto Sans" pitchFamily="34" charset="-120"/>
              </a:rPr>
              <a:t>Yechim yoʻq:</a:t>
            </a:r>
            <a:r>
              <a:rPr lang="en-US" sz="1400" dirty="0">
                <a:solidFill>
                  <a:srgbClr val="3B4862"/>
                </a:solidFill>
                <a:latin typeface="Noto Sans" pitchFamily="34" charset="0"/>
                <a:ea typeface="Noto Sans" pitchFamily="34" charset="-122"/>
                <a:cs typeface="Noto Sans" pitchFamily="34" charset="-120"/>
              </a:rPr>
              <a:t> |cos θ₂| &gt; 1 — nuqta ishchi zonadan tashqarida.</a:t>
            </a:r>
            <a:endParaRPr lang="en-US" sz="1400" dirty="0"/>
          </a:p>
        </p:txBody>
      </p:sp>
      <p:sp>
        <p:nvSpPr>
          <p:cNvPr id="8" name="Text 5"/>
          <p:cNvSpPr/>
          <p:nvPr/>
        </p:nvSpPr>
        <p:spPr>
          <a:xfrm>
            <a:off x="7995708" y="4293233"/>
            <a:ext cx="3380317" cy="1156970"/>
          </a:xfrm>
          <a:prstGeom prst="roundRect">
            <a:avLst>
              <a:gd name="adj" fmla="val 8507"/>
            </a:avLst>
          </a:prstGeom>
          <a:solidFill>
            <a:srgbClr val="FCFBF8"/>
          </a:solidFill>
          <a:ln w="6350">
            <a:solidFill>
              <a:srgbClr val="D6DBE4"/>
            </a:solidFill>
            <a:prstDash val="solid"/>
          </a:ln>
        </p:spPr>
        <p:txBody>
          <a:bodyPr wrap="square" lIns="176278" tIns="176277" rIns="87174" bIns="176277" rtlCol="0" anchor="t">
            <a:normAutofit/>
          </a:bodyPr>
          <a:lstStyle/>
          <a:p>
            <a:pPr algn="l" indent="0" marL="0">
              <a:lnSpc>
                <a:spcPts val="1960"/>
              </a:lnSpc>
              <a:buNone/>
            </a:pPr>
            <a:r>
              <a:rPr lang="en-US" sz="1400" b="1" dirty="0">
                <a:solidFill>
                  <a:srgbClr val="3B4862"/>
                </a:solidFill>
                <a:latin typeface="Noto Sans" pitchFamily="34" charset="0"/>
                <a:ea typeface="Noto Sans" pitchFamily="34" charset="-122"/>
                <a:cs typeface="Noto Sans" pitchFamily="34" charset="-120"/>
              </a:rPr>
              <a:t>atan2</a:t>
            </a:r>
            <a:r>
              <a:rPr lang="en-US" sz="1400" dirty="0">
                <a:solidFill>
                  <a:srgbClr val="3B4862"/>
                </a:solidFill>
                <a:latin typeface="Noto Sans" pitchFamily="34" charset="0"/>
                <a:ea typeface="Noto Sans" pitchFamily="34" charset="-122"/>
                <a:cs typeface="Noto Sans" pitchFamily="34" charset="-120"/>
              </a:rPr>
              <a:t> burchakni toʻrtta chorakda ham toʻgʻri aniqlaydi.</a:t>
            </a:r>
            <a:endParaRPr lang="en-US" sz="1400" dirty="0"/>
          </a:p>
        </p:txBody>
      </p:sp>
      <p:sp>
        <p:nvSpPr>
          <p:cNvPr id="9" name="Text 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8 · AMALIY MASALALAR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Masala 1: erkinlik darajalari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584450"/>
        </p:xfrm>
        <a:graphic>
          <a:graphicData uri="http://schemas.openxmlformats.org/drawingml/2006/table">
            <a:tbl>
              <a:tblPr/>
              <a:tblGrid>
                <a:gridCol w="1759373"/>
                <a:gridCol w="1759373"/>
                <a:gridCol w="1759373"/>
                <a:gridCol w="1759373"/>
                <a:gridCol w="1759373"/>
                <a:gridCol w="1759373"/>
              </a:tblGrid>
              <a:tr h="410210">
                <a:tc>
                  <a:txBody>
                    <a:bodyPr/>
                    <a:lstStyle/>
                    <a:p>
                      <a:pPr indent="0" marL="0">
                        <a:lnSpc>
                          <a:spcPts val="2100"/>
                        </a:lnSpc>
                        <a:buNone/>
                      </a:pPr>
                      <a:r>
                        <a:rPr lang="en-US" sz="1500" b="1" dirty="0">
                          <a:solidFill>
                            <a:srgbClr val="142B57"/>
                          </a:solidFill>
                          <a:latin typeface="Noto Sans" pitchFamily="34" charset="0"/>
                          <a:ea typeface="Noto Sans" pitchFamily="34" charset="-122"/>
                          <a:cs typeface="Noto Sans" pitchFamily="34" charset="-120"/>
                        </a:rPr>
                        <a:t>Mexanizm</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2100"/>
                        </a:lnSpc>
                        <a:buNone/>
                      </a:pPr>
                      <a:r>
                        <a:rPr lang="en-US" sz="1500" b="1" dirty="0">
                          <a:solidFill>
                            <a:srgbClr val="142B57"/>
                          </a:solidFill>
                          <a:latin typeface="Noto Sans" pitchFamily="34" charset="0"/>
                          <a:ea typeface="Noto Sans" pitchFamily="34" charset="-122"/>
                          <a:cs typeface="Noto Sans" pitchFamily="34" charset="-120"/>
                        </a:rPr>
                        <a:t>λ</a:t>
                      </a:r>
                      <a:endParaRPr lang="en-US" sz="1500" dirty="0">
                        <a:latin typeface="Noto Sans" charset="0"/>
                        <a:ea typeface="Noto Sans" charset="0"/>
                        <a:cs typeface="Noto Sans" charset="0"/>
                      </a:endParaRPr>
                    </a:p>
                  </a:txBody>
                  <a:tcPr marL="66675" marR="66675" marT="66675" marB="66675"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2100"/>
                        </a:lnSpc>
                        <a:buNone/>
                      </a:pPr>
                      <a:r>
                        <a:rPr lang="en-US" sz="1500" b="1" dirty="0">
                          <a:solidFill>
                            <a:srgbClr val="142B57"/>
                          </a:solidFill>
                          <a:latin typeface="Noto Sans" pitchFamily="34" charset="0"/>
                          <a:ea typeface="Noto Sans" pitchFamily="34" charset="-122"/>
                          <a:cs typeface="Noto Sans" pitchFamily="34" charset="-120"/>
                        </a:rPr>
                        <a:t>n</a:t>
                      </a:r>
                      <a:endParaRPr lang="en-US" sz="1500" dirty="0">
                        <a:latin typeface="Noto Sans" charset="0"/>
                        <a:ea typeface="Noto Sans" charset="0"/>
                        <a:cs typeface="Noto Sans" charset="0"/>
                      </a:endParaRPr>
                    </a:p>
                  </a:txBody>
                  <a:tcPr marL="66675" marR="66675" marT="66675" marB="66675"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2100"/>
                        </a:lnSpc>
                        <a:buNone/>
                      </a:pPr>
                      <a:r>
                        <a:rPr lang="en-US" sz="1500" b="1" dirty="0">
                          <a:solidFill>
                            <a:srgbClr val="142B57"/>
                          </a:solidFill>
                          <a:latin typeface="Noto Sans" pitchFamily="34" charset="0"/>
                          <a:ea typeface="Noto Sans" pitchFamily="34" charset="-122"/>
                          <a:cs typeface="Noto Sans" pitchFamily="34" charset="-120"/>
                        </a:rPr>
                        <a:t>j</a:t>
                      </a:r>
                      <a:endParaRPr lang="en-US" sz="1500" dirty="0">
                        <a:latin typeface="Noto Sans" charset="0"/>
                        <a:ea typeface="Noto Sans" charset="0"/>
                        <a:cs typeface="Noto Sans" charset="0"/>
                      </a:endParaRPr>
                    </a:p>
                  </a:txBody>
                  <a:tcPr marL="66675" marR="66675" marT="66675" marB="66675"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2100"/>
                        </a:lnSpc>
                        <a:buNone/>
                      </a:pPr>
                      <a:r>
                        <a:rPr lang="en-US" sz="1500" b="1" dirty="0">
                          <a:solidFill>
                            <a:srgbClr val="142B57"/>
                          </a:solidFill>
                          <a:latin typeface="Noto Sans" pitchFamily="34" charset="0"/>
                          <a:ea typeface="Noto Sans" pitchFamily="34" charset="-122"/>
                          <a:cs typeface="Noto Sans" pitchFamily="34" charset="-120"/>
                        </a:rPr>
                        <a:t>Σfᵢ</a:t>
                      </a:r>
                      <a:endParaRPr lang="en-US" sz="1500" dirty="0">
                        <a:latin typeface="Noto Sans" charset="0"/>
                        <a:ea typeface="Noto Sans" charset="0"/>
                        <a:cs typeface="Noto Sans" charset="0"/>
                      </a:endParaRPr>
                    </a:p>
                  </a:txBody>
                  <a:tcPr marL="66675" marR="66675" marT="66675" marB="66675"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2100"/>
                        </a:lnSpc>
                        <a:buNone/>
                      </a:pPr>
                      <a:r>
                        <a:rPr lang="en-US" sz="1500" b="1" dirty="0">
                          <a:solidFill>
                            <a:srgbClr val="142B57"/>
                          </a:solidFill>
                          <a:latin typeface="Noto Sans" pitchFamily="34" charset="0"/>
                          <a:ea typeface="Noto Sans" pitchFamily="34" charset="-122"/>
                          <a:cs typeface="Noto Sans" pitchFamily="34" charset="-120"/>
                        </a:rPr>
                        <a:t>M</a:t>
                      </a:r>
                      <a:endParaRPr lang="en-US" sz="1500" dirty="0">
                        <a:latin typeface="Noto Sans" charset="0"/>
                        <a:ea typeface="Noto Sans" charset="0"/>
                        <a:cs typeface="Noto Sans" charset="0"/>
                      </a:endParaRPr>
                    </a:p>
                  </a:txBody>
                  <a:tcPr marL="66675" marR="66675" marT="66675" marB="66675"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r>
              <a:tr h="676910">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a) 6R manipulyator</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6</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7</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6</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6</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6</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b) SCARA (RRPR)</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6</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5</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4</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4</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4</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676910">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c) Toʻrt zvenoli mexanizm</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3</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4</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4</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4</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1</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d) 3-RRR parallel</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3</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8</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9</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9</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B57"/>
                          </a:solidFill>
                          <a:latin typeface="Noto Sans" pitchFamily="34" charset="0"/>
                          <a:ea typeface="Noto Sans" pitchFamily="34" charset="-122"/>
                          <a:cs typeface="Noto Sans" pitchFamily="34" charset="-120"/>
                        </a:rPr>
                        <a:t>3</a:t>
                      </a:r>
                      <a:endParaRPr lang="en-US" sz="1500" dirty="0">
                        <a:latin typeface="Noto Sans" charset="0"/>
                        <a:ea typeface="Noto Sans" charset="0"/>
                        <a:cs typeface="Noto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465200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8540F"/>
                </a:solidFill>
                <a:latin typeface="Noto Sans" pitchFamily="34" charset="0"/>
                <a:ea typeface="Noto Sans" pitchFamily="34" charset="-122"/>
                <a:cs typeface="Noto Sans" pitchFamily="34" charset="-120"/>
              </a:rPr>
              <a:t>Yopiq kontur erkinlik darajalarini kamaytiradi: 3-RRR da 9 ta sharnir, lekin platforma faqat 3 erkinlik darajasiga ega.</a:t>
            </a:r>
            <a:endParaRPr lang="en-US" sz="15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8 · AMALIY MASALALAR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Masala 2: RR manipulyator</a:t>
            </a:r>
            <a:endParaRPr lang="en-US" sz="3200" dirty="0"/>
          </a:p>
        </p:txBody>
      </p:sp>
      <p:sp>
        <p:nvSpPr>
          <p:cNvPr id="4" name="Text 2"/>
          <p:cNvSpPr/>
          <p:nvPr/>
        </p:nvSpPr>
        <p:spPr>
          <a:xfrm>
            <a:off x="812800" y="18034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l₁ = 0.4 m, l₂ = 0.3 m. a) θ₁ = 30°, θ₂ = 45° uchun holat; b) P(0.5; 0.3) m uchun burchaklar.</a:t>
            </a:r>
            <a:endParaRPr lang="en-US" sz="1500" dirty="0"/>
          </a:p>
        </p:txBody>
      </p:sp>
      <p:sp>
        <p:nvSpPr>
          <p:cNvPr id="5" name="Shape 3"/>
          <p:cNvSpPr/>
          <p:nvPr/>
        </p:nvSpPr>
        <p:spPr>
          <a:xfrm>
            <a:off x="815975" y="2327275"/>
            <a:ext cx="3414183" cy="1083310"/>
          </a:xfrm>
          <a:prstGeom prst="roundRect">
            <a:avLst>
              <a:gd name="adj" fmla="val 9086"/>
            </a:avLst>
          </a:prstGeom>
          <a:solidFill>
            <a:srgbClr val="FCFBF8"/>
          </a:solidFill>
          <a:ln w="6350">
            <a:solidFill>
              <a:srgbClr val="D6DBE4"/>
            </a:solidFill>
            <a:prstDash val="solid"/>
          </a:ln>
        </p:spPr>
      </p:sp>
      <p:sp>
        <p:nvSpPr>
          <p:cNvPr id="6" name="Text 4"/>
          <p:cNvSpPr/>
          <p:nvPr/>
        </p:nvSpPr>
        <p:spPr>
          <a:xfrm>
            <a:off x="1021080" y="2532385"/>
            <a:ext cx="3094092" cy="416560"/>
          </a:xfrm>
          <a:prstGeom prst="rect">
            <a:avLst/>
          </a:prstGeom>
          <a:noFill/>
          <a:ln/>
        </p:spPr>
        <p:txBody>
          <a:bodyPr wrap="none" lIns="0" tIns="0" rIns="0" bIns="0" rtlCol="0" anchor="t">
            <a:normAutofit/>
          </a:bodyPr>
          <a:lstStyle/>
          <a:p>
            <a:pPr algn="l" indent="0" marL="0">
              <a:lnSpc>
                <a:spcPts val="3080"/>
              </a:lnSpc>
              <a:buNone/>
            </a:pPr>
            <a:r>
              <a:rPr lang="en-US" sz="2200" b="1" dirty="0">
                <a:solidFill>
                  <a:srgbClr val="142B57"/>
                </a:solidFill>
                <a:latin typeface="Noto Serif" pitchFamily="18" charset="0"/>
                <a:ea typeface="Noto Serif" pitchFamily="18" charset="-122"/>
                <a:cs typeface="Noto Serif" pitchFamily="18" charset="-120"/>
              </a:rPr>
              <a:t>(0.424; 0.490)</a:t>
            </a:r>
            <a:endParaRPr lang="en-US" sz="2200" dirty="0"/>
          </a:p>
        </p:txBody>
      </p:sp>
      <p:sp>
        <p:nvSpPr>
          <p:cNvPr id="7" name="Text 5"/>
          <p:cNvSpPr/>
          <p:nvPr/>
        </p:nvSpPr>
        <p:spPr>
          <a:xfrm>
            <a:off x="1021080" y="2974342"/>
            <a:ext cx="30940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a) Holat P, m</a:t>
            </a:r>
            <a:endParaRPr lang="en-US" sz="1300" dirty="0"/>
          </a:p>
        </p:txBody>
      </p:sp>
      <p:sp>
        <p:nvSpPr>
          <p:cNvPr id="8" name="Shape 6"/>
          <p:cNvSpPr/>
          <p:nvPr/>
        </p:nvSpPr>
        <p:spPr>
          <a:xfrm>
            <a:off x="4388908" y="2327275"/>
            <a:ext cx="3414183" cy="1083310"/>
          </a:xfrm>
          <a:prstGeom prst="roundRect">
            <a:avLst>
              <a:gd name="adj" fmla="val 9086"/>
            </a:avLst>
          </a:prstGeom>
          <a:solidFill>
            <a:srgbClr val="FCFBF8"/>
          </a:solidFill>
          <a:ln w="6350">
            <a:solidFill>
              <a:srgbClr val="D6DBE4"/>
            </a:solidFill>
            <a:prstDash val="solid"/>
          </a:ln>
        </p:spPr>
      </p:sp>
      <p:sp>
        <p:nvSpPr>
          <p:cNvPr id="9" name="Text 7"/>
          <p:cNvSpPr/>
          <p:nvPr/>
        </p:nvSpPr>
        <p:spPr>
          <a:xfrm>
            <a:off x="4594013" y="2532385"/>
            <a:ext cx="3094093" cy="416560"/>
          </a:xfrm>
          <a:prstGeom prst="rect">
            <a:avLst/>
          </a:prstGeom>
          <a:noFill/>
          <a:ln/>
        </p:spPr>
        <p:txBody>
          <a:bodyPr wrap="none" lIns="0" tIns="0" rIns="0" bIns="0" rtlCol="0" anchor="t">
            <a:normAutofit/>
          </a:bodyPr>
          <a:lstStyle/>
          <a:p>
            <a:pPr algn="l" indent="0" marL="0">
              <a:lnSpc>
                <a:spcPts val="3080"/>
              </a:lnSpc>
              <a:buNone/>
            </a:pPr>
            <a:r>
              <a:rPr lang="en-US" sz="2200" b="1" dirty="0">
                <a:solidFill>
                  <a:srgbClr val="142B57"/>
                </a:solidFill>
                <a:latin typeface="Noto Serif" pitchFamily="18" charset="0"/>
                <a:ea typeface="Noto Serif" pitchFamily="18" charset="-122"/>
                <a:cs typeface="Noto Serif" pitchFamily="18" charset="-120"/>
              </a:rPr>
              <a:t>φ = 75°</a:t>
            </a:r>
            <a:endParaRPr lang="en-US" sz="2200" dirty="0"/>
          </a:p>
        </p:txBody>
      </p:sp>
      <p:sp>
        <p:nvSpPr>
          <p:cNvPr id="10" name="Text 8"/>
          <p:cNvSpPr/>
          <p:nvPr/>
        </p:nvSpPr>
        <p:spPr>
          <a:xfrm>
            <a:off x="4594013" y="2974342"/>
            <a:ext cx="309409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a) Orientatsiya</a:t>
            </a:r>
            <a:endParaRPr lang="en-US" sz="1300" dirty="0"/>
          </a:p>
        </p:txBody>
      </p:sp>
      <p:sp>
        <p:nvSpPr>
          <p:cNvPr id="11" name="Shape 9"/>
          <p:cNvSpPr/>
          <p:nvPr/>
        </p:nvSpPr>
        <p:spPr>
          <a:xfrm>
            <a:off x="7961842" y="2327275"/>
            <a:ext cx="3414183" cy="1083310"/>
          </a:xfrm>
          <a:prstGeom prst="roundRect">
            <a:avLst>
              <a:gd name="adj" fmla="val 9086"/>
            </a:avLst>
          </a:prstGeom>
          <a:solidFill>
            <a:srgbClr val="FCFBF8"/>
          </a:solidFill>
          <a:ln w="6350">
            <a:solidFill>
              <a:srgbClr val="D6DBE4"/>
            </a:solidFill>
            <a:prstDash val="solid"/>
          </a:ln>
        </p:spPr>
      </p:sp>
      <p:sp>
        <p:nvSpPr>
          <p:cNvPr id="12" name="Text 10"/>
          <p:cNvSpPr/>
          <p:nvPr/>
        </p:nvSpPr>
        <p:spPr>
          <a:xfrm>
            <a:off x="8166946" y="2532385"/>
            <a:ext cx="3094092" cy="416560"/>
          </a:xfrm>
          <a:prstGeom prst="rect">
            <a:avLst/>
          </a:prstGeom>
          <a:noFill/>
          <a:ln/>
        </p:spPr>
        <p:txBody>
          <a:bodyPr wrap="none" lIns="0" tIns="0" rIns="0" bIns="0" rtlCol="0" anchor="t">
            <a:normAutofit/>
          </a:bodyPr>
          <a:lstStyle/>
          <a:p>
            <a:pPr algn="l" indent="0" marL="0">
              <a:lnSpc>
                <a:spcPts val="3080"/>
              </a:lnSpc>
              <a:buNone/>
            </a:pPr>
            <a:r>
              <a:rPr lang="en-US" sz="2200" b="1" dirty="0">
                <a:solidFill>
                  <a:srgbClr val="142B57"/>
                </a:solidFill>
                <a:latin typeface="Noto Serif" pitchFamily="18" charset="0"/>
                <a:ea typeface="Noto Serif" pitchFamily="18" charset="-122"/>
                <a:cs typeface="Noto Serif" pitchFamily="18" charset="-120"/>
              </a:rPr>
              <a:t>r = 0.583 m</a:t>
            </a:r>
            <a:endParaRPr lang="en-US" sz="2200" dirty="0"/>
          </a:p>
        </p:txBody>
      </p:sp>
      <p:sp>
        <p:nvSpPr>
          <p:cNvPr id="13" name="Text 11"/>
          <p:cNvSpPr/>
          <p:nvPr/>
        </p:nvSpPr>
        <p:spPr>
          <a:xfrm>
            <a:off x="8166946" y="2974342"/>
            <a:ext cx="30940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b) 0.1 ≤ r ≤ 0.7 — yechim bor</a:t>
            </a:r>
            <a:endParaRPr lang="en-US" sz="1300" dirty="0"/>
          </a:p>
        </p:txBody>
      </p:sp>
      <p:sp>
        <p:nvSpPr>
          <p:cNvPr id="14" name="Shape 12"/>
          <p:cNvSpPr/>
          <p:nvPr/>
        </p:nvSpPr>
        <p:spPr>
          <a:xfrm>
            <a:off x="815975" y="3569333"/>
            <a:ext cx="3414183" cy="1083310"/>
          </a:xfrm>
          <a:prstGeom prst="roundRect">
            <a:avLst>
              <a:gd name="adj" fmla="val 9086"/>
            </a:avLst>
          </a:prstGeom>
          <a:solidFill>
            <a:srgbClr val="FCFBF8"/>
          </a:solidFill>
          <a:ln w="6350">
            <a:solidFill>
              <a:srgbClr val="D6DBE4"/>
            </a:solidFill>
            <a:prstDash val="solid"/>
          </a:ln>
        </p:spPr>
      </p:sp>
      <p:sp>
        <p:nvSpPr>
          <p:cNvPr id="15" name="Text 13"/>
          <p:cNvSpPr/>
          <p:nvPr/>
        </p:nvSpPr>
        <p:spPr>
          <a:xfrm>
            <a:off x="1021080" y="3774442"/>
            <a:ext cx="3094092" cy="416560"/>
          </a:xfrm>
          <a:prstGeom prst="rect">
            <a:avLst/>
          </a:prstGeom>
          <a:noFill/>
          <a:ln/>
        </p:spPr>
        <p:txBody>
          <a:bodyPr wrap="none" lIns="0" tIns="0" rIns="0" bIns="0" rtlCol="0" anchor="t">
            <a:normAutofit/>
          </a:bodyPr>
          <a:lstStyle/>
          <a:p>
            <a:pPr algn="l" indent="0" marL="0">
              <a:lnSpc>
                <a:spcPts val="3080"/>
              </a:lnSpc>
              <a:buNone/>
            </a:pPr>
            <a:r>
              <a:rPr lang="en-US" sz="2200" b="1" dirty="0">
                <a:solidFill>
                  <a:srgbClr val="142B57"/>
                </a:solidFill>
                <a:latin typeface="Noto Serif" pitchFamily="18" charset="0"/>
                <a:ea typeface="Noto Serif" pitchFamily="18" charset="-122"/>
                <a:cs typeface="Noto Serif" pitchFamily="18" charset="-120"/>
              </a:rPr>
              <a:t>cos θ₂ = 0.375</a:t>
            </a:r>
            <a:endParaRPr lang="en-US" sz="2200" dirty="0"/>
          </a:p>
        </p:txBody>
      </p:sp>
      <p:sp>
        <p:nvSpPr>
          <p:cNvPr id="16" name="Text 14"/>
          <p:cNvSpPr/>
          <p:nvPr/>
        </p:nvSpPr>
        <p:spPr>
          <a:xfrm>
            <a:off x="1021080" y="4216400"/>
            <a:ext cx="30940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b) sin θ₂ = ±0.927</a:t>
            </a:r>
            <a:endParaRPr lang="en-US" sz="1300" dirty="0"/>
          </a:p>
        </p:txBody>
      </p:sp>
      <p:sp>
        <p:nvSpPr>
          <p:cNvPr id="17" name="Shape 15"/>
          <p:cNvSpPr/>
          <p:nvPr/>
        </p:nvSpPr>
        <p:spPr>
          <a:xfrm>
            <a:off x="4388908" y="3569333"/>
            <a:ext cx="3414183" cy="1083310"/>
          </a:xfrm>
          <a:prstGeom prst="roundRect">
            <a:avLst>
              <a:gd name="adj" fmla="val 9086"/>
            </a:avLst>
          </a:prstGeom>
          <a:solidFill>
            <a:srgbClr val="FCFBF8"/>
          </a:solidFill>
          <a:ln w="6350">
            <a:solidFill>
              <a:srgbClr val="D6DBE4"/>
            </a:solidFill>
            <a:prstDash val="solid"/>
          </a:ln>
        </p:spPr>
      </p:sp>
      <p:sp>
        <p:nvSpPr>
          <p:cNvPr id="18" name="Text 16"/>
          <p:cNvSpPr/>
          <p:nvPr/>
        </p:nvSpPr>
        <p:spPr>
          <a:xfrm>
            <a:off x="4594013" y="3774442"/>
            <a:ext cx="3094093" cy="416560"/>
          </a:xfrm>
          <a:prstGeom prst="rect">
            <a:avLst/>
          </a:prstGeom>
          <a:noFill/>
          <a:ln/>
        </p:spPr>
        <p:txBody>
          <a:bodyPr wrap="none" lIns="0" tIns="0" rIns="0" bIns="0" rtlCol="0" anchor="t">
            <a:normAutofit/>
          </a:bodyPr>
          <a:lstStyle/>
          <a:p>
            <a:pPr algn="l" indent="0" marL="0">
              <a:lnSpc>
                <a:spcPts val="3080"/>
              </a:lnSpc>
              <a:buNone/>
            </a:pPr>
            <a:r>
              <a:rPr lang="en-US" sz="2200" b="1" dirty="0">
                <a:solidFill>
                  <a:srgbClr val="142B57"/>
                </a:solidFill>
                <a:latin typeface="Noto Serif" pitchFamily="18" charset="0"/>
                <a:ea typeface="Noto Serif" pitchFamily="18" charset="-122"/>
                <a:cs typeface="Noto Serif" pitchFamily="18" charset="-120"/>
              </a:rPr>
              <a:t>(2.48°; 67.98°)</a:t>
            </a:r>
            <a:endParaRPr lang="en-US" sz="2200" dirty="0"/>
          </a:p>
        </p:txBody>
      </p:sp>
      <p:sp>
        <p:nvSpPr>
          <p:cNvPr id="19" name="Text 17"/>
          <p:cNvSpPr/>
          <p:nvPr/>
        </p:nvSpPr>
        <p:spPr>
          <a:xfrm>
            <a:off x="4594013" y="4216400"/>
            <a:ext cx="309409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b) Tirsak pastda</a:t>
            </a:r>
            <a:endParaRPr lang="en-US" sz="1300" dirty="0"/>
          </a:p>
        </p:txBody>
      </p:sp>
      <p:sp>
        <p:nvSpPr>
          <p:cNvPr id="20" name="Shape 18"/>
          <p:cNvSpPr/>
          <p:nvPr/>
        </p:nvSpPr>
        <p:spPr>
          <a:xfrm>
            <a:off x="7961842" y="3569333"/>
            <a:ext cx="3414183" cy="1083310"/>
          </a:xfrm>
          <a:prstGeom prst="roundRect">
            <a:avLst>
              <a:gd name="adj" fmla="val 9086"/>
            </a:avLst>
          </a:prstGeom>
          <a:solidFill>
            <a:srgbClr val="FCFBF8"/>
          </a:solidFill>
          <a:ln w="6350">
            <a:solidFill>
              <a:srgbClr val="D6DBE4"/>
            </a:solidFill>
            <a:prstDash val="solid"/>
          </a:ln>
        </p:spPr>
      </p:sp>
      <p:sp>
        <p:nvSpPr>
          <p:cNvPr id="21" name="Text 19"/>
          <p:cNvSpPr/>
          <p:nvPr/>
        </p:nvSpPr>
        <p:spPr>
          <a:xfrm>
            <a:off x="8166946" y="3774442"/>
            <a:ext cx="3094092" cy="416560"/>
          </a:xfrm>
          <a:prstGeom prst="rect">
            <a:avLst/>
          </a:prstGeom>
          <a:noFill/>
          <a:ln/>
        </p:spPr>
        <p:txBody>
          <a:bodyPr wrap="none" lIns="0" tIns="0" rIns="0" bIns="0" rtlCol="0" anchor="t">
            <a:normAutofit/>
          </a:bodyPr>
          <a:lstStyle/>
          <a:p>
            <a:pPr algn="l" indent="0" marL="0">
              <a:lnSpc>
                <a:spcPts val="3080"/>
              </a:lnSpc>
              <a:buNone/>
            </a:pPr>
            <a:r>
              <a:rPr lang="en-US" sz="2200" b="1" dirty="0">
                <a:solidFill>
                  <a:srgbClr val="142B57"/>
                </a:solidFill>
                <a:latin typeface="Noto Serif" pitchFamily="18" charset="0"/>
                <a:ea typeface="Noto Serif" pitchFamily="18" charset="-122"/>
                <a:cs typeface="Noto Serif" pitchFamily="18" charset="-120"/>
              </a:rPr>
              <a:t>(59.45°; −67.98°)</a:t>
            </a:r>
            <a:endParaRPr lang="en-US" sz="2200" dirty="0"/>
          </a:p>
        </p:txBody>
      </p:sp>
      <p:sp>
        <p:nvSpPr>
          <p:cNvPr id="22" name="Text 20"/>
          <p:cNvSpPr/>
          <p:nvPr/>
        </p:nvSpPr>
        <p:spPr>
          <a:xfrm>
            <a:off x="8166946" y="4216400"/>
            <a:ext cx="30940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b) Tirsak yuqorida</a:t>
            </a:r>
            <a:endParaRPr lang="en-US" sz="13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8 · AMALIY MASALALAR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Masala 3: SCARA robotning DH modeli</a:t>
            </a:r>
            <a:endParaRPr lang="en-US" sz="3200" dirty="0"/>
          </a:p>
        </p:txBody>
      </p:sp>
      <p:sp>
        <p:nvSpPr>
          <p:cNvPr id="4" name="Shape 2"/>
          <p:cNvSpPr/>
          <p:nvPr/>
        </p:nvSpPr>
        <p:spPr>
          <a:xfrm>
            <a:off x="812800" y="1803400"/>
            <a:ext cx="5765800" cy="3759200"/>
          </a:xfrm>
          <a:prstGeom prst="roundRect">
            <a:avLst>
              <a:gd name="adj" fmla="val 2703"/>
            </a:avLst>
          </a:prstGeom>
          <a:solidFill>
            <a:srgbClr val="FFFFFF"/>
          </a:solidFill>
          <a:ln/>
        </p:spPr>
      </p:sp>
      <p:pic>
        <p:nvPicPr>
          <p:cNvPr id="5" name="Image 0" descr="RRPR SCARA robot sxemasi">    </p:cNvPr>
          <p:cNvPicPr>
            <a:picLocks noChangeAspect="1"/>
          </p:cNvPicPr>
          <p:nvPr/>
        </p:nvPicPr>
        <p:blipFill>
          <a:blip r:embed="rId1"/>
          <a:srcRect l="0" r="0" t="-37" b="-37"/>
          <a:stretch/>
        </p:blipFill>
        <p:spPr>
          <a:xfrm>
            <a:off x="965200" y="1955800"/>
            <a:ext cx="5461000" cy="34544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93560" y="2221225"/>
          <a:ext cx="4485640" cy="1917700"/>
        </p:xfrm>
        <a:graphic>
          <a:graphicData uri="http://schemas.openxmlformats.org/drawingml/2006/table">
            <a:tbl>
              <a:tblPr/>
              <a:tblGrid>
                <a:gridCol w="897128"/>
                <a:gridCol w="897128"/>
                <a:gridCol w="897128"/>
                <a:gridCol w="897128"/>
                <a:gridCol w="897128"/>
              </a:tblGrid>
              <a:tr h="383540">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i</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θᵢ</a:t>
                      </a:r>
                      <a:endParaRPr lang="en-US" sz="1400" dirty="0">
                        <a:latin typeface="Noto Sans" charset="0"/>
                        <a:ea typeface="Noto Sans" charset="0"/>
                        <a:cs typeface="Noto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dᵢ</a:t>
                      </a:r>
                      <a:endParaRPr lang="en-US" sz="1400" dirty="0">
                        <a:latin typeface="Noto Sans" charset="0"/>
                        <a:ea typeface="Noto Sans" charset="0"/>
                        <a:cs typeface="Noto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aᵢ</a:t>
                      </a:r>
                      <a:endParaRPr lang="en-US" sz="1400" dirty="0">
                        <a:latin typeface="Noto Sans" charset="0"/>
                        <a:ea typeface="Noto Sans" charset="0"/>
                        <a:cs typeface="Noto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αᵢ</a:t>
                      </a:r>
                      <a:endParaRPr lang="en-US" sz="1400" dirty="0">
                        <a:latin typeface="Noto Sans" charset="0"/>
                        <a:ea typeface="Noto Sans" charset="0"/>
                        <a:cs typeface="Noto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1</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θ₁*</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d₁</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a₁</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2</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θ₂*</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a₂</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180°</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3</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d₃*</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4</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θ₄*</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d₄</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3"/>
          <p:cNvSpPr/>
          <p:nvPr/>
        </p:nvSpPr>
        <p:spPr>
          <a:xfrm>
            <a:off x="6883400" y="4291335"/>
            <a:ext cx="463067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a₁ = 0.35, a₂ = 0.25, d₁ = 0.40, d₄ = 0.05 m; * — sharnir oʻzgaruvchisi</a:t>
            </a:r>
            <a:endParaRPr lang="en-US" sz="1300" dirty="0"/>
          </a:p>
        </p:txBody>
      </p:sp>
      <p:sp>
        <p:nvSpPr>
          <p:cNvPr id="8" name="Text 4"/>
          <p:cNvSpPr/>
          <p:nvPr/>
        </p:nvSpPr>
        <p:spPr>
          <a:xfrm>
            <a:off x="6883400" y="4906008"/>
            <a:ext cx="463067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540F"/>
                </a:solidFill>
                <a:latin typeface="Noto Sans" pitchFamily="34" charset="0"/>
                <a:ea typeface="Noto Sans" pitchFamily="34" charset="-122"/>
                <a:cs typeface="Noto Sans" pitchFamily="34" charset="-120"/>
              </a:rPr>
              <a:t>α₂ = 180°: z₂ pastga, d₃ ishchi organni tushiradi</a:t>
            </a:r>
            <a:endParaRPr lang="en-US" sz="1400" dirty="0"/>
          </a:p>
        </p:txBody>
      </p:sp>
      <p:sp>
        <p:nvSpPr>
          <p:cNvPr id="9"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8 · AMALIY MASALALAR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Masala 3: toʻgʻri kinematika natijasi</a:t>
            </a:r>
            <a:endParaRPr lang="en-US" sz="3200" dirty="0"/>
          </a:p>
        </p:txBody>
      </p:sp>
      <p:sp>
        <p:nvSpPr>
          <p:cNvPr id="4" name="Shape 2"/>
          <p:cNvSpPr/>
          <p:nvPr/>
        </p:nvSpPr>
        <p:spPr>
          <a:xfrm>
            <a:off x="815975" y="1806575"/>
            <a:ext cx="10560050" cy="1775460"/>
          </a:xfrm>
          <a:prstGeom prst="roundRect">
            <a:avLst>
              <a:gd name="adj" fmla="val 5544"/>
            </a:avLst>
          </a:prstGeom>
          <a:solidFill>
            <a:srgbClr val="FCFBF8"/>
          </a:solidFill>
          <a:ln w="6350">
            <a:solidFill>
              <a:srgbClr val="D6DBE4"/>
            </a:solidFill>
            <a:prstDash val="solid"/>
          </a:ln>
        </p:spPr>
      </p:sp>
      <p:pic>
        <p:nvPicPr>
          <p:cNvPr id="5" name="Image 0" descr="SCARA T04 umumiy koʻrinishi">    </p:cNvPr>
          <p:cNvPicPr>
            <a:picLocks noChangeAspect="1"/>
          </p:cNvPicPr>
          <p:nvPr/>
        </p:nvPicPr>
        <p:blipFill>
          <a:blip r:embed="rId1"/>
          <a:srcRect l="0" r="0" t="-112" b="-112"/>
          <a:stretch/>
        </p:blipFill>
        <p:spPr>
          <a:xfrm>
            <a:off x="2444750" y="2062485"/>
            <a:ext cx="7302500" cy="1263650"/>
          </a:xfrm>
          <a:prstGeom prst="rect">
            <a:avLst/>
          </a:prstGeom>
        </p:spPr>
      </p:pic>
      <p:sp>
        <p:nvSpPr>
          <p:cNvPr id="6" name="Shape 3"/>
          <p:cNvSpPr/>
          <p:nvPr/>
        </p:nvSpPr>
        <p:spPr>
          <a:xfrm>
            <a:off x="815975" y="3842383"/>
            <a:ext cx="4175760" cy="1680210"/>
          </a:xfrm>
          <a:prstGeom prst="roundRect">
            <a:avLst>
              <a:gd name="adj" fmla="val 5858"/>
            </a:avLst>
          </a:prstGeom>
          <a:solidFill>
            <a:srgbClr val="FCFBF8"/>
          </a:solidFill>
          <a:ln w="6350">
            <a:solidFill>
              <a:srgbClr val="D6DBE4"/>
            </a:solidFill>
            <a:prstDash val="solid"/>
          </a:ln>
        </p:spPr>
      </p:sp>
      <p:pic>
        <p:nvPicPr>
          <p:cNvPr id="7" name="Image 1" descr="SCARA T04 son qiymatlari">    </p:cNvPr>
          <p:cNvPicPr>
            <a:picLocks noChangeAspect="1"/>
          </p:cNvPicPr>
          <p:nvPr/>
        </p:nvPicPr>
        <p:blipFill>
          <a:blip r:embed="rId2"/>
          <a:srcRect l="-80" r="-80" t="0" b="0"/>
          <a:stretch/>
        </p:blipFill>
        <p:spPr>
          <a:xfrm>
            <a:off x="1071880" y="4098292"/>
            <a:ext cx="3663950" cy="1168400"/>
          </a:xfrm>
          <a:prstGeom prst="rect">
            <a:avLst/>
          </a:prstGeom>
        </p:spPr>
      </p:pic>
      <p:sp>
        <p:nvSpPr>
          <p:cNvPr id="8" name="Text 4"/>
          <p:cNvSpPr/>
          <p:nvPr/>
        </p:nvSpPr>
        <p:spPr>
          <a:xfrm>
            <a:off x="5248910" y="3890008"/>
            <a:ext cx="63141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θ₁ = 30°, θ₂ = −60°, d₃ = 0.10 m, θ₄ = 45°</a:t>
            </a:r>
            <a:endParaRPr lang="en-US" sz="1400" dirty="0"/>
          </a:p>
        </p:txBody>
      </p:sp>
      <p:sp>
        <p:nvSpPr>
          <p:cNvPr id="9" name="Text 5"/>
          <p:cNvSpPr/>
          <p:nvPr/>
        </p:nvSpPr>
        <p:spPr>
          <a:xfrm>
            <a:off x="5248910" y="4240535"/>
            <a:ext cx="631419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B57"/>
                </a:solidFill>
                <a:latin typeface="Noto Serif" pitchFamily="18" charset="0"/>
                <a:ea typeface="Noto Serif" pitchFamily="18" charset="-122"/>
                <a:cs typeface="Noto Serif" pitchFamily="18" charset="-120"/>
              </a:rPr>
              <a:t>p = (0.520; 0.050; 0.250) m</a:t>
            </a:r>
            <a:endParaRPr lang="en-US" sz="2200" dirty="0"/>
          </a:p>
        </p:txBody>
      </p:sp>
      <p:sp>
        <p:nvSpPr>
          <p:cNvPr id="10" name="Text 6"/>
          <p:cNvSpPr/>
          <p:nvPr/>
        </p:nvSpPr>
        <p:spPr>
          <a:xfrm>
            <a:off x="5248910" y="4733292"/>
            <a:ext cx="631419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B57"/>
                </a:solidFill>
                <a:latin typeface="Noto Serif" pitchFamily="18" charset="0"/>
                <a:ea typeface="Noto Serif" pitchFamily="18" charset="-122"/>
                <a:cs typeface="Noto Serif" pitchFamily="18" charset="-120"/>
              </a:rPr>
              <a:t>φ = −75°, </a:t>
            </a:r>
            <a:r>
              <a:rPr lang="en-US" sz="2200" b="1" dirty="0">
                <a:solidFill>
                  <a:srgbClr val="142B57"/>
                </a:solidFill>
                <a:latin typeface="Noto Serif" pitchFamily="18" charset="0"/>
                <a:ea typeface="Noto Serif" pitchFamily="18" charset="-122"/>
                <a:cs typeface="Noto Serif" pitchFamily="18" charset="-120"/>
              </a:rPr>
              <a:t>a</a:t>
            </a:r>
            <a:r>
              <a:rPr lang="en-US" sz="2200" b="1" dirty="0">
                <a:solidFill>
                  <a:srgbClr val="142B57"/>
                </a:solidFill>
                <a:latin typeface="Noto Serif" pitchFamily="18" charset="0"/>
                <a:ea typeface="Noto Serif" pitchFamily="18" charset="-122"/>
                <a:cs typeface="Noto Serif" pitchFamily="18" charset="-120"/>
              </a:rPr>
              <a:t> = (0, 0, −1)ᵀ</a:t>
            </a:r>
            <a:endParaRPr lang="en-US" sz="2200" dirty="0"/>
          </a:p>
        </p:txBody>
      </p:sp>
      <p:sp>
        <p:nvSpPr>
          <p:cNvPr id="11" name="Text 7"/>
          <p:cNvSpPr/>
          <p:nvPr/>
        </p:nvSpPr>
        <p:spPr>
          <a:xfrm>
            <a:off x="5248910" y="5226050"/>
            <a:ext cx="63141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540F"/>
                </a:solidFill>
                <a:latin typeface="Noto Sans" pitchFamily="34" charset="0"/>
                <a:ea typeface="Noto Sans" pitchFamily="34" charset="-122"/>
                <a:cs typeface="Noto Sans" pitchFamily="34" charset="-120"/>
              </a:rPr>
              <a:t>x, y faqat θ₁, θ₂ ga, z faqat d₃ ga bogʻliq.</a:t>
            </a:r>
            <a:endParaRPr lang="en-US" sz="1400" dirty="0"/>
          </a:p>
        </p:txBody>
      </p:sp>
      <p:sp>
        <p:nvSpPr>
          <p:cNvPr id="12"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9 · VARIANTLAR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Mustaqil ish: individual variantlar</a:t>
            </a:r>
            <a:endParaRPr lang="en-US" sz="3200" dirty="0"/>
          </a:p>
        </p:txBody>
      </p:sp>
      <p:sp>
        <p:nvSpPr>
          <p:cNvPr id="4" name="Text 2"/>
          <p:cNvSpPr/>
          <p:nvPr/>
        </p:nvSpPr>
        <p:spPr>
          <a:xfrm>
            <a:off x="812800" y="1803400"/>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RR manipulyator (m, °)</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189475"/>
          <a:ext cx="5120640" cy="2971800"/>
        </p:xfrm>
        <a:graphic>
          <a:graphicData uri="http://schemas.openxmlformats.org/drawingml/2006/table">
            <a:tbl>
              <a:tblPr/>
              <a:tblGrid>
                <a:gridCol w="731520"/>
                <a:gridCol w="731520"/>
                <a:gridCol w="731520"/>
                <a:gridCol w="731520"/>
                <a:gridCol w="731520"/>
                <a:gridCol w="731520"/>
                <a:gridCol w="731520"/>
              </a:tblGrid>
              <a:tr h="330200">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V</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l₁</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l₂</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θ₁</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θ₂</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x_P</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y_P</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75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90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7</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0.70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8</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0.80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6" name="Text 3"/>
          <p:cNvSpPr/>
          <p:nvPr/>
        </p:nvSpPr>
        <p:spPr>
          <a:xfrm>
            <a:off x="6248400" y="1803400"/>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SCARA, d₄ = 0.05 m (m, °)</a:t>
            </a:r>
            <a:endParaRPr lang="en-US" sz="1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58560" y="2189475"/>
          <a:ext cx="5120640" cy="2971800"/>
        </p:xfrm>
        <a:graphic>
          <a:graphicData uri="http://schemas.openxmlformats.org/drawingml/2006/table">
            <a:tbl>
              <a:tblPr/>
              <a:tblGrid>
                <a:gridCol w="640080"/>
                <a:gridCol w="640080"/>
                <a:gridCol w="640080"/>
                <a:gridCol w="640080"/>
                <a:gridCol w="640080"/>
                <a:gridCol w="640080"/>
                <a:gridCol w="640080"/>
                <a:gridCol w="640080"/>
              </a:tblGrid>
              <a:tr h="330200">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V</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a₁</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a₂</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d₁</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θ₁</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θ₂</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d₃</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θ₄</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0.05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0.08</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0.10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−90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0.12</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0.15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90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90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0.10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7</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80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8</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0.18</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8"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E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10 · NAZORAT</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Nazorat savollari</a:t>
            </a:r>
            <a:endParaRPr lang="en-US" sz="3200" dirty="0"/>
          </a:p>
        </p:txBody>
      </p:sp>
      <p:sp>
        <p:nvSpPr>
          <p:cNvPr id="4" name="Text 2"/>
          <p:cNvSpPr/>
          <p:nvPr/>
        </p:nvSpPr>
        <p:spPr>
          <a:xfrm>
            <a:off x="812800" y="18034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1</a:t>
            </a:r>
            <a:endParaRPr lang="en-US" sz="1800" dirty="0"/>
          </a:p>
        </p:txBody>
      </p:sp>
      <p:sp>
        <p:nvSpPr>
          <p:cNvPr id="5" name="Text 3"/>
          <p:cNvSpPr/>
          <p:nvPr/>
        </p:nvSpPr>
        <p:spPr>
          <a:xfrm>
            <a:off x="1244600" y="1803400"/>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Kinematik zanjir nima? Ochiq va yopiq zanjirlar qanday farqlanadi?</a:t>
            </a:r>
            <a:endParaRPr lang="en-US" sz="1500" dirty="0"/>
          </a:p>
        </p:txBody>
      </p:sp>
      <p:sp>
        <p:nvSpPr>
          <p:cNvPr id="6" name="Text 4"/>
          <p:cNvSpPr/>
          <p:nvPr/>
        </p:nvSpPr>
        <p:spPr>
          <a:xfrm>
            <a:off x="812800" y="24638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2</a:t>
            </a:r>
            <a:endParaRPr lang="en-US" sz="1800" dirty="0"/>
          </a:p>
        </p:txBody>
      </p:sp>
      <p:sp>
        <p:nvSpPr>
          <p:cNvPr id="7" name="Text 5"/>
          <p:cNvSpPr/>
          <p:nvPr/>
        </p:nvSpPr>
        <p:spPr>
          <a:xfrm>
            <a:off x="1244600" y="2463800"/>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Kinematik juftliklarning turlari va harakatchanligi qanday?</a:t>
            </a:r>
            <a:endParaRPr lang="en-US" sz="1500" dirty="0"/>
          </a:p>
        </p:txBody>
      </p:sp>
      <p:sp>
        <p:nvSpPr>
          <p:cNvPr id="8" name="Text 6"/>
          <p:cNvSpPr/>
          <p:nvPr/>
        </p:nvSpPr>
        <p:spPr>
          <a:xfrm>
            <a:off x="812800" y="31242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3</a:t>
            </a:r>
            <a:endParaRPr lang="en-US" sz="1800" dirty="0"/>
          </a:p>
        </p:txBody>
      </p:sp>
      <p:sp>
        <p:nvSpPr>
          <p:cNvPr id="9" name="Text 7"/>
          <p:cNvSpPr/>
          <p:nvPr/>
        </p:nvSpPr>
        <p:spPr>
          <a:xfrm>
            <a:off x="1244600" y="3124200"/>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Grübler–Kutzbach formulasi ochiq zanjir uchun qanday soddalashadi?</a:t>
            </a:r>
            <a:endParaRPr lang="en-US" sz="1500" dirty="0"/>
          </a:p>
        </p:txBody>
      </p:sp>
      <p:sp>
        <p:nvSpPr>
          <p:cNvPr id="10" name="Text 8"/>
          <p:cNvSpPr/>
          <p:nvPr/>
        </p:nvSpPr>
        <p:spPr>
          <a:xfrm>
            <a:off x="812800" y="37846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4</a:t>
            </a:r>
            <a:endParaRPr lang="en-US" sz="1800" dirty="0"/>
          </a:p>
        </p:txBody>
      </p:sp>
      <p:sp>
        <p:nvSpPr>
          <p:cNvPr id="11" name="Text 9"/>
          <p:cNvSpPr/>
          <p:nvPr/>
        </p:nvSpPr>
        <p:spPr>
          <a:xfrm>
            <a:off x="1244600" y="3784600"/>
            <a:ext cx="555752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Bir jinsli oʻzgartirish matritsasining afzalligi nimada?</a:t>
            </a:r>
            <a:endParaRPr lang="en-US" sz="1500" dirty="0"/>
          </a:p>
        </p:txBody>
      </p:sp>
      <p:sp>
        <p:nvSpPr>
          <p:cNvPr id="12" name="Text 10"/>
          <p:cNvSpPr/>
          <p:nvPr/>
        </p:nvSpPr>
        <p:spPr>
          <a:xfrm>
            <a:off x="6273800" y="18034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5</a:t>
            </a:r>
            <a:endParaRPr lang="en-US" sz="1800" dirty="0"/>
          </a:p>
        </p:txBody>
      </p:sp>
      <p:sp>
        <p:nvSpPr>
          <p:cNvPr id="13" name="Text 11"/>
          <p:cNvSpPr/>
          <p:nvPr/>
        </p:nvSpPr>
        <p:spPr>
          <a:xfrm>
            <a:off x="6705600" y="1803400"/>
            <a:ext cx="546188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Standart DH usulida tizimlar qanday joylashtiriladi?</a:t>
            </a:r>
            <a:endParaRPr lang="en-US" sz="1500" dirty="0"/>
          </a:p>
        </p:txBody>
      </p:sp>
      <p:sp>
        <p:nvSpPr>
          <p:cNvPr id="14" name="Text 12"/>
          <p:cNvSpPr/>
          <p:nvPr/>
        </p:nvSpPr>
        <p:spPr>
          <a:xfrm>
            <a:off x="6273800" y="2250442"/>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6</a:t>
            </a:r>
            <a:endParaRPr lang="en-US" sz="1800" dirty="0"/>
          </a:p>
        </p:txBody>
      </p:sp>
      <p:sp>
        <p:nvSpPr>
          <p:cNvPr id="15" name="Text 13"/>
          <p:cNvSpPr/>
          <p:nvPr/>
        </p:nvSpPr>
        <p:spPr>
          <a:xfrm>
            <a:off x="6705600" y="2250442"/>
            <a:ext cx="52405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DH parametrlarining geometrik maʼnosi qanday?</a:t>
            </a:r>
            <a:endParaRPr lang="en-US" sz="1500" dirty="0"/>
          </a:p>
        </p:txBody>
      </p:sp>
      <p:sp>
        <p:nvSpPr>
          <p:cNvPr id="16" name="Text 14"/>
          <p:cNvSpPr/>
          <p:nvPr/>
        </p:nvSpPr>
        <p:spPr>
          <a:xfrm>
            <a:off x="6273800" y="2697485"/>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7</a:t>
            </a:r>
            <a:endParaRPr lang="en-US" sz="1800" dirty="0"/>
          </a:p>
        </p:txBody>
      </p:sp>
      <p:sp>
        <p:nvSpPr>
          <p:cNvPr id="17" name="Text 15"/>
          <p:cNvSpPr/>
          <p:nvPr/>
        </p:nvSpPr>
        <p:spPr>
          <a:xfrm>
            <a:off x="6705600" y="2697485"/>
            <a:ext cx="48830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Nima uchun teskari kinematika koʻp yechimli?</a:t>
            </a:r>
            <a:endParaRPr lang="en-US" sz="1500" dirty="0"/>
          </a:p>
        </p:txBody>
      </p:sp>
      <p:sp>
        <p:nvSpPr>
          <p:cNvPr id="18" name="Text 16"/>
          <p:cNvSpPr/>
          <p:nvPr/>
        </p:nvSpPr>
        <p:spPr>
          <a:xfrm>
            <a:off x="6273800" y="3144515"/>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8</a:t>
            </a:r>
            <a:endParaRPr lang="en-US" sz="1800" dirty="0"/>
          </a:p>
        </p:txBody>
      </p:sp>
      <p:sp>
        <p:nvSpPr>
          <p:cNvPr id="19" name="Text 17"/>
          <p:cNvSpPr/>
          <p:nvPr/>
        </p:nvSpPr>
        <p:spPr>
          <a:xfrm>
            <a:off x="6705600" y="3144515"/>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RR manipulyatorning ishchi zonasi qanday aniqlanadi?</a:t>
            </a:r>
            <a:endParaRPr lang="en-US" sz="1500" dirty="0"/>
          </a:p>
        </p:txBody>
      </p:sp>
      <p:sp>
        <p:nvSpPr>
          <p:cNvPr id="20"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№6 · 21</a:t>
            </a:r>
            <a:endParaRPr lang="en-US" sz="1200" dirty="0"/>
          </a:p>
        </p:txBody>
      </p:sp>
    </p:spTree>
  </p:cSld>
  <p:clrMapOvr>
    <a:masterClrMapping/>
  </p:clrMapOvr>
</p:sld>
</file>

<file path=ppt/theme/theme1.xml><?xml version="1.0" encoding="utf-8"?>
<a:theme xmlns:a="http://schemas.openxmlformats.org/drawingml/2006/main" name="Manipulyatsion robotning kinematik zanjirini modellashtirish — Amaliyot №6">
  <a:themeElements>
    <a:clrScheme name="Manipulyatsion robotning kinematik zanjirini modellashtirish — Amaliyot №6">
      <a:dk1>
        <a:srgbClr val="142B57"/>
      </a:dk1>
      <a:lt1>
        <a:srgbClr val="F5F4EF"/>
      </a:lt1>
      <a:dk2>
        <a:srgbClr val="4C5D7D"/>
      </a:dk2>
      <a:lt2>
        <a:srgbClr val="DFE0E0"/>
      </a:lt2>
      <a:accent1>
        <a:srgbClr val="A8540F"/>
      </a:accent1>
      <a:accent2>
        <a:srgbClr val="3B4862"/>
      </a:accent2>
      <a:accent3>
        <a:srgbClr val="D9731F"/>
      </a:accent3>
      <a:accent4>
        <a:srgbClr val="F0A766"/>
      </a:accent4>
      <a:accent5>
        <a:srgbClr val="6B7487"/>
      </a:accent5>
      <a:accent6>
        <a:srgbClr val="C9D3E6"/>
      </a:accent6>
      <a:hlink>
        <a:srgbClr val="0563C1"/>
      </a:hlink>
      <a:folHlink>
        <a:srgbClr val="954F72"/>
      </a:folHlink>
    </a:clrScheme>
    <a:fontScheme name="Manipulyatsion robotning kinematik zanjirini modellashtirish — Amaliyot №6">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Manipulyatsion robotning kinematik zanjirini modellashtirish — Amaliyot №6</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Noto Sans
Copyright 2022 The Noto Project Authors (https://github.com/notofonts/latin-greek-cyrillic)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Noto Serif
Copyright 2022 The Noto Project Authors (https://github.com/notofonts/latin-greek-cyrillic)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2026-10-27T02:41:38Z</dcterms:created>
  <dcterms:modified xsi:type="dcterms:W3CDTF">2026-10-27T02:41:38Z</dcterms:modified>
</cp:coreProperties>
</file>