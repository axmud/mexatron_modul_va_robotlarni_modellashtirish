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Bugungi mashgʻulotda dvigatelning aylanma harakatini ishchi organning kerakli harakatiga aylantiruvchi mexanizmlarning matematik modellarini tuzamiz: kinematika, keltirilgan inersiya, dvigatel–uzatma–yuklama modeli va nochiziqli krivoship–polzun mexanizmi.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Maqsadni toʻrt yoʻnalishga ajratamiz. Avval kinematika: uzatish koeffitsienti ρ. Soʻng energiya usuli bilan inersiyani keltirish va dvigatel momentini topish. Keyin elektr dvigatel bilan birga toʻliq dinamik model. Oxirida oʻzgaruvchan nisbatli krivoship–polzun va real uzatmalardagi nochiziqli effektlar.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Elektr dvigatel yuqori tezlikda kichik moment beradi, ishchi organga esa past tezlik va katta kuch kerak. Mexanizm bu ikki talabni moslashtiradi. Rasmda servodvigatel, mufta, sharikli vint, gayka va stoldan iborat chiziqli modul. Vintning bir aylanishida stol qadam pₕ ga siljiydi.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Jadvalda asosiy mexanizmlar. Barchasini bitta koeffitsient ρ bilan tavsiflash mumkin: chiqish koordinatasi dvigatel burchagiga proporsional. Krivoship–polzunda esa ρ burchakka bogʻliq, shuning uchun u nochiziqli mexanizm. Sirpanma vintning FIK juda past, bu oʻz-oʻzidan tormozlanishga olib keladi.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Barcha oʻzgarmas nisbatli mexanizmlar uchun x = ρθ. Isrofsiz mexanizmda kirish va chiqish quvvatlari teng, demak F = Tₘ/ρ. Bu kuch bilan tezlik oʻrtasidagi kelishuv: kichik qadam katta kuch, lekin past tezlik beradi.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mexanizmda ishqalanish isroflarini FIK bilan hisobga olamiz. Muhim jihat: FIK qaysi tomonda turishi energiya oqimi yoʻnalishiga bogʻliq. Motor rejimida boʻlinadi, generator rejimida koʻpaytiriladi. Sirpanma vintlarda FIK 0.5 dan past boʻlsa, mexanizm oʻz-oʻzidan tormozlanadi, bu vertikal oʻqlarda xavfsizlik uchun foydali.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 = ρω ni qoʻyib, yuklama massasining dvigatel valiga keltirilgan inersiyasi m ρ² ekanini olamiz. U ρ ning kvadratiga proporsional: vint qadami ikki marta kamaysa, keltirilgan inersiya toʻrt marta kamayadi. Vintning oʻz inersiyasi diametrning toʻrtinchi darajasiga bogʻliq, shuning uchun uzun va yoʻgʻon vintlarda uni eʼtiborsiz qoldirib boʻlmaydi.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Dvigatel momenti ikki qismdan iborat: tezlantirish uchun dinamik va tashqi hamda ishqalanish kuchlarini yengish uchun statik qism. Dvigatelni tanlashda moment bilan birga talab qilinadigan aylanish chastotasi ham tekshiriladi.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Tezlanishni ρ ning funksiyasi sifatida yozamiz va hosilani nolga tenglaymiz. Natija: ρ optimal boʻlganda keltirilgan yuklama inersiyasi dvigatel inersiyasiga teng. Pastda shu natijaning vint, reduktor va reyka uchun xususiy hollari.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Asosiy xulosa. Optimum atrofida tezlanish sust oʻzgaradi, shuning uchun amalda biroz chetga chiqish mumkin. Lekin nisbat juda katta boʻlsa, boshqaruv sifati va turgʻunlik zaxirasi pasayadi.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Uchta tenglama: yakor zanjiri, dvigatel validagi moment balansi va kinematik bogʻlanish. Uzatma bu modelga faqat J_eq va ρ orqali kiradi, shuning uchun har qanday chiziqli mexanizm uchun model bir xil koʻrinishda boʻladi.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Blok-sxemada elektr qism, moment hosil boʻlishi, mexanik qism va kinematik koeffitsient ketma-ket ulangan. Teskari EYuK ichki teskari aloqani hosil qiladi. Yuklama momenti tashqi gʻalayon sifatida kiradi. Oxirgi integrator tezlikni oʻringa aylantiradi, shuning uchun uzatish funksiyasida s koʻpaytuvchisi bor.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model keyingi mashgʻulotlarda pozitsion boshqaruvni loyihalash va simulyatsiya uchun asos boʻladi. B matritsa kuchlanish kirishini, E matritsa yuklama kuchini tavsiflaydi.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Polzun oʻrni burchakning nochiziqli funksiyasi. Uning hosilasi ρ(φ) oʻzgaruvchan uzatish koeffitsientini beradi. Shatun koeffitsienti λ kichik boʻlganda taqribiy formulalar amalda yetarlicha aniq: misolimizda farq 0.03 % ni tashkil qiladi.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Kinetik energiyani krivoship valiga keltirsak, inersiya burchakka bogʻliq boʻlib chiqadi. Lagranj tenglamasida qoʻshimcha had paydo boʻladi. Bu tenglamani analitik yechish qiyin, shuning uchun Python yoki MATLAB da sonli integrallanadi.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uzatmalar ideal emas. Uzun vint va tasmalarning bikrligi cheklangan, bu rezonans hosil qiladi. Tishli uzatmalarda lyuft, barcha mexanizmlarda Kulon ishqalanishi bor. Bular pozitsion boshqaruvda qoldiq xatolik va avtotebranishlarga olib keladi.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Avval ρ ni topamiz, keyin vint va yuklamaning keltirilgan inersiyalarini. Burchak tezlanish a/ρ = 1256.6 rad/s². Dinamik moment 0.202, ishqalanish momenti 0.022 N·m, jami 0.224 N·m. Momentning taxminan 90 foizi tezlantirishga ketadi. Inersiyalar nisbati 1.68, yaʼni yaxshi moslashtirilgan.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Grafikda tezlanishning reduktor nisbatiga bogʻliqligi. Maksimum N ≈ 8.5 da, bunda keltirilgan yuklama inersiyasi dvigatel inersiyasiga teng. Egri chiziq optimum atrofida yassi: N = 5 da 12.37, N = 10 da 13.95, N = 15 da 12.12 m/s². Maksimal tezlikni ham tekshirish shart.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Ishoralar polzun O nuqta tomon harakatlanayotganini va tezligi ortayotganini bildiradi. Dvigatel bu fazada polzunga energiya beradi, oniy quvvat taxminan 733 W. Boshqa fazalarda moment manfiy boʻlib, energiya qaytadi, shuning uchun maxovik yoki rekuperatsiya qoʻllaniladi.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 bir talaba oʻz variantini oladi. Vint–gayka moduli uchun 1–3-masalalar, krivoship–polzun uchun 3-masala tartibida hisoblanadi. Qoʻshimcha vazifa: holatlar fazosi modelini R = 1.2 Om, L = 2.5 mH, kₜ = kₑ = 0.25 N·m/A qiymatlar bilan sonli koʻrinishda yozish.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Nazorat savollari mashgʻulotning barcha boʻlimlarini qamraydi. Talabalar ularga ogʻzaki yoki hisobot tarkibida yozma javob beradi.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58"/>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42B57"/>
                </a:solidFill>
                <a:latin typeface="Noto Serif" pitchFamily="34" charset="0"/>
                <a:ea typeface="Noto Serif" pitchFamily="34" charset="-122"/>
                <a:cs typeface="Noto Serif"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97"/>
            <a:ext cx="10566400" cy="4191003"/>
          </a:xfrm>
          <a:prstGeom prst="rect">
            <a:avLst/>
          </a:prstGeom>
          <a:noFill/>
          <a:ln/>
        </p:spPr>
        <p:txBody>
          <a:bodyPr wrap="square" lIns="0" tIns="0" rIns="0" bIns="0" rtlCol="0" anchor="t"/>
          <a:lstStyle>
            <a:lvl1pPr algn="l" indent="0" marL="0">
              <a:lnSpc>
                <a:spcPct val="140000"/>
              </a:lnSpc>
              <a:buNone/>
              <a:defRPr lang="en-US" sz="1600" dirty="0">
                <a:solidFill>
                  <a:srgbClr val="142B57"/>
                </a:solidFill>
                <a:latin typeface="Noto Sans" pitchFamily="34" charset="0"/>
                <a:ea typeface="Noto Sans" pitchFamily="34" charset="-122"/>
                <a:cs typeface="Noto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58"/>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42B57"/>
                </a:solidFill>
                <a:latin typeface="Noto Serif" pitchFamily="34" charset="0"/>
                <a:ea typeface="Noto Serif" pitchFamily="34" charset="-122"/>
                <a:cs typeface="Noto Serif"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97"/>
            <a:ext cx="10566400" cy="4191003"/>
          </a:xfrm>
          <a:prstGeom prst="rect">
            <a:avLst/>
          </a:prstGeom>
          <a:noFill/>
          <a:ln/>
        </p:spPr>
        <p:txBody>
          <a:bodyPr wrap="square" lIns="0" tIns="0" rIns="0" bIns="0" rtlCol="0" anchor="t"/>
          <a:lstStyle>
            <a:lvl1pPr algn="l" indent="0" marL="0">
              <a:lnSpc>
                <a:spcPct val="140000"/>
              </a:lnSpc>
              <a:buNone/>
              <a:defRPr lang="en-US" sz="1600" dirty="0">
                <a:solidFill>
                  <a:srgbClr val="142B57"/>
                </a:solidFill>
                <a:latin typeface="Noto Sans" pitchFamily="34" charset="0"/>
                <a:ea typeface="Noto Sans" pitchFamily="34" charset="-122"/>
                <a:cs typeface="Noto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B57"/>
        </a:solidFill>
      </p:bgPr>
    </p:bg>
    <p:spTree>
      <p:nvGrpSpPr>
        <p:cNvPr id="1" name=""/>
        <p:cNvGrpSpPr/>
        <p:nvPr/>
      </p:nvGrpSpPr>
      <p:grpSpPr>
        <a:xfrm>
          <a:off x="0" y="0"/>
          <a:ext cx="0" cy="0"/>
          <a:chOff x="0" y="0"/>
          <a:chExt cx="0" cy="0"/>
        </a:xfrm>
      </p:grpSpPr>
      <p:sp>
        <p:nvSpPr>
          <p:cNvPr id="2" name="Shape 0"/>
          <p:cNvSpPr/>
          <p:nvPr/>
        </p:nvSpPr>
        <p:spPr>
          <a:xfrm>
            <a:off x="0" y="0"/>
            <a:ext cx="203200" cy="6858000"/>
          </a:xfrm>
          <a:prstGeom prst="rect">
            <a:avLst/>
          </a:prstGeom>
          <a:solidFill>
            <a:srgbClr val="D9731F"/>
          </a:solidFill>
          <a:ln/>
        </p:spPr>
      </p:sp>
      <p:sp>
        <p:nvSpPr>
          <p:cNvPr id="3" name="Text 1"/>
          <p:cNvSpPr/>
          <p:nvPr/>
        </p:nvSpPr>
        <p:spPr>
          <a:xfrm>
            <a:off x="812800" y="206248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b="1" spc="200" kern="0" dirty="0">
                <a:solidFill>
                  <a:srgbClr val="F0A766"/>
                </a:solidFill>
                <a:latin typeface="Noto Sans" pitchFamily="34" charset="0"/>
                <a:ea typeface="Noto Sans" pitchFamily="34" charset="-122"/>
                <a:cs typeface="Noto Sans" pitchFamily="34" charset="-120"/>
              </a:rPr>
              <a:t>AMALIYOT MASHGʻULOTI №5</a:t>
            </a:r>
            <a:endParaRPr lang="en-US" sz="1600" dirty="0"/>
          </a:p>
        </p:txBody>
      </p:sp>
      <p:sp>
        <p:nvSpPr>
          <p:cNvPr id="4" name="Text 2"/>
          <p:cNvSpPr/>
          <p:nvPr>
            <p:ph type="title"/>
          </p:nvPr>
        </p:nvSpPr>
        <p:spPr>
          <a:xfrm>
            <a:off x="812800" y="2600960"/>
            <a:ext cx="10883392" cy="136652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5F4EF"/>
                </a:solidFill>
                <a:latin typeface="Noto Serif" pitchFamily="18" charset="0"/>
                <a:ea typeface="Noto Serif" pitchFamily="18" charset="-122"/>
                <a:cs typeface="Noto Serif" pitchFamily="18" charset="-120"/>
              </a:rPr>
              <a:t>Harakatni oʻzgartirish mexanizmlarini modellashtirish</a:t>
            </a:r>
            <a:endParaRPr lang="en-US" sz="4800" dirty="0"/>
          </a:p>
        </p:txBody>
      </p:sp>
      <p:pic>
        <p:nvPicPr>
          <p:cNvPr id="5" name="Image 0" descr="line">    </p:cNvPr>
          <p:cNvPicPr>
            <a:picLocks noChangeAspect="1"/>
          </p:cNvPicPr>
          <p:nvPr/>
        </p:nvPicPr>
        <p:blipFill>
          <a:blip r:embed="rId1"/>
          <a:srcRect l="0" r="0" t="0" b="0"/>
          <a:stretch/>
        </p:blipFill>
        <p:spPr>
          <a:xfrm>
            <a:off x="812800" y="4196080"/>
            <a:ext cx="1524000" cy="25400"/>
          </a:xfrm>
          <a:prstGeom prst="rect">
            <a:avLst/>
          </a:prstGeom>
        </p:spPr>
      </p:pic>
      <p:sp>
        <p:nvSpPr>
          <p:cNvPr id="6" name="Text 3"/>
          <p:cNvSpPr/>
          <p:nvPr/>
        </p:nvSpPr>
        <p:spPr>
          <a:xfrm>
            <a:off x="812800" y="4475480"/>
            <a:ext cx="10883392"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3E6"/>
                </a:solidFill>
                <a:latin typeface="Noto Sans" pitchFamily="34" charset="0"/>
                <a:ea typeface="Noto Sans" pitchFamily="34" charset="-122"/>
                <a:cs typeface="Noto Sans" pitchFamily="34" charset="-120"/>
              </a:rPr>
              <a:t>Mexatron modul va robotlarni modellashtirish</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40F"/>
                </a:solidFill>
                <a:latin typeface="Noto Sans" pitchFamily="34" charset="0"/>
                <a:ea typeface="Noto Sans" pitchFamily="34" charset="-122"/>
                <a:cs typeface="Noto Sans" pitchFamily="34" charset="-120"/>
              </a:rPr>
              <a:t>1 · ISHNING MAQSADI</a:t>
            </a:r>
            <a:endParaRPr lang="en-US" sz="1200" dirty="0"/>
          </a:p>
        </p:txBody>
      </p:sp>
      <p:sp>
        <p:nvSpPr>
          <p:cNvPr id="3" name="Text 1"/>
          <p:cNvSpPr/>
          <p:nvPr>
            <p:ph type="title"/>
          </p:nvPr>
        </p:nvSpPr>
        <p:spPr>
          <a:xfrm>
            <a:off x="812800" y="110236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B57"/>
                </a:solidFill>
                <a:latin typeface="Noto Serif" pitchFamily="18" charset="0"/>
                <a:ea typeface="Noto Serif" pitchFamily="18" charset="-122"/>
                <a:cs typeface="Noto Serif" pitchFamily="18" charset="-120"/>
              </a:rPr>
              <a:t>Mashgʻulotning maqsadi</a:t>
            </a:r>
            <a:endParaRPr lang="en-US" sz="3200" dirty="0"/>
          </a:p>
        </p:txBody>
      </p:sp>
      <p:sp>
        <p:nvSpPr>
          <p:cNvPr id="4" name="Text 2"/>
          <p:cNvSpPr/>
          <p:nvPr/>
        </p:nvSpPr>
        <p:spPr>
          <a:xfrm>
            <a:off x="812800" y="1803400"/>
            <a:ext cx="10883392" cy="6299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42B57"/>
                </a:solidFill>
                <a:latin typeface="Noto Sans" pitchFamily="34" charset="0"/>
                <a:ea typeface="Noto Sans" pitchFamily="34" charset="-122"/>
                <a:cs typeface="Noto Sans" pitchFamily="34" charset="-120"/>
              </a:rPr>
              <a:t>Mexatron modullardagi harakatni oʻzgartirish mexanizmlarining kinematik va dinamik modellarini tuzish hamda «dvigatel – uzatma – yuklama» tizimining yagona matematik modelini shakllantirish.</a:t>
            </a:r>
            <a:endParaRPr lang="en-US" sz="1700" dirty="0"/>
          </a:p>
        </p:txBody>
      </p:sp>
      <p:sp>
        <p:nvSpPr>
          <p:cNvPr id="5" name="Shape 3"/>
          <p:cNvSpPr/>
          <p:nvPr/>
        </p:nvSpPr>
        <p:spPr>
          <a:xfrm>
            <a:off x="815975" y="2665095"/>
            <a:ext cx="2482850" cy="2198370"/>
          </a:xfrm>
          <a:prstGeom prst="roundRect">
            <a:avLst>
              <a:gd name="adj" fmla="val 4477"/>
            </a:avLst>
          </a:prstGeom>
          <a:solidFill>
            <a:srgbClr val="FCFBF8"/>
          </a:solidFill>
          <a:ln w="6350">
            <a:solidFill>
              <a:srgbClr val="D6DBE4"/>
            </a:solidFill>
            <a:prstDash val="solid"/>
          </a:ln>
        </p:spPr>
      </p:sp>
      <p:sp>
        <p:nvSpPr>
          <p:cNvPr id="6" name="Text 4"/>
          <p:cNvSpPr/>
          <p:nvPr/>
        </p:nvSpPr>
        <p:spPr>
          <a:xfrm>
            <a:off x="1071880" y="2921000"/>
            <a:ext cx="203017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540F"/>
                </a:solidFill>
                <a:latin typeface="Noto Sans" pitchFamily="34" charset="0"/>
                <a:ea typeface="Noto Sans" pitchFamily="34" charset="-122"/>
                <a:cs typeface="Noto Sans" pitchFamily="34" charset="-120"/>
              </a:rPr>
              <a:t>01</a:t>
            </a:r>
            <a:endParaRPr lang="en-US" sz="1200" dirty="0"/>
          </a:p>
        </p:txBody>
      </p:sp>
      <p:sp>
        <p:nvSpPr>
          <p:cNvPr id="7" name="Text 5"/>
          <p:cNvSpPr/>
          <p:nvPr/>
        </p:nvSpPr>
        <p:spPr>
          <a:xfrm>
            <a:off x="1071880" y="3235960"/>
            <a:ext cx="203017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B57"/>
                </a:solidFill>
                <a:latin typeface="Noto Sans" pitchFamily="34" charset="0"/>
                <a:ea typeface="Noto Sans" pitchFamily="34" charset="-122"/>
                <a:cs typeface="Noto Sans" pitchFamily="34" charset="-120"/>
              </a:rPr>
              <a:t>Kinematika</a:t>
            </a:r>
            <a:endParaRPr lang="en-US" sz="1800" dirty="0"/>
          </a:p>
        </p:txBody>
      </p:sp>
      <p:sp>
        <p:nvSpPr>
          <p:cNvPr id="8" name="Text 6"/>
          <p:cNvSpPr/>
          <p:nvPr/>
        </p:nvSpPr>
        <p:spPr>
          <a:xfrm>
            <a:off x="1071880" y="3611880"/>
            <a:ext cx="2030171"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862"/>
                </a:solidFill>
                <a:latin typeface="Noto Sans" pitchFamily="34" charset="0"/>
                <a:ea typeface="Noto Sans" pitchFamily="34" charset="-122"/>
                <a:cs typeface="Noto Sans" pitchFamily="34" charset="-120"/>
              </a:rPr>
              <a:t>Uzatish koeffitsienti ρ orqali tezlik, kuch va moment bogʻlanishlari</a:t>
            </a:r>
            <a:endParaRPr lang="en-US" sz="1400" dirty="0"/>
          </a:p>
        </p:txBody>
      </p:sp>
      <p:sp>
        <p:nvSpPr>
          <p:cNvPr id="9" name="Shape 7"/>
          <p:cNvSpPr/>
          <p:nvPr/>
        </p:nvSpPr>
        <p:spPr>
          <a:xfrm>
            <a:off x="3508375" y="2665095"/>
            <a:ext cx="2482850" cy="2198370"/>
          </a:xfrm>
          <a:prstGeom prst="roundRect">
            <a:avLst>
              <a:gd name="adj" fmla="val 4477"/>
            </a:avLst>
          </a:prstGeom>
          <a:solidFill>
            <a:srgbClr val="FCFBF8"/>
          </a:solidFill>
          <a:ln w="6350">
            <a:solidFill>
              <a:srgbClr val="D6DBE4"/>
            </a:solidFill>
            <a:prstDash val="solid"/>
          </a:ln>
        </p:spPr>
      </p:sp>
      <p:sp>
        <p:nvSpPr>
          <p:cNvPr id="10" name="Text 8"/>
          <p:cNvSpPr/>
          <p:nvPr/>
        </p:nvSpPr>
        <p:spPr>
          <a:xfrm>
            <a:off x="3764280" y="2921000"/>
            <a:ext cx="203017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540F"/>
                </a:solidFill>
                <a:latin typeface="Noto Sans" pitchFamily="34" charset="0"/>
                <a:ea typeface="Noto Sans" pitchFamily="34" charset="-122"/>
                <a:cs typeface="Noto Sans" pitchFamily="34" charset="-120"/>
              </a:rPr>
              <a:t>02</a:t>
            </a:r>
            <a:endParaRPr lang="en-US" sz="1200" dirty="0"/>
          </a:p>
        </p:txBody>
      </p:sp>
      <p:sp>
        <p:nvSpPr>
          <p:cNvPr id="11" name="Text 9"/>
          <p:cNvSpPr/>
          <p:nvPr/>
        </p:nvSpPr>
        <p:spPr>
          <a:xfrm>
            <a:off x="3764280" y="3235960"/>
            <a:ext cx="203017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B57"/>
                </a:solidFill>
                <a:latin typeface="Noto Sans" pitchFamily="34" charset="0"/>
                <a:ea typeface="Noto Sans" pitchFamily="34" charset="-122"/>
                <a:cs typeface="Noto Sans" pitchFamily="34" charset="-120"/>
              </a:rPr>
              <a:t>Keltirish</a:t>
            </a:r>
            <a:endParaRPr lang="en-US" sz="1800" dirty="0"/>
          </a:p>
        </p:txBody>
      </p:sp>
      <p:sp>
        <p:nvSpPr>
          <p:cNvPr id="12" name="Text 10"/>
          <p:cNvSpPr/>
          <p:nvPr/>
        </p:nvSpPr>
        <p:spPr>
          <a:xfrm>
            <a:off x="3764280" y="3611880"/>
            <a:ext cx="2030171"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862"/>
                </a:solidFill>
                <a:latin typeface="Noto Sans" pitchFamily="34" charset="0"/>
                <a:ea typeface="Noto Sans" pitchFamily="34" charset="-122"/>
                <a:cs typeface="Noto Sans" pitchFamily="34" charset="-120"/>
              </a:rPr>
              <a:t>Yuklama inersiyasi va kuchlarini dvigatel valiga keltirish</a:t>
            </a:r>
            <a:endParaRPr lang="en-US" sz="1400" dirty="0"/>
          </a:p>
        </p:txBody>
      </p:sp>
      <p:sp>
        <p:nvSpPr>
          <p:cNvPr id="13" name="Shape 11"/>
          <p:cNvSpPr/>
          <p:nvPr/>
        </p:nvSpPr>
        <p:spPr>
          <a:xfrm>
            <a:off x="6200775" y="2665095"/>
            <a:ext cx="2482850" cy="2198370"/>
          </a:xfrm>
          <a:prstGeom prst="roundRect">
            <a:avLst>
              <a:gd name="adj" fmla="val 4477"/>
            </a:avLst>
          </a:prstGeom>
          <a:solidFill>
            <a:srgbClr val="FCFBF8"/>
          </a:solidFill>
          <a:ln w="6350">
            <a:solidFill>
              <a:srgbClr val="D6DBE4"/>
            </a:solidFill>
            <a:prstDash val="solid"/>
          </a:ln>
        </p:spPr>
      </p:sp>
      <p:sp>
        <p:nvSpPr>
          <p:cNvPr id="14" name="Text 12"/>
          <p:cNvSpPr/>
          <p:nvPr/>
        </p:nvSpPr>
        <p:spPr>
          <a:xfrm>
            <a:off x="6456680" y="2921000"/>
            <a:ext cx="203017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540F"/>
                </a:solidFill>
                <a:latin typeface="Noto Sans" pitchFamily="34" charset="0"/>
                <a:ea typeface="Noto Sans" pitchFamily="34" charset="-122"/>
                <a:cs typeface="Noto Sans" pitchFamily="34" charset="-120"/>
              </a:rPr>
              <a:t>03</a:t>
            </a:r>
            <a:endParaRPr lang="en-US" sz="1200" dirty="0"/>
          </a:p>
        </p:txBody>
      </p:sp>
      <p:sp>
        <p:nvSpPr>
          <p:cNvPr id="15" name="Text 13"/>
          <p:cNvSpPr/>
          <p:nvPr/>
        </p:nvSpPr>
        <p:spPr>
          <a:xfrm>
            <a:off x="6456680" y="3235960"/>
            <a:ext cx="203017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B57"/>
                </a:solidFill>
                <a:latin typeface="Noto Sans" pitchFamily="34" charset="0"/>
                <a:ea typeface="Noto Sans" pitchFamily="34" charset="-122"/>
                <a:cs typeface="Noto Sans" pitchFamily="34" charset="-120"/>
              </a:rPr>
              <a:t>Dinamik model</a:t>
            </a:r>
            <a:endParaRPr lang="en-US" sz="1800" dirty="0"/>
          </a:p>
        </p:txBody>
      </p:sp>
      <p:sp>
        <p:nvSpPr>
          <p:cNvPr id="16" name="Text 14"/>
          <p:cNvSpPr/>
          <p:nvPr/>
        </p:nvSpPr>
        <p:spPr>
          <a:xfrm>
            <a:off x="6456680" y="3611880"/>
            <a:ext cx="2030171"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862"/>
                </a:solidFill>
                <a:latin typeface="Noto Sans" pitchFamily="34" charset="0"/>
                <a:ea typeface="Noto Sans" pitchFamily="34" charset="-122"/>
                <a:cs typeface="Noto Sans" pitchFamily="34" charset="-120"/>
              </a:rPr>
              <a:t>Dvigatel – uzatma – yuklama: holatlar fazosi va uzatish funksiyasi</a:t>
            </a:r>
            <a:endParaRPr lang="en-US" sz="1400" dirty="0"/>
          </a:p>
        </p:txBody>
      </p:sp>
      <p:sp>
        <p:nvSpPr>
          <p:cNvPr id="17" name="Shape 15"/>
          <p:cNvSpPr/>
          <p:nvPr/>
        </p:nvSpPr>
        <p:spPr>
          <a:xfrm>
            <a:off x="8893175" y="2665095"/>
            <a:ext cx="2482850" cy="2198370"/>
          </a:xfrm>
          <a:prstGeom prst="roundRect">
            <a:avLst>
              <a:gd name="adj" fmla="val 4477"/>
            </a:avLst>
          </a:prstGeom>
          <a:solidFill>
            <a:srgbClr val="FCFBF8"/>
          </a:solidFill>
          <a:ln w="6350">
            <a:solidFill>
              <a:srgbClr val="D6DBE4"/>
            </a:solidFill>
            <a:prstDash val="solid"/>
          </a:ln>
        </p:spPr>
      </p:sp>
      <p:sp>
        <p:nvSpPr>
          <p:cNvPr id="18" name="Text 16"/>
          <p:cNvSpPr/>
          <p:nvPr/>
        </p:nvSpPr>
        <p:spPr>
          <a:xfrm>
            <a:off x="9149080" y="2921000"/>
            <a:ext cx="203017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540F"/>
                </a:solidFill>
                <a:latin typeface="Noto Sans" pitchFamily="34" charset="0"/>
                <a:ea typeface="Noto Sans" pitchFamily="34" charset="-122"/>
                <a:cs typeface="Noto Sans" pitchFamily="34" charset="-120"/>
              </a:rPr>
              <a:t>04</a:t>
            </a:r>
            <a:endParaRPr lang="en-US" sz="1200" dirty="0"/>
          </a:p>
        </p:txBody>
      </p:sp>
      <p:sp>
        <p:nvSpPr>
          <p:cNvPr id="19" name="Text 17"/>
          <p:cNvSpPr/>
          <p:nvPr/>
        </p:nvSpPr>
        <p:spPr>
          <a:xfrm>
            <a:off x="9149080" y="3235960"/>
            <a:ext cx="203017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B57"/>
                </a:solidFill>
                <a:latin typeface="Noto Sans" pitchFamily="34" charset="0"/>
                <a:ea typeface="Noto Sans" pitchFamily="34" charset="-122"/>
                <a:cs typeface="Noto Sans" pitchFamily="34" charset="-120"/>
              </a:rPr>
              <a:t>Nochiziqlilik</a:t>
            </a:r>
            <a:endParaRPr lang="en-US" sz="1800" dirty="0"/>
          </a:p>
        </p:txBody>
      </p:sp>
      <p:sp>
        <p:nvSpPr>
          <p:cNvPr id="20" name="Text 18"/>
          <p:cNvSpPr/>
          <p:nvPr/>
        </p:nvSpPr>
        <p:spPr>
          <a:xfrm>
            <a:off x="9149080" y="3611880"/>
            <a:ext cx="2030171"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862"/>
                </a:solidFill>
                <a:latin typeface="Noto Sans" pitchFamily="34" charset="0"/>
                <a:ea typeface="Noto Sans" pitchFamily="34" charset="-122"/>
                <a:cs typeface="Noto Sans" pitchFamily="34" charset="-120"/>
              </a:rPr>
              <a:t>Krivoship–polzun, elastiklik, lyuft va ishqalanish</a:t>
            </a:r>
            <a:endParaRPr lang="en-US" sz="1400" dirty="0"/>
          </a:p>
        </p:txBody>
      </p:sp>
      <p:sp>
        <p:nvSpPr>
          <p:cNvPr id="21" name="Text 19"/>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7"/>
                </a:solidFill>
                <a:latin typeface="Noto Sans" pitchFamily="34" charset="0"/>
                <a:ea typeface="Noto Sans" pitchFamily="34" charset="-122"/>
                <a:cs typeface="Noto Sans" pitchFamily="34" charset="-120"/>
              </a:rPr>
              <a:t>Mexatron modul va robotlarni modellashtirish · Amaliyot №5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40F"/>
                </a:solidFill>
                <a:latin typeface="Noto Sans" pitchFamily="34" charset="0"/>
                <a:ea typeface="Noto Sans" pitchFamily="34" charset="-122"/>
                <a:cs typeface="Noto Sans" pitchFamily="34" charset="-120"/>
              </a:rPr>
              <a:t>2 · MEXANIZMLAR</a:t>
            </a:r>
            <a:endParaRPr lang="en-US" sz="1200" dirty="0"/>
          </a:p>
        </p:txBody>
      </p:sp>
      <p:sp>
        <p:nvSpPr>
          <p:cNvPr id="3" name="Text 1"/>
          <p:cNvSpPr/>
          <p:nvPr>
            <p:ph type="title"/>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B57"/>
                </a:solidFill>
                <a:latin typeface="Noto Serif" pitchFamily="18" charset="0"/>
                <a:ea typeface="Noto Serif" pitchFamily="18" charset="-122"/>
                <a:cs typeface="Noto Serif" pitchFamily="18" charset="-120"/>
              </a:rPr>
              <a:t>Nima uchun harakatni oʻzgartirish kerak?</a:t>
            </a:r>
            <a:endParaRPr lang="en-US" sz="3200" dirty="0"/>
          </a:p>
        </p:txBody>
      </p:sp>
      <p:sp>
        <p:nvSpPr>
          <p:cNvPr id="4" name="Text 2"/>
          <p:cNvSpPr/>
          <p:nvPr/>
        </p:nvSpPr>
        <p:spPr>
          <a:xfrm>
            <a:off x="812800" y="1803400"/>
            <a:ext cx="10883392" cy="5943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B57"/>
                </a:solidFill>
                <a:latin typeface="Noto Sans" pitchFamily="34" charset="0"/>
                <a:ea typeface="Noto Sans" pitchFamily="34" charset="-122"/>
                <a:cs typeface="Noto Sans" pitchFamily="34" charset="-120"/>
              </a:rPr>
              <a:t>Dvigatel:</a:t>
            </a:r>
            <a:r>
              <a:rPr lang="en-US" sz="1600" dirty="0">
                <a:solidFill>
                  <a:srgbClr val="142B57"/>
                </a:solidFill>
                <a:latin typeface="Noto Sans" pitchFamily="34" charset="0"/>
                <a:ea typeface="Noto Sans" pitchFamily="34" charset="-122"/>
                <a:cs typeface="Noto Sans" pitchFamily="34" charset="-120"/>
              </a:rPr>
              <a:t> tez aylanma harakat (1000…6000 ayl/min), nisbatan kichik moment. </a:t>
            </a:r>
            <a:r>
              <a:rPr lang="en-US" sz="1600" b="1" dirty="0">
                <a:solidFill>
                  <a:srgbClr val="142B57"/>
                </a:solidFill>
                <a:latin typeface="Noto Sans" pitchFamily="34" charset="0"/>
                <a:ea typeface="Noto Sans" pitchFamily="34" charset="-122"/>
                <a:cs typeface="Noto Sans" pitchFamily="34" charset="-120"/>
              </a:rPr>
              <a:t>Ishchi organ:</a:t>
            </a:r>
            <a:r>
              <a:rPr lang="en-US" sz="1600" dirty="0">
                <a:solidFill>
                  <a:srgbClr val="142B57"/>
                </a:solidFill>
                <a:latin typeface="Noto Sans" pitchFamily="34" charset="0"/>
                <a:ea typeface="Noto Sans" pitchFamily="34" charset="-122"/>
                <a:cs typeface="Noto Sans" pitchFamily="34" charset="-120"/>
              </a:rPr>
              <a:t> sekin, koʻpincha chiziqli harakat, katta kuch va yuqori aniqlik.</a:t>
            </a:r>
            <a:endParaRPr lang="en-US" sz="1600" dirty="0"/>
          </a:p>
        </p:txBody>
      </p:sp>
      <p:sp>
        <p:nvSpPr>
          <p:cNvPr id="5" name="Shape 3"/>
          <p:cNvSpPr/>
          <p:nvPr/>
        </p:nvSpPr>
        <p:spPr>
          <a:xfrm>
            <a:off x="812800" y="2626361"/>
            <a:ext cx="10566400" cy="2705100"/>
          </a:xfrm>
          <a:prstGeom prst="roundRect">
            <a:avLst>
              <a:gd name="adj" fmla="val 3756"/>
            </a:avLst>
          </a:prstGeom>
          <a:solidFill>
            <a:srgbClr val="FFFFFF"/>
          </a:solidFill>
          <a:ln/>
        </p:spPr>
      </p:sp>
      <p:pic>
        <p:nvPicPr>
          <p:cNvPr id="6" name="Image 0" descr="Sharikli vint–gayka uzatmali chiziqli modul sxemasi">    </p:cNvPr>
          <p:cNvPicPr>
            <a:picLocks noChangeAspect="1"/>
          </p:cNvPicPr>
          <p:nvPr/>
        </p:nvPicPr>
        <p:blipFill>
          <a:blip r:embed="rId1"/>
          <a:srcRect l="-40" r="-40" t="0" b="0"/>
          <a:stretch/>
        </p:blipFill>
        <p:spPr>
          <a:xfrm>
            <a:off x="1968500" y="2778761"/>
            <a:ext cx="8255000" cy="2400300"/>
          </a:xfrm>
          <a:prstGeom prst="rect">
            <a:avLst/>
          </a:prstGeom>
        </p:spPr>
      </p:pic>
      <p:sp>
        <p:nvSpPr>
          <p:cNvPr id="7" name="Text 4"/>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7"/>
                </a:solidFill>
                <a:latin typeface="Noto Sans" pitchFamily="34" charset="0"/>
                <a:ea typeface="Noto Sans" pitchFamily="34" charset="-122"/>
                <a:cs typeface="Noto Sans" pitchFamily="34" charset="-120"/>
              </a:rPr>
              <a:t>Mexatron modul va robotlarni modellashtirish · Amaliyot №5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40F"/>
                </a:solidFill>
                <a:latin typeface="Noto Sans" pitchFamily="34" charset="0"/>
                <a:ea typeface="Noto Sans" pitchFamily="34" charset="-122"/>
                <a:cs typeface="Noto Sans" pitchFamily="34" charset="-120"/>
              </a:rPr>
              <a:t>2 · MEXANIZMLAR</a:t>
            </a:r>
            <a:endParaRPr lang="en-US" sz="1200" dirty="0"/>
          </a:p>
        </p:txBody>
      </p:sp>
      <p:sp>
        <p:nvSpPr>
          <p:cNvPr id="3" name="Text 1"/>
          <p:cNvSpPr/>
          <p:nvPr>
            <p:ph type="title"/>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B57"/>
                </a:solidFill>
                <a:latin typeface="Noto Serif" pitchFamily="18" charset="0"/>
                <a:ea typeface="Noto Serif" pitchFamily="18" charset="-122"/>
                <a:cs typeface="Noto Serif" pitchFamily="18" charset="-120"/>
              </a:rPr>
              <a:t>Mexanizmlar turlari va kinematikasi</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13560"/>
          <a:ext cx="10556240" cy="3068320"/>
        </p:xfrm>
        <a:graphic>
          <a:graphicData uri="http://schemas.openxmlformats.org/drawingml/2006/table">
            <a:tbl>
              <a:tblPr/>
              <a:tblGrid>
                <a:gridCol w="3589122"/>
                <a:gridCol w="2744622"/>
                <a:gridCol w="2111248"/>
                <a:gridCol w="2111248"/>
              </a:tblGrid>
              <a:tr h="383540">
                <a:tc>
                  <a:txBody>
                    <a:bodyPr/>
                    <a:lstStyle/>
                    <a:p>
                      <a:pPr indent="0" marL="0">
                        <a:lnSpc>
                          <a:spcPts val="1960"/>
                        </a:lnSpc>
                        <a:buNone/>
                      </a:pPr>
                      <a:r>
                        <a:rPr lang="en-US" sz="1400" b="1" dirty="0">
                          <a:solidFill>
                            <a:srgbClr val="142B57"/>
                          </a:solidFill>
                          <a:latin typeface="Noto Sans" pitchFamily="34" charset="0"/>
                          <a:ea typeface="Noto Sans" pitchFamily="34" charset="-122"/>
                          <a:cs typeface="Noto Sans" pitchFamily="34" charset="-120"/>
                        </a:rPr>
                        <a:t>Mexanizm</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960"/>
                        </a:lnSpc>
                        <a:buNone/>
                      </a:pPr>
                      <a:r>
                        <a:rPr lang="en-US" sz="1400" b="1" dirty="0">
                          <a:solidFill>
                            <a:srgbClr val="142B57"/>
                          </a:solidFill>
                          <a:latin typeface="Noto Sans" pitchFamily="34" charset="0"/>
                          <a:ea typeface="Noto Sans" pitchFamily="34" charset="-122"/>
                          <a:cs typeface="Noto Sans" pitchFamily="34" charset="-120"/>
                        </a:rPr>
                        <a:t>Bogʻlanish</a:t>
                      </a:r>
                      <a:endParaRPr lang="en-US" sz="1400" dirty="0">
                        <a:latin typeface="Noto Sans" charset="0"/>
                        <a:ea typeface="Noto Sans" charset="0"/>
                        <a:cs typeface="Noto Sans" charset="0"/>
                      </a:endParaRPr>
                    </a:p>
                  </a:txBody>
                  <a:tcPr marL="62230" marR="62230" marT="62230" marB="6223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960"/>
                        </a:lnSpc>
                        <a:buNone/>
                      </a:pPr>
                      <a:r>
                        <a:rPr lang="en-US" sz="1400" b="1" dirty="0">
                          <a:solidFill>
                            <a:srgbClr val="142B57"/>
                          </a:solidFill>
                          <a:latin typeface="Noto Sans" pitchFamily="34" charset="0"/>
                          <a:ea typeface="Noto Sans" pitchFamily="34" charset="-122"/>
                          <a:cs typeface="Noto Sans" pitchFamily="34" charset="-120"/>
                        </a:rPr>
                        <a:t>Koeffitsient ρ</a:t>
                      </a:r>
                      <a:endParaRPr lang="en-US" sz="1400" dirty="0">
                        <a:latin typeface="Noto Sans" charset="0"/>
                        <a:ea typeface="Noto Sans" charset="0"/>
                        <a:cs typeface="Noto Sans" charset="0"/>
                      </a:endParaRPr>
                    </a:p>
                  </a:txBody>
                  <a:tcPr marL="62230" marR="62230" marT="62230" marB="6223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960"/>
                        </a:lnSpc>
                        <a:buNone/>
                      </a:pPr>
                      <a:r>
                        <a:rPr lang="en-US" sz="1400" b="1" dirty="0">
                          <a:solidFill>
                            <a:srgbClr val="142B57"/>
                          </a:solidFill>
                          <a:latin typeface="Noto Sans" pitchFamily="34" charset="0"/>
                          <a:ea typeface="Noto Sans" pitchFamily="34" charset="-122"/>
                          <a:cs typeface="Noto Sans" pitchFamily="34" charset="-120"/>
                        </a:rPr>
                        <a:t>Odatiy FIK η</a:t>
                      </a:r>
                      <a:endParaRPr lang="en-US" sz="1400" dirty="0">
                        <a:latin typeface="Noto Sans" charset="0"/>
                        <a:ea typeface="Noto Sans" charset="0"/>
                        <a:cs typeface="Noto Sans" charset="0"/>
                      </a:endParaRPr>
                    </a:p>
                  </a:txBody>
                  <a:tcPr marL="62230" marR="62230" marT="62230" marB="6223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r>
              <a:tr h="383540">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Sharikli vint–gayka</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x = pₕθ / 2π</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pₕ / 2π</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0.85…0.95</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83540">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Sirpanma vint–gayka</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x = pₕθ / 2π</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pₕ / 2π</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0.30…0.60</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83540">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Tishli reyka</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x = rθ</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r</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0.90…0.97</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83540">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Tishli tasma</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x = rₛₕθ</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rₛₕ</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0.90…0.98</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83540">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Reduktor</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θ = θₘ / N</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1 / N</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0.70…0.98</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83540">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Reduktor + reyka</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x = rθₘ / N</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r / N</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η₁·η₂</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83540">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Krivoship–polzun</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x = x(φ)</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dx / dφ</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42B57"/>
                          </a:solidFill>
                          <a:latin typeface="Noto Sans" pitchFamily="34" charset="0"/>
                          <a:ea typeface="Noto Sans" pitchFamily="34" charset="-122"/>
                          <a:cs typeface="Noto Sans" pitchFamily="34" charset="-120"/>
                        </a:rPr>
                        <a:t>oʻzgaruvchan</a:t>
                      </a:r>
                      <a:endParaRPr lang="en-US" sz="1400" dirty="0">
                        <a:latin typeface="Noto Sans" charset="0"/>
                        <a:ea typeface="Noto Sans" charset="0"/>
                        <a:cs typeface="Noto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5" name="Text 2"/>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7"/>
                </a:solidFill>
                <a:latin typeface="Noto Sans" pitchFamily="34" charset="0"/>
                <a:ea typeface="Noto Sans" pitchFamily="34" charset="-122"/>
                <a:cs typeface="Noto Sans" pitchFamily="34" charset="-120"/>
              </a:rPr>
              <a:t>Mexatron modul va robotlarni modellashtirish · Amaliyot №5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40F"/>
                </a:solidFill>
                <a:latin typeface="Noto Sans" pitchFamily="34" charset="0"/>
                <a:ea typeface="Noto Sans" pitchFamily="34" charset="-122"/>
                <a:cs typeface="Noto Sans" pitchFamily="34" charset="-120"/>
              </a:rPr>
              <a:t>3 · UMUMLASHGAN KINEMATIK MODEL</a:t>
            </a:r>
            <a:endParaRPr lang="en-US" sz="1200" dirty="0"/>
          </a:p>
        </p:txBody>
      </p:sp>
      <p:sp>
        <p:nvSpPr>
          <p:cNvPr id="3" name="Text 1"/>
          <p:cNvSpPr/>
          <p:nvPr>
            <p:ph type="title"/>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B57"/>
                </a:solidFill>
                <a:latin typeface="Noto Serif" pitchFamily="18" charset="0"/>
                <a:ea typeface="Noto Serif" pitchFamily="18" charset="-122"/>
                <a:cs typeface="Noto Serif" pitchFamily="18" charset="-120"/>
              </a:rPr>
              <a:t>Kinematik uzatish koeffitsienti ρ</a:t>
            </a:r>
            <a:endParaRPr lang="en-US" sz="3200" dirty="0"/>
          </a:p>
        </p:txBody>
      </p:sp>
      <p:sp>
        <p:nvSpPr>
          <p:cNvPr id="4" name="Shape 2"/>
          <p:cNvSpPr/>
          <p:nvPr/>
        </p:nvSpPr>
        <p:spPr>
          <a:xfrm>
            <a:off x="815975" y="1806575"/>
            <a:ext cx="10560050" cy="1673860"/>
          </a:xfrm>
          <a:prstGeom prst="roundRect">
            <a:avLst>
              <a:gd name="adj" fmla="val 5880"/>
            </a:avLst>
          </a:prstGeom>
          <a:solidFill>
            <a:srgbClr val="FCFBF8"/>
          </a:solidFill>
          <a:ln w="6350">
            <a:solidFill>
              <a:srgbClr val="D6DBE4"/>
            </a:solidFill>
            <a:prstDash val="solid"/>
          </a:ln>
        </p:spPr>
      </p:sp>
      <p:pic>
        <p:nvPicPr>
          <p:cNvPr id="5" name="Image 0" descr="x = ρθm, v = ρωm, a = ρ·dωm/dt">    </p:cNvPr>
          <p:cNvPicPr>
            <a:picLocks noChangeAspect="1"/>
          </p:cNvPicPr>
          <p:nvPr/>
        </p:nvPicPr>
        <p:blipFill>
          <a:blip r:embed="rId1"/>
          <a:srcRect l="0" r="0" t="-95" b="-95"/>
          <a:stretch/>
        </p:blipFill>
        <p:spPr>
          <a:xfrm>
            <a:off x="3597275" y="2062479"/>
            <a:ext cx="4997450" cy="527050"/>
          </a:xfrm>
          <a:prstGeom prst="rect">
            <a:avLst/>
          </a:prstGeom>
        </p:spPr>
      </p:pic>
      <p:sp>
        <p:nvSpPr>
          <p:cNvPr id="6" name="Text 3"/>
          <p:cNvSpPr/>
          <p:nvPr/>
        </p:nvSpPr>
        <p:spPr>
          <a:xfrm>
            <a:off x="921156" y="2691129"/>
            <a:ext cx="10349687" cy="558800"/>
          </a:xfrm>
          <a:prstGeom prst="rect">
            <a:avLst/>
          </a:prstGeom>
          <a:noFill/>
          <a:ln/>
        </p:spPr>
        <p:txBody>
          <a:bodyPr wrap="square" lIns="0" tIns="0" rIns="0" bIns="0" rtlCol="0" anchor="t">
            <a:normAutofit/>
          </a:bodyPr>
          <a:lstStyle/>
          <a:p>
            <a:pPr algn="ctr" indent="0" marL="0">
              <a:lnSpc>
                <a:spcPts val="2100"/>
              </a:lnSpc>
              <a:buNone/>
            </a:pPr>
            <a:r>
              <a:rPr lang="en-US" sz="1500" dirty="0">
                <a:solidFill>
                  <a:srgbClr val="3B4862"/>
                </a:solidFill>
                <a:latin typeface="Noto Sans" pitchFamily="34" charset="0"/>
                <a:ea typeface="Noto Sans" pitchFamily="34" charset="-122"/>
                <a:cs typeface="Noto Sans" pitchFamily="34" charset="-120"/>
              </a:rPr>
              <a:t>ρ — chiqish koordinatasining dvigatel vali burchagiga nisbati: chiziqli chiqishda m/rad, aylanma chiqishda oʻlchamsiz (ρ = 1/N).</a:t>
            </a:r>
            <a:endParaRPr lang="en-US" sz="1500" dirty="0"/>
          </a:p>
        </p:txBody>
      </p:sp>
      <p:sp>
        <p:nvSpPr>
          <p:cNvPr id="7" name="Shape 4"/>
          <p:cNvSpPr/>
          <p:nvPr/>
        </p:nvSpPr>
        <p:spPr>
          <a:xfrm>
            <a:off x="815975" y="3740786"/>
            <a:ext cx="5434330" cy="1324610"/>
          </a:xfrm>
          <a:prstGeom prst="roundRect">
            <a:avLst>
              <a:gd name="adj" fmla="val 7430"/>
            </a:avLst>
          </a:prstGeom>
          <a:solidFill>
            <a:srgbClr val="FCFBF8"/>
          </a:solidFill>
          <a:ln w="6350">
            <a:solidFill>
              <a:srgbClr val="D6DBE4"/>
            </a:solidFill>
            <a:prstDash val="solid"/>
          </a:ln>
        </p:spPr>
      </p:sp>
      <p:pic>
        <p:nvPicPr>
          <p:cNvPr id="8" name="Image 1" descr="Tm ωm = F v, F = Tm/ρ">    </p:cNvPr>
          <p:cNvPicPr>
            <a:picLocks noChangeAspect="1"/>
          </p:cNvPicPr>
          <p:nvPr/>
        </p:nvPicPr>
        <p:blipFill>
          <a:blip r:embed="rId2"/>
          <a:srcRect l="-238" r="-238" t="0" b="0"/>
          <a:stretch/>
        </p:blipFill>
        <p:spPr>
          <a:xfrm>
            <a:off x="1647190" y="3996689"/>
            <a:ext cx="3771900" cy="812800"/>
          </a:xfrm>
          <a:prstGeom prst="rect">
            <a:avLst/>
          </a:prstGeom>
        </p:spPr>
      </p:pic>
      <p:sp>
        <p:nvSpPr>
          <p:cNvPr id="9" name="Text 5"/>
          <p:cNvSpPr/>
          <p:nvPr/>
        </p:nvSpPr>
        <p:spPr>
          <a:xfrm>
            <a:off x="6456680" y="3948429"/>
            <a:ext cx="507019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B57"/>
                </a:solidFill>
                <a:latin typeface="Noto Sans" pitchFamily="34" charset="0"/>
                <a:ea typeface="Noto Sans" pitchFamily="34" charset="-122"/>
                <a:cs typeface="Noto Sans" pitchFamily="34" charset="-120"/>
              </a:rPr>
              <a:t>Quvvat balansi</a:t>
            </a:r>
            <a:endParaRPr lang="en-US" sz="1800" dirty="0"/>
          </a:p>
        </p:txBody>
      </p:sp>
      <p:sp>
        <p:nvSpPr>
          <p:cNvPr id="10" name="Text 6"/>
          <p:cNvSpPr/>
          <p:nvPr/>
        </p:nvSpPr>
        <p:spPr>
          <a:xfrm>
            <a:off x="6456680" y="4324350"/>
            <a:ext cx="507019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B4862"/>
                </a:solidFill>
                <a:latin typeface="Noto Sans" pitchFamily="34" charset="0"/>
                <a:ea typeface="Noto Sans" pitchFamily="34" charset="-122"/>
                <a:cs typeface="Noto Sans" pitchFamily="34" charset="-120"/>
              </a:rPr>
              <a:t>ρ kichik boʻlsa, bir xil moment bilan katta kuch olinadi, lekin chiqish tezligi shuncha kamayadi.</a:t>
            </a:r>
            <a:endParaRPr lang="en-US" sz="1500" dirty="0"/>
          </a:p>
        </p:txBody>
      </p:sp>
      <p:sp>
        <p:nvSpPr>
          <p:cNvPr id="11" name="Text 7"/>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7"/>
                </a:solidFill>
                <a:latin typeface="Noto Sans" pitchFamily="34" charset="0"/>
                <a:ea typeface="Noto Sans" pitchFamily="34" charset="-122"/>
                <a:cs typeface="Noto Sans" pitchFamily="34" charset="-120"/>
              </a:rPr>
              <a:t>Mexatron modul va robotlarni modellashtirish · Amaliyot №5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40F"/>
                </a:solidFill>
                <a:latin typeface="Noto Sans" pitchFamily="34" charset="0"/>
                <a:ea typeface="Noto Sans" pitchFamily="34" charset="-122"/>
                <a:cs typeface="Noto Sans" pitchFamily="34" charset="-120"/>
              </a:rPr>
              <a:t>3 · UMUMLASHGAN KINEMATIK MODEL</a:t>
            </a:r>
            <a:endParaRPr lang="en-US" sz="1200" dirty="0"/>
          </a:p>
        </p:txBody>
      </p:sp>
      <p:sp>
        <p:nvSpPr>
          <p:cNvPr id="3" name="Text 1"/>
          <p:cNvSpPr/>
          <p:nvPr>
            <p:ph type="title"/>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B57"/>
                </a:solidFill>
                <a:latin typeface="Noto Serif" pitchFamily="18" charset="0"/>
                <a:ea typeface="Noto Serif" pitchFamily="18" charset="-122"/>
                <a:cs typeface="Noto Serif" pitchFamily="18" charset="-120"/>
              </a:rPr>
              <a:t>Foydali ish koeffitsienti va ish rejimlari</a:t>
            </a:r>
            <a:endParaRPr lang="en-US" sz="3200" dirty="0"/>
          </a:p>
        </p:txBody>
      </p:sp>
      <p:sp>
        <p:nvSpPr>
          <p:cNvPr id="4" name="Shape 2"/>
          <p:cNvSpPr/>
          <p:nvPr/>
        </p:nvSpPr>
        <p:spPr>
          <a:xfrm>
            <a:off x="815975" y="1806575"/>
            <a:ext cx="10560050" cy="1324610"/>
          </a:xfrm>
          <a:prstGeom prst="roundRect">
            <a:avLst>
              <a:gd name="adj" fmla="val 7430"/>
            </a:avLst>
          </a:prstGeom>
          <a:solidFill>
            <a:srgbClr val="FCFBF8"/>
          </a:solidFill>
          <a:ln w="6350">
            <a:solidFill>
              <a:srgbClr val="D6DBE4"/>
            </a:solidFill>
            <a:prstDash val="solid"/>
          </a:ln>
        </p:spPr>
      </p:sp>
      <p:pic>
        <p:nvPicPr>
          <p:cNvPr id="5" name="Image 0" descr="Tm = ρF/η motor, Tm = ρFη generator">    </p:cNvPr>
          <p:cNvPicPr>
            <a:picLocks noChangeAspect="1"/>
          </p:cNvPicPr>
          <p:nvPr/>
        </p:nvPicPr>
        <p:blipFill>
          <a:blip r:embed="rId1"/>
          <a:srcRect l="-222" r="-222" t="0" b="0"/>
          <a:stretch/>
        </p:blipFill>
        <p:spPr>
          <a:xfrm>
            <a:off x="3073400" y="2062479"/>
            <a:ext cx="6045200" cy="812800"/>
          </a:xfrm>
          <a:prstGeom prst="rect">
            <a:avLst/>
          </a:prstGeom>
        </p:spPr>
      </p:pic>
      <p:sp>
        <p:nvSpPr>
          <p:cNvPr id="6" name="Shape 3"/>
          <p:cNvSpPr/>
          <p:nvPr/>
        </p:nvSpPr>
        <p:spPr>
          <a:xfrm>
            <a:off x="815975" y="3391536"/>
            <a:ext cx="3380317" cy="1687830"/>
          </a:xfrm>
          <a:prstGeom prst="roundRect">
            <a:avLst>
              <a:gd name="adj" fmla="val 5831"/>
            </a:avLst>
          </a:prstGeom>
          <a:solidFill>
            <a:srgbClr val="FCFBF8"/>
          </a:solidFill>
          <a:ln w="6350">
            <a:solidFill>
              <a:srgbClr val="D6DBE4"/>
            </a:solidFill>
            <a:prstDash val="solid"/>
          </a:ln>
        </p:spPr>
      </p:sp>
      <p:sp>
        <p:nvSpPr>
          <p:cNvPr id="7" name="Text 4"/>
          <p:cNvSpPr/>
          <p:nvPr/>
        </p:nvSpPr>
        <p:spPr>
          <a:xfrm>
            <a:off x="1071880" y="3647439"/>
            <a:ext cx="295456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B57"/>
                </a:solidFill>
                <a:latin typeface="Noto Sans" pitchFamily="34" charset="0"/>
                <a:ea typeface="Noto Sans" pitchFamily="34" charset="-122"/>
                <a:cs typeface="Noto Sans" pitchFamily="34" charset="-120"/>
              </a:rPr>
              <a:t>Motor rejimi</a:t>
            </a:r>
            <a:endParaRPr lang="en-US" sz="1800" dirty="0"/>
          </a:p>
        </p:txBody>
      </p:sp>
      <p:sp>
        <p:nvSpPr>
          <p:cNvPr id="8" name="Text 5"/>
          <p:cNvSpPr/>
          <p:nvPr/>
        </p:nvSpPr>
        <p:spPr>
          <a:xfrm>
            <a:off x="1071880" y="4023361"/>
            <a:ext cx="295456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B4862"/>
                </a:solidFill>
                <a:latin typeface="Noto Sans" pitchFamily="34" charset="0"/>
                <a:ea typeface="Noto Sans" pitchFamily="34" charset="-122"/>
                <a:cs typeface="Noto Sans" pitchFamily="34" charset="-120"/>
              </a:rPr>
              <a:t>Dvigatel yuklamani harakatlantiradi: isroflar sababli moment ρF/η ga oshadi.</a:t>
            </a:r>
            <a:endParaRPr lang="en-US" sz="1500" dirty="0"/>
          </a:p>
        </p:txBody>
      </p:sp>
      <p:sp>
        <p:nvSpPr>
          <p:cNvPr id="9" name="Shape 6"/>
          <p:cNvSpPr/>
          <p:nvPr/>
        </p:nvSpPr>
        <p:spPr>
          <a:xfrm>
            <a:off x="4405842" y="3391536"/>
            <a:ext cx="3380317" cy="1687830"/>
          </a:xfrm>
          <a:prstGeom prst="roundRect">
            <a:avLst>
              <a:gd name="adj" fmla="val 5831"/>
            </a:avLst>
          </a:prstGeom>
          <a:solidFill>
            <a:srgbClr val="FCFBF8"/>
          </a:solidFill>
          <a:ln w="6350">
            <a:solidFill>
              <a:srgbClr val="D6DBE4"/>
            </a:solidFill>
            <a:prstDash val="solid"/>
          </a:ln>
        </p:spPr>
      </p:sp>
      <p:sp>
        <p:nvSpPr>
          <p:cNvPr id="10" name="Text 7"/>
          <p:cNvSpPr/>
          <p:nvPr/>
        </p:nvSpPr>
        <p:spPr>
          <a:xfrm>
            <a:off x="4661746" y="3647439"/>
            <a:ext cx="295456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B57"/>
                </a:solidFill>
                <a:latin typeface="Noto Sans" pitchFamily="34" charset="0"/>
                <a:ea typeface="Noto Sans" pitchFamily="34" charset="-122"/>
                <a:cs typeface="Noto Sans" pitchFamily="34" charset="-120"/>
              </a:rPr>
              <a:t>Generator rejimi</a:t>
            </a:r>
            <a:endParaRPr lang="en-US" sz="1800" dirty="0"/>
          </a:p>
        </p:txBody>
      </p:sp>
      <p:sp>
        <p:nvSpPr>
          <p:cNvPr id="11" name="Text 8"/>
          <p:cNvSpPr/>
          <p:nvPr/>
        </p:nvSpPr>
        <p:spPr>
          <a:xfrm>
            <a:off x="4661746" y="4023361"/>
            <a:ext cx="295456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B4862"/>
                </a:solidFill>
                <a:latin typeface="Noto Sans" pitchFamily="34" charset="0"/>
                <a:ea typeface="Noto Sans" pitchFamily="34" charset="-122"/>
                <a:cs typeface="Noto Sans" pitchFamily="34" charset="-120"/>
              </a:rPr>
              <a:t>Yuklama dvigatelni aylantiradi (masalan, vertikal oʻqda yuk tushishi): moment ρFη.</a:t>
            </a:r>
            <a:endParaRPr lang="en-US" sz="1500" dirty="0"/>
          </a:p>
        </p:txBody>
      </p:sp>
      <p:sp>
        <p:nvSpPr>
          <p:cNvPr id="12" name="Shape 9"/>
          <p:cNvSpPr/>
          <p:nvPr/>
        </p:nvSpPr>
        <p:spPr>
          <a:xfrm>
            <a:off x="7995708" y="3391536"/>
            <a:ext cx="3380317" cy="1687830"/>
          </a:xfrm>
          <a:prstGeom prst="roundRect">
            <a:avLst>
              <a:gd name="adj" fmla="val 5831"/>
            </a:avLst>
          </a:prstGeom>
          <a:solidFill>
            <a:srgbClr val="FCFBF8"/>
          </a:solidFill>
          <a:ln w="6350">
            <a:solidFill>
              <a:srgbClr val="D6DBE4"/>
            </a:solidFill>
            <a:prstDash val="solid"/>
          </a:ln>
        </p:spPr>
      </p:sp>
      <p:sp>
        <p:nvSpPr>
          <p:cNvPr id="13" name="Text 10"/>
          <p:cNvSpPr/>
          <p:nvPr/>
        </p:nvSpPr>
        <p:spPr>
          <a:xfrm>
            <a:off x="8251613" y="3647439"/>
            <a:ext cx="295456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A8540F"/>
                </a:solidFill>
                <a:latin typeface="Noto Sans" pitchFamily="34" charset="0"/>
                <a:ea typeface="Noto Sans" pitchFamily="34" charset="-122"/>
                <a:cs typeface="Noto Sans" pitchFamily="34" charset="-120"/>
              </a:rPr>
              <a:t>Oʻz-oʻzidan tormozlanish</a:t>
            </a:r>
            <a:endParaRPr lang="en-US" sz="1800" dirty="0"/>
          </a:p>
        </p:txBody>
      </p:sp>
      <p:sp>
        <p:nvSpPr>
          <p:cNvPr id="14" name="Text 11"/>
          <p:cNvSpPr/>
          <p:nvPr/>
        </p:nvSpPr>
        <p:spPr>
          <a:xfrm>
            <a:off x="8251613" y="4023361"/>
            <a:ext cx="295456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B4862"/>
                </a:solidFill>
                <a:latin typeface="Noto Sans" pitchFamily="34" charset="0"/>
                <a:ea typeface="Noto Sans" pitchFamily="34" charset="-122"/>
                <a:cs typeface="Noto Sans" pitchFamily="34" charset="-120"/>
              </a:rPr>
              <a:t>Sirpanma vint–gaykada η &lt; 0.5 boʻlsa, tashqi kuch vintni aylantira olmaydi.</a:t>
            </a:r>
            <a:endParaRPr lang="en-US" sz="1500" dirty="0"/>
          </a:p>
        </p:txBody>
      </p:sp>
      <p:sp>
        <p:nvSpPr>
          <p:cNvPr id="15" name="Text 12"/>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7"/>
                </a:solidFill>
                <a:latin typeface="Noto Sans" pitchFamily="34" charset="0"/>
                <a:ea typeface="Noto Sans" pitchFamily="34" charset="-122"/>
                <a:cs typeface="Noto Sans" pitchFamily="34" charset="-120"/>
              </a:rPr>
              <a:t>Mexatron modul va robotlarni modellashtirish · Amaliyot №5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40F"/>
                </a:solidFill>
                <a:latin typeface="Noto Sans" pitchFamily="34" charset="0"/>
                <a:ea typeface="Noto Sans" pitchFamily="34" charset="-122"/>
                <a:cs typeface="Noto Sans" pitchFamily="34" charset="-120"/>
              </a:rPr>
              <a:t>4 · KELTIRILGAN INERSIYA</a:t>
            </a:r>
            <a:endParaRPr lang="en-US" sz="1200" dirty="0"/>
          </a:p>
        </p:txBody>
      </p:sp>
      <p:sp>
        <p:nvSpPr>
          <p:cNvPr id="3" name="Text 1"/>
          <p:cNvSpPr/>
          <p:nvPr>
            <p:ph type="title"/>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B57"/>
                </a:solidFill>
                <a:latin typeface="Noto Serif" pitchFamily="18" charset="0"/>
                <a:ea typeface="Noto Serif" pitchFamily="18" charset="-122"/>
                <a:cs typeface="Noto Serif" pitchFamily="18" charset="-120"/>
              </a:rPr>
              <a:t>Inersiyani dvigatel valiga keltirish</a:t>
            </a:r>
            <a:endParaRPr lang="en-US" sz="3200" dirty="0"/>
          </a:p>
        </p:txBody>
      </p:sp>
      <p:sp>
        <p:nvSpPr>
          <p:cNvPr id="4" name="Text 2"/>
          <p:cNvSpPr/>
          <p:nvPr/>
        </p:nvSpPr>
        <p:spPr>
          <a:xfrm>
            <a:off x="812800" y="180340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B57"/>
                </a:solidFill>
                <a:latin typeface="Noto Sans" pitchFamily="34" charset="0"/>
                <a:ea typeface="Noto Sans" pitchFamily="34" charset="-122"/>
                <a:cs typeface="Noto Sans" pitchFamily="34" charset="-120"/>
              </a:rPr>
              <a:t>Energiya usuli: real tizim va ekvivalent bir massali modelning kinetik energiyalari tenglashtiriladi.</a:t>
            </a:r>
            <a:endParaRPr lang="en-US" sz="1600" dirty="0"/>
          </a:p>
        </p:txBody>
      </p:sp>
      <p:sp>
        <p:nvSpPr>
          <p:cNvPr id="5" name="Shape 3"/>
          <p:cNvSpPr/>
          <p:nvPr/>
        </p:nvSpPr>
        <p:spPr>
          <a:xfrm>
            <a:off x="815975" y="2243454"/>
            <a:ext cx="10560050" cy="1184910"/>
          </a:xfrm>
          <a:prstGeom prst="roundRect">
            <a:avLst>
              <a:gd name="adj" fmla="val 8307"/>
            </a:avLst>
          </a:prstGeom>
          <a:solidFill>
            <a:srgbClr val="FCFBF8"/>
          </a:solidFill>
          <a:ln w="6350">
            <a:solidFill>
              <a:srgbClr val="D6DBE4"/>
            </a:solidFill>
            <a:prstDash val="solid"/>
          </a:ln>
        </p:spPr>
      </p:sp>
      <p:pic>
        <p:nvPicPr>
          <p:cNvPr id="6" name="Image 0" descr="Kinetik energiyalar tengligi">    </p:cNvPr>
          <p:cNvPicPr>
            <a:picLocks noChangeAspect="1"/>
          </p:cNvPicPr>
          <p:nvPr/>
        </p:nvPicPr>
        <p:blipFill>
          <a:blip r:embed="rId1"/>
          <a:srcRect l="-61" r="-61" t="0" b="0"/>
          <a:stretch/>
        </p:blipFill>
        <p:spPr>
          <a:xfrm>
            <a:off x="3924300" y="2499361"/>
            <a:ext cx="4343400" cy="673100"/>
          </a:xfrm>
          <a:prstGeom prst="rect">
            <a:avLst/>
          </a:prstGeom>
        </p:spPr>
      </p:pic>
      <p:sp>
        <p:nvSpPr>
          <p:cNvPr id="7" name="Shape 4"/>
          <p:cNvSpPr/>
          <p:nvPr/>
        </p:nvSpPr>
        <p:spPr>
          <a:xfrm>
            <a:off x="819150" y="3590289"/>
            <a:ext cx="10553700" cy="1290320"/>
          </a:xfrm>
          <a:prstGeom prst="roundRect">
            <a:avLst>
              <a:gd name="adj" fmla="val 7382"/>
            </a:avLst>
          </a:prstGeom>
          <a:solidFill>
            <a:srgbClr val="FCFBF8"/>
          </a:solidFill>
          <a:ln w="12700">
            <a:solidFill>
              <a:srgbClr val="D9731F"/>
            </a:solidFill>
            <a:prstDash val="solid"/>
          </a:ln>
        </p:spPr>
      </p:sp>
      <p:pic>
        <p:nvPicPr>
          <p:cNvPr id="8" name="Image 1" descr="Jeq = Jm + Jv + mρ²/η, Jv = πγLv dv⁴/32">    </p:cNvPr>
          <p:cNvPicPr>
            <a:picLocks noChangeAspect="1"/>
          </p:cNvPicPr>
          <p:nvPr/>
        </p:nvPicPr>
        <p:blipFill>
          <a:blip r:embed="rId2"/>
          <a:srcRect l="0" r="0" t="-49" b="-49"/>
          <a:stretch/>
        </p:blipFill>
        <p:spPr>
          <a:xfrm>
            <a:off x="3879850" y="3848100"/>
            <a:ext cx="4432300" cy="774700"/>
          </a:xfrm>
          <a:prstGeom prst="rect">
            <a:avLst/>
          </a:prstGeom>
        </p:spPr>
      </p:pic>
      <p:sp>
        <p:nvSpPr>
          <p:cNvPr id="9" name="Text 5"/>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7"/>
                </a:solidFill>
                <a:latin typeface="Noto Sans" pitchFamily="34" charset="0"/>
                <a:ea typeface="Noto Sans" pitchFamily="34" charset="-122"/>
                <a:cs typeface="Noto Sans" pitchFamily="34" charset="-120"/>
              </a:rPr>
              <a:t>Mexatron modul va robotlarni modellashtirish · Amaliyot №5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40F"/>
                </a:solidFill>
                <a:latin typeface="Noto Sans" pitchFamily="34" charset="0"/>
                <a:ea typeface="Noto Sans" pitchFamily="34" charset="-122"/>
                <a:cs typeface="Noto Sans" pitchFamily="34" charset="-120"/>
              </a:rPr>
              <a:t>4 · KELTIRILGAN INERSIYA</a:t>
            </a:r>
            <a:endParaRPr lang="en-US" sz="1200" dirty="0"/>
          </a:p>
        </p:txBody>
      </p:sp>
      <p:sp>
        <p:nvSpPr>
          <p:cNvPr id="3" name="Text 1"/>
          <p:cNvSpPr/>
          <p:nvPr>
            <p:ph type="title"/>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B57"/>
                </a:solidFill>
                <a:latin typeface="Noto Serif" pitchFamily="18" charset="0"/>
                <a:ea typeface="Noto Serif" pitchFamily="18" charset="-122"/>
                <a:cs typeface="Noto Serif" pitchFamily="18" charset="-120"/>
              </a:rPr>
              <a:t>Dvigatelning talab qilinadigan momenti</a:t>
            </a:r>
            <a:endParaRPr lang="en-US" sz="3200" dirty="0"/>
          </a:p>
        </p:txBody>
      </p:sp>
      <p:sp>
        <p:nvSpPr>
          <p:cNvPr id="4" name="Shape 2"/>
          <p:cNvSpPr/>
          <p:nvPr/>
        </p:nvSpPr>
        <p:spPr>
          <a:xfrm>
            <a:off x="815975" y="1806575"/>
            <a:ext cx="10560050" cy="1642110"/>
          </a:xfrm>
          <a:prstGeom prst="roundRect">
            <a:avLst>
              <a:gd name="adj" fmla="val 5994"/>
            </a:avLst>
          </a:prstGeom>
          <a:solidFill>
            <a:srgbClr val="FCFBF8"/>
          </a:solidFill>
          <a:ln w="6350">
            <a:solidFill>
              <a:srgbClr val="D6DBE4"/>
            </a:solidFill>
            <a:prstDash val="solid"/>
          </a:ln>
        </p:spPr>
      </p:sp>
      <p:pic>
        <p:nvPicPr>
          <p:cNvPr id="5" name="Image 0" descr="Tm formulasi">    </p:cNvPr>
          <p:cNvPicPr>
            <a:picLocks noChangeAspect="1"/>
          </p:cNvPicPr>
          <p:nvPr/>
        </p:nvPicPr>
        <p:blipFill>
          <a:blip r:embed="rId1"/>
          <a:srcRect l="-64" r="-64" t="0" b="0"/>
          <a:stretch/>
        </p:blipFill>
        <p:spPr>
          <a:xfrm>
            <a:off x="2974975" y="2062479"/>
            <a:ext cx="6242050" cy="1130300"/>
          </a:xfrm>
          <a:prstGeom prst="rect">
            <a:avLst/>
          </a:prstGeom>
        </p:spPr>
      </p:pic>
      <p:sp>
        <p:nvSpPr>
          <p:cNvPr id="6" name="Shape 3"/>
          <p:cNvSpPr/>
          <p:nvPr/>
        </p:nvSpPr>
        <p:spPr>
          <a:xfrm>
            <a:off x="815975" y="3709036"/>
            <a:ext cx="3380317" cy="1954530"/>
          </a:xfrm>
          <a:prstGeom prst="roundRect">
            <a:avLst>
              <a:gd name="adj" fmla="val 5036"/>
            </a:avLst>
          </a:prstGeom>
          <a:solidFill>
            <a:srgbClr val="FCFBF8"/>
          </a:solidFill>
          <a:ln w="6350">
            <a:solidFill>
              <a:srgbClr val="D6DBE4"/>
            </a:solidFill>
            <a:prstDash val="solid"/>
          </a:ln>
        </p:spPr>
      </p:sp>
      <p:sp>
        <p:nvSpPr>
          <p:cNvPr id="7" name="Text 4"/>
          <p:cNvSpPr/>
          <p:nvPr/>
        </p:nvSpPr>
        <p:spPr>
          <a:xfrm>
            <a:off x="1071880" y="3964939"/>
            <a:ext cx="295456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B57"/>
                </a:solidFill>
                <a:latin typeface="Noto Sans" pitchFamily="34" charset="0"/>
                <a:ea typeface="Noto Sans" pitchFamily="34" charset="-122"/>
                <a:cs typeface="Noto Sans" pitchFamily="34" charset="-120"/>
              </a:rPr>
              <a:t>Dinamik had</a:t>
            </a:r>
            <a:endParaRPr lang="en-US" sz="1800" dirty="0"/>
          </a:p>
        </p:txBody>
      </p:sp>
      <p:sp>
        <p:nvSpPr>
          <p:cNvPr id="8" name="Text 5"/>
          <p:cNvSpPr/>
          <p:nvPr/>
        </p:nvSpPr>
        <p:spPr>
          <a:xfrm>
            <a:off x="1071880" y="4340858"/>
            <a:ext cx="295456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B4862"/>
                </a:solidFill>
                <a:latin typeface="Noto Sans" pitchFamily="34" charset="0"/>
                <a:ea typeface="Noto Sans" pitchFamily="34" charset="-122"/>
                <a:cs typeface="Noto Sans" pitchFamily="34" charset="-120"/>
              </a:rPr>
              <a:t>Ekvivalent inersiyani a/ρ burchak tezlanish bilan tezlantirish uchun moment.</a:t>
            </a:r>
            <a:endParaRPr lang="en-US" sz="1500" dirty="0"/>
          </a:p>
        </p:txBody>
      </p:sp>
      <p:sp>
        <p:nvSpPr>
          <p:cNvPr id="9" name="Shape 6"/>
          <p:cNvSpPr/>
          <p:nvPr/>
        </p:nvSpPr>
        <p:spPr>
          <a:xfrm>
            <a:off x="4405842" y="3709036"/>
            <a:ext cx="3380317" cy="1954530"/>
          </a:xfrm>
          <a:prstGeom prst="roundRect">
            <a:avLst>
              <a:gd name="adj" fmla="val 5036"/>
            </a:avLst>
          </a:prstGeom>
          <a:solidFill>
            <a:srgbClr val="FCFBF8"/>
          </a:solidFill>
          <a:ln w="6350">
            <a:solidFill>
              <a:srgbClr val="D6DBE4"/>
            </a:solidFill>
            <a:prstDash val="solid"/>
          </a:ln>
        </p:spPr>
      </p:sp>
      <p:sp>
        <p:nvSpPr>
          <p:cNvPr id="10" name="Text 7"/>
          <p:cNvSpPr/>
          <p:nvPr/>
        </p:nvSpPr>
        <p:spPr>
          <a:xfrm>
            <a:off x="4661746" y="3964939"/>
            <a:ext cx="295456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B57"/>
                </a:solidFill>
                <a:latin typeface="Noto Sans" pitchFamily="34" charset="0"/>
                <a:ea typeface="Noto Sans" pitchFamily="34" charset="-122"/>
                <a:cs typeface="Noto Sans" pitchFamily="34" charset="-120"/>
              </a:rPr>
              <a:t>Statik had</a:t>
            </a:r>
            <a:endParaRPr lang="en-US" sz="1800" dirty="0"/>
          </a:p>
        </p:txBody>
      </p:sp>
      <p:sp>
        <p:nvSpPr>
          <p:cNvPr id="11" name="Text 8"/>
          <p:cNvSpPr/>
          <p:nvPr/>
        </p:nvSpPr>
        <p:spPr>
          <a:xfrm>
            <a:off x="4661746" y="4340858"/>
            <a:ext cx="2954562"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B4862"/>
                </a:solidFill>
                <a:latin typeface="Noto Sans" pitchFamily="34" charset="0"/>
                <a:ea typeface="Noto Sans" pitchFamily="34" charset="-122"/>
                <a:cs typeface="Noto Sans" pitchFamily="34" charset="-120"/>
              </a:rPr>
              <a:t>Tashqi kuch va yoʻnaltiruvchidagi ishqalanish kuchini yengish uchun moment.</a:t>
            </a:r>
            <a:endParaRPr lang="en-US" sz="1500" dirty="0"/>
          </a:p>
        </p:txBody>
      </p:sp>
      <p:sp>
        <p:nvSpPr>
          <p:cNvPr id="12" name="Shape 9"/>
          <p:cNvSpPr/>
          <p:nvPr/>
        </p:nvSpPr>
        <p:spPr>
          <a:xfrm>
            <a:off x="7995708" y="3709036"/>
            <a:ext cx="3380317" cy="1954530"/>
          </a:xfrm>
          <a:prstGeom prst="roundRect">
            <a:avLst>
              <a:gd name="adj" fmla="val 5036"/>
            </a:avLst>
          </a:prstGeom>
          <a:solidFill>
            <a:srgbClr val="FCFBF8"/>
          </a:solidFill>
          <a:ln w="6350">
            <a:solidFill>
              <a:srgbClr val="D6DBE4"/>
            </a:solidFill>
            <a:prstDash val="solid"/>
          </a:ln>
        </p:spPr>
      </p:sp>
      <p:pic>
        <p:nvPicPr>
          <p:cNvPr id="13" name="Image 1" descr="nm = 60 vmax / 2πρ">    </p:cNvPr>
          <p:cNvPicPr>
            <a:picLocks noChangeAspect="1"/>
          </p:cNvPicPr>
          <p:nvPr/>
        </p:nvPicPr>
        <p:blipFill>
          <a:blip r:embed="rId2"/>
          <a:srcRect l="0" r="0" t="-219" b="-219"/>
          <a:stretch/>
        </p:blipFill>
        <p:spPr>
          <a:xfrm>
            <a:off x="8301567" y="3964939"/>
            <a:ext cx="2768600" cy="685800"/>
          </a:xfrm>
          <a:prstGeom prst="rect">
            <a:avLst/>
          </a:prstGeom>
        </p:spPr>
      </p:pic>
      <p:sp>
        <p:nvSpPr>
          <p:cNvPr id="14" name="Text 10"/>
          <p:cNvSpPr/>
          <p:nvPr/>
        </p:nvSpPr>
        <p:spPr>
          <a:xfrm>
            <a:off x="8251613" y="4752342"/>
            <a:ext cx="295456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862"/>
                </a:solidFill>
                <a:latin typeface="Noto Sans" pitchFamily="34" charset="0"/>
                <a:ea typeface="Noto Sans" pitchFamily="34" charset="-122"/>
                <a:cs typeface="Noto Sans" pitchFamily="34" charset="-120"/>
              </a:rPr>
              <a:t>Vint uchun: nₘ = 60·vₘₐₓ / pₕ</a:t>
            </a:r>
            <a:endParaRPr lang="en-US" sz="1400" dirty="0"/>
          </a:p>
        </p:txBody>
      </p:sp>
      <p:sp>
        <p:nvSpPr>
          <p:cNvPr id="15" name="Text 11"/>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7"/>
                </a:solidFill>
                <a:latin typeface="Noto Sans" pitchFamily="34" charset="0"/>
                <a:ea typeface="Noto Sans" pitchFamily="34" charset="-122"/>
                <a:cs typeface="Noto Sans" pitchFamily="34" charset="-120"/>
              </a:rPr>
              <a:t>Mexatron modul va robotlarni modellashtirish · Amaliyot №5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40F"/>
                </a:solidFill>
                <a:latin typeface="Noto Sans" pitchFamily="34" charset="0"/>
                <a:ea typeface="Noto Sans" pitchFamily="34" charset="-122"/>
                <a:cs typeface="Noto Sans" pitchFamily="34" charset="-120"/>
              </a:rPr>
              <a:t>4 · INERSIYALARNI MOSLASHTIRISH</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B57"/>
                </a:solidFill>
                <a:latin typeface="Noto Serif" pitchFamily="18" charset="0"/>
                <a:ea typeface="Noto Serif" pitchFamily="18" charset="-122"/>
                <a:cs typeface="Noto Serif" pitchFamily="18" charset="-120"/>
              </a:rPr>
              <a:t>Optimal uzatish nisbati</a:t>
            </a:r>
            <a:endParaRPr lang="en-US" sz="3200" dirty="0"/>
          </a:p>
        </p:txBody>
      </p:sp>
      <p:sp>
        <p:nvSpPr>
          <p:cNvPr id="4" name="Shape 2"/>
          <p:cNvSpPr/>
          <p:nvPr/>
        </p:nvSpPr>
        <p:spPr>
          <a:xfrm>
            <a:off x="815975" y="1806575"/>
            <a:ext cx="3620770" cy="2054860"/>
          </a:xfrm>
          <a:prstGeom prst="roundRect">
            <a:avLst>
              <a:gd name="adj" fmla="val 4790"/>
            </a:avLst>
          </a:prstGeom>
          <a:solidFill>
            <a:srgbClr val="FCFBF8"/>
          </a:solidFill>
          <a:ln w="6350">
            <a:solidFill>
              <a:srgbClr val="D6DBE4"/>
            </a:solidFill>
            <a:prstDash val="solid"/>
          </a:ln>
        </p:spPr>
      </p:sp>
      <p:sp>
        <p:nvSpPr>
          <p:cNvPr id="5" name="Text 3"/>
          <p:cNvSpPr/>
          <p:nvPr/>
        </p:nvSpPr>
        <p:spPr>
          <a:xfrm>
            <a:off x="1071880" y="2062479"/>
            <a:ext cx="320222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B57"/>
                </a:solidFill>
                <a:latin typeface="Noto Sans" pitchFamily="34" charset="0"/>
                <a:ea typeface="Noto Sans" pitchFamily="34" charset="-122"/>
                <a:cs typeface="Noto Sans" pitchFamily="34" charset="-120"/>
              </a:rPr>
              <a:t>Faqat inersion yuklama boʻlganda tezlanish:</a:t>
            </a:r>
            <a:endParaRPr lang="en-US" sz="1500" dirty="0"/>
          </a:p>
        </p:txBody>
      </p:sp>
      <p:pic>
        <p:nvPicPr>
          <p:cNvPr id="6" name="Image 0" descr="a(ρ) = Tm ρ / (Jm + mρ²)">    </p:cNvPr>
          <p:cNvPicPr>
            <a:picLocks noChangeAspect="1"/>
          </p:cNvPicPr>
          <p:nvPr/>
        </p:nvPicPr>
        <p:blipFill>
          <a:blip r:embed="rId1"/>
          <a:srcRect l="-12" r="-12" t="0" b="0"/>
          <a:stretch/>
        </p:blipFill>
        <p:spPr>
          <a:xfrm>
            <a:off x="1302385" y="2697479"/>
            <a:ext cx="2647950" cy="908050"/>
          </a:xfrm>
          <a:prstGeom prst="rect">
            <a:avLst/>
          </a:prstGeom>
        </p:spPr>
      </p:pic>
      <p:sp>
        <p:nvSpPr>
          <p:cNvPr id="7" name="Shape 4"/>
          <p:cNvSpPr/>
          <p:nvPr/>
        </p:nvSpPr>
        <p:spPr>
          <a:xfrm>
            <a:off x="4646295" y="1806575"/>
            <a:ext cx="6729730" cy="2054860"/>
          </a:xfrm>
          <a:prstGeom prst="roundRect">
            <a:avLst>
              <a:gd name="adj" fmla="val 4790"/>
            </a:avLst>
          </a:prstGeom>
          <a:solidFill>
            <a:srgbClr val="FCFBF8"/>
          </a:solidFill>
          <a:ln w="6350">
            <a:solidFill>
              <a:srgbClr val="D6DBE4"/>
            </a:solidFill>
            <a:prstDash val="solid"/>
          </a:ln>
        </p:spPr>
      </p:sp>
      <p:sp>
        <p:nvSpPr>
          <p:cNvPr id="8" name="Text 5"/>
          <p:cNvSpPr/>
          <p:nvPr/>
        </p:nvSpPr>
        <p:spPr>
          <a:xfrm>
            <a:off x="4902200" y="2062479"/>
            <a:ext cx="640445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B57"/>
                </a:solidFill>
                <a:latin typeface="Noto Sans" pitchFamily="34" charset="0"/>
                <a:ea typeface="Noto Sans" pitchFamily="34" charset="-122"/>
                <a:cs typeface="Noto Sans" pitchFamily="34" charset="-120"/>
              </a:rPr>
              <a:t>Ekstremum sharti:</a:t>
            </a:r>
            <a:endParaRPr lang="en-US" sz="1500" dirty="0"/>
          </a:p>
        </p:txBody>
      </p:sp>
      <p:pic>
        <p:nvPicPr>
          <p:cNvPr id="9" name="Image 1" descr="ρopt = sqrt(Jm/m), amax = Tm / 2 sqrt(Jm m)">    </p:cNvPr>
          <p:cNvPicPr>
            <a:picLocks noChangeAspect="1"/>
          </p:cNvPicPr>
          <p:nvPr/>
        </p:nvPicPr>
        <p:blipFill>
          <a:blip r:embed="rId2"/>
          <a:srcRect l="-21" r="-21" t="0" b="0"/>
          <a:stretch/>
        </p:blipFill>
        <p:spPr>
          <a:xfrm>
            <a:off x="5280660" y="2430779"/>
            <a:ext cx="5461000" cy="882650"/>
          </a:xfrm>
          <a:prstGeom prst="rect">
            <a:avLst/>
          </a:prstGeom>
        </p:spPr>
      </p:pic>
      <p:sp>
        <p:nvSpPr>
          <p:cNvPr id="10" name="Shape 6"/>
          <p:cNvSpPr/>
          <p:nvPr/>
        </p:nvSpPr>
        <p:spPr>
          <a:xfrm>
            <a:off x="815975" y="4121783"/>
            <a:ext cx="3380317" cy="1154430"/>
          </a:xfrm>
          <a:prstGeom prst="roundRect">
            <a:avLst>
              <a:gd name="adj" fmla="val 8526"/>
            </a:avLst>
          </a:prstGeom>
          <a:solidFill>
            <a:srgbClr val="FCFBF8"/>
          </a:solidFill>
          <a:ln w="6350">
            <a:solidFill>
              <a:srgbClr val="D6DBE4"/>
            </a:solidFill>
            <a:prstDash val="solid"/>
          </a:ln>
        </p:spPr>
      </p:sp>
      <p:sp>
        <p:nvSpPr>
          <p:cNvPr id="11" name="Text 7"/>
          <p:cNvSpPr/>
          <p:nvPr/>
        </p:nvSpPr>
        <p:spPr>
          <a:xfrm>
            <a:off x="1071880" y="4377692"/>
            <a:ext cx="295456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B57"/>
                </a:solidFill>
                <a:latin typeface="Noto Sans" pitchFamily="34" charset="0"/>
                <a:ea typeface="Noto Sans" pitchFamily="34" charset="-122"/>
                <a:cs typeface="Noto Sans" pitchFamily="34" charset="-120"/>
              </a:rPr>
              <a:t>Vint</a:t>
            </a:r>
            <a:endParaRPr lang="en-US" sz="1800" dirty="0"/>
          </a:p>
        </p:txBody>
      </p:sp>
      <p:sp>
        <p:nvSpPr>
          <p:cNvPr id="12" name="Text 8"/>
          <p:cNvSpPr/>
          <p:nvPr/>
        </p:nvSpPr>
        <p:spPr>
          <a:xfrm>
            <a:off x="1071880" y="4753608"/>
            <a:ext cx="295456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B4862"/>
                </a:solidFill>
                <a:latin typeface="Noto Sans" pitchFamily="34" charset="0"/>
                <a:ea typeface="Noto Sans" pitchFamily="34" charset="-122"/>
                <a:cs typeface="Noto Sans" pitchFamily="34" charset="-120"/>
              </a:rPr>
              <a:t>pₕ,opt = 2π·√(Jₘ / m)</a:t>
            </a:r>
            <a:endParaRPr lang="en-US" sz="1500" dirty="0"/>
          </a:p>
        </p:txBody>
      </p:sp>
      <p:sp>
        <p:nvSpPr>
          <p:cNvPr id="13" name="Shape 9"/>
          <p:cNvSpPr/>
          <p:nvPr/>
        </p:nvSpPr>
        <p:spPr>
          <a:xfrm>
            <a:off x="4405842" y="4121783"/>
            <a:ext cx="3380317" cy="1154430"/>
          </a:xfrm>
          <a:prstGeom prst="roundRect">
            <a:avLst>
              <a:gd name="adj" fmla="val 8526"/>
            </a:avLst>
          </a:prstGeom>
          <a:solidFill>
            <a:srgbClr val="FCFBF8"/>
          </a:solidFill>
          <a:ln w="6350">
            <a:solidFill>
              <a:srgbClr val="D6DBE4"/>
            </a:solidFill>
            <a:prstDash val="solid"/>
          </a:ln>
        </p:spPr>
      </p:sp>
      <p:sp>
        <p:nvSpPr>
          <p:cNvPr id="14" name="Text 10"/>
          <p:cNvSpPr/>
          <p:nvPr/>
        </p:nvSpPr>
        <p:spPr>
          <a:xfrm>
            <a:off x="4661746" y="4377692"/>
            <a:ext cx="295456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B57"/>
                </a:solidFill>
                <a:latin typeface="Noto Sans" pitchFamily="34" charset="0"/>
                <a:ea typeface="Noto Sans" pitchFamily="34" charset="-122"/>
                <a:cs typeface="Noto Sans" pitchFamily="34" charset="-120"/>
              </a:rPr>
              <a:t>Reduktor</a:t>
            </a:r>
            <a:endParaRPr lang="en-US" sz="1800" dirty="0"/>
          </a:p>
        </p:txBody>
      </p:sp>
      <p:sp>
        <p:nvSpPr>
          <p:cNvPr id="15" name="Text 11"/>
          <p:cNvSpPr/>
          <p:nvPr/>
        </p:nvSpPr>
        <p:spPr>
          <a:xfrm>
            <a:off x="4661746" y="4753608"/>
            <a:ext cx="295456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B4862"/>
                </a:solidFill>
                <a:latin typeface="Noto Sans" pitchFamily="34" charset="0"/>
                <a:ea typeface="Noto Sans" pitchFamily="34" charset="-122"/>
                <a:cs typeface="Noto Sans" pitchFamily="34" charset="-120"/>
              </a:rPr>
              <a:t>N_opt = √(J_yuk / Jₘ)</a:t>
            </a:r>
            <a:endParaRPr lang="en-US" sz="1500" dirty="0"/>
          </a:p>
        </p:txBody>
      </p:sp>
      <p:sp>
        <p:nvSpPr>
          <p:cNvPr id="16" name="Shape 12"/>
          <p:cNvSpPr/>
          <p:nvPr/>
        </p:nvSpPr>
        <p:spPr>
          <a:xfrm>
            <a:off x="7995708" y="4121783"/>
            <a:ext cx="3380317" cy="1154430"/>
          </a:xfrm>
          <a:prstGeom prst="roundRect">
            <a:avLst>
              <a:gd name="adj" fmla="val 8526"/>
            </a:avLst>
          </a:prstGeom>
          <a:solidFill>
            <a:srgbClr val="FCFBF8"/>
          </a:solidFill>
          <a:ln w="6350">
            <a:solidFill>
              <a:srgbClr val="D6DBE4"/>
            </a:solidFill>
            <a:prstDash val="solid"/>
          </a:ln>
        </p:spPr>
      </p:sp>
      <p:sp>
        <p:nvSpPr>
          <p:cNvPr id="17" name="Text 13"/>
          <p:cNvSpPr/>
          <p:nvPr/>
        </p:nvSpPr>
        <p:spPr>
          <a:xfrm>
            <a:off x="8251613" y="4377692"/>
            <a:ext cx="295456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B57"/>
                </a:solidFill>
                <a:latin typeface="Noto Sans" pitchFamily="34" charset="0"/>
                <a:ea typeface="Noto Sans" pitchFamily="34" charset="-122"/>
                <a:cs typeface="Noto Sans" pitchFamily="34" charset="-120"/>
              </a:rPr>
              <a:t>Reduktor + reyka</a:t>
            </a:r>
            <a:endParaRPr lang="en-US" sz="1800" dirty="0"/>
          </a:p>
        </p:txBody>
      </p:sp>
      <p:sp>
        <p:nvSpPr>
          <p:cNvPr id="18" name="Text 14"/>
          <p:cNvSpPr/>
          <p:nvPr/>
        </p:nvSpPr>
        <p:spPr>
          <a:xfrm>
            <a:off x="8251613" y="4753608"/>
            <a:ext cx="295456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B4862"/>
                </a:solidFill>
                <a:latin typeface="Noto Sans" pitchFamily="34" charset="0"/>
                <a:ea typeface="Noto Sans" pitchFamily="34" charset="-122"/>
                <a:cs typeface="Noto Sans" pitchFamily="34" charset="-120"/>
              </a:rPr>
              <a:t>N_opt = r·√(m / Jₘ)</a:t>
            </a:r>
            <a:endParaRPr lang="en-US" sz="1500" dirty="0"/>
          </a:p>
        </p:txBody>
      </p:sp>
      <p:sp>
        <p:nvSpPr>
          <p:cNvPr id="19" name="Text 15"/>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7"/>
                </a:solidFill>
                <a:latin typeface="Noto Sans" pitchFamily="34" charset="0"/>
                <a:ea typeface="Noto Sans" pitchFamily="34" charset="-122"/>
                <a:cs typeface="Noto Sans" pitchFamily="34" charset="-120"/>
              </a:rPr>
              <a:t>Mexatron modul va robotlarni modellashtirish · Amaliyot №5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D9731F"/>
        </a:solidFill>
      </p:bgPr>
    </p:bg>
    <p:spTree>
      <p:nvGrpSpPr>
        <p:cNvPr id="1" name=""/>
        <p:cNvGrpSpPr/>
        <p:nvPr/>
      </p:nvGrpSpPr>
      <p:grpSpPr>
        <a:xfrm>
          <a:off x="0" y="0"/>
          <a:ext cx="0" cy="0"/>
          <a:chOff x="0" y="0"/>
          <a:chExt cx="0" cy="0"/>
        </a:xfrm>
      </p:grpSpPr>
      <p:sp>
        <p:nvSpPr>
          <p:cNvPr id="2" name="Text 0"/>
          <p:cNvSpPr/>
          <p:nvPr/>
        </p:nvSpPr>
        <p:spPr>
          <a:xfrm>
            <a:off x="812800" y="1996442"/>
            <a:ext cx="10883392" cy="309880"/>
          </a:xfrm>
          <a:prstGeom prst="rect">
            <a:avLst/>
          </a:prstGeom>
          <a:noFill/>
          <a:ln/>
        </p:spPr>
        <p:txBody>
          <a:bodyPr wrap="square" lIns="0" tIns="0" rIns="0" bIns="0" rtlCol="0" anchor="t">
            <a:normAutofit/>
          </a:bodyPr>
          <a:lstStyle/>
          <a:p>
            <a:pPr algn="l" indent="0" marL="0">
              <a:lnSpc>
                <a:spcPts val="2240"/>
              </a:lnSpc>
              <a:buNone/>
            </a:pPr>
            <a:r>
              <a:rPr lang="en-US" sz="1600" b="1" spc="200" kern="0" dirty="0">
                <a:solidFill>
                  <a:srgbClr val="142B57"/>
                </a:solidFill>
                <a:latin typeface="Noto Sans" pitchFamily="34" charset="0"/>
                <a:ea typeface="Noto Sans" pitchFamily="34" charset="-122"/>
                <a:cs typeface="Noto Sans" pitchFamily="34" charset="-120"/>
              </a:rPr>
              <a:t>INERSIYALARNI MOSLASHTIRISH</a:t>
            </a:r>
            <a:endParaRPr lang="en-US" sz="1600" dirty="0"/>
          </a:p>
        </p:txBody>
      </p:sp>
      <p:sp>
        <p:nvSpPr>
          <p:cNvPr id="3" name="Text 1"/>
          <p:cNvSpPr/>
          <p:nvPr>
            <p:ph type="title"/>
          </p:nvPr>
        </p:nvSpPr>
        <p:spPr>
          <a:xfrm>
            <a:off x="812800" y="2534921"/>
            <a:ext cx="10883392" cy="1778000"/>
          </a:xfrm>
          <a:prstGeom prst="rect">
            <a:avLst/>
          </a:prstGeom>
          <a:noFill/>
          <a:ln/>
        </p:spPr>
        <p:txBody>
          <a:bodyPr wrap="square" lIns="0" tIns="0" rIns="0" bIns="0" rtlCol="0" anchor="t">
            <a:normAutofit/>
          </a:bodyPr>
          <a:lstStyle/>
          <a:p>
            <a:pPr algn="l" indent="0" marL="0">
              <a:lnSpc>
                <a:spcPts val="4600"/>
              </a:lnSpc>
              <a:buNone/>
            </a:pPr>
            <a:r>
              <a:rPr lang="en-US" sz="4000" b="1" i="0" dirty="0">
                <a:solidFill>
                  <a:srgbClr val="142B57"/>
                </a:solidFill>
                <a:latin typeface="Noto Serif" pitchFamily="18" charset="0"/>
                <a:ea typeface="Noto Serif" pitchFamily="18" charset="-122"/>
                <a:cs typeface="Noto Serif" pitchFamily="18" charset="-120"/>
              </a:rPr>
              <a:t>m·ρ² = Jₘ — keltirilgan yuklama inersiyasi dvigatel inersiyasiga teng boʻlganda tezlanish maksimal.</a:t>
            </a:r>
            <a:endParaRPr lang="en-US" sz="4000" dirty="0"/>
          </a:p>
        </p:txBody>
      </p:sp>
      <p:sp>
        <p:nvSpPr>
          <p:cNvPr id="4" name="Text 2"/>
          <p:cNvSpPr/>
          <p:nvPr/>
        </p:nvSpPr>
        <p:spPr>
          <a:xfrm>
            <a:off x="812800" y="4541521"/>
            <a:ext cx="10883392"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42B57"/>
                </a:solidFill>
                <a:latin typeface="Noto Sans" pitchFamily="34" charset="0"/>
                <a:ea typeface="Noto Sans" pitchFamily="34" charset="-122"/>
                <a:cs typeface="Noto Sans" pitchFamily="34" charset="-120"/>
              </a:rPr>
              <a:t>Amaliyotda servoyuritmalar uchun J_yuk / Jₘ = 1…10 oraligʻida tanlanadi.</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40F"/>
                </a:solidFill>
                <a:latin typeface="Noto Sans" pitchFamily="34" charset="0"/>
                <a:ea typeface="Noto Sans" pitchFamily="34" charset="-122"/>
                <a:cs typeface="Noto Sans" pitchFamily="34" charset="-120"/>
              </a:rPr>
              <a:t>5 · DINAMIK MODEL</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B57"/>
                </a:solidFill>
                <a:latin typeface="Noto Serif" pitchFamily="18" charset="0"/>
                <a:ea typeface="Noto Serif" pitchFamily="18" charset="-122"/>
                <a:cs typeface="Noto Serif" pitchFamily="18" charset="-120"/>
              </a:rPr>
              <a:t>Dvigatel – uzatma – yuklama tenglamalari</a:t>
            </a:r>
            <a:endParaRPr lang="en-US" sz="3200" dirty="0"/>
          </a:p>
        </p:txBody>
      </p:sp>
      <p:sp>
        <p:nvSpPr>
          <p:cNvPr id="4" name="Shape 2"/>
          <p:cNvSpPr/>
          <p:nvPr/>
        </p:nvSpPr>
        <p:spPr>
          <a:xfrm>
            <a:off x="815975" y="1806575"/>
            <a:ext cx="5383530" cy="3153410"/>
          </a:xfrm>
          <a:prstGeom prst="roundRect">
            <a:avLst>
              <a:gd name="adj" fmla="val 3121"/>
            </a:avLst>
          </a:prstGeom>
          <a:solidFill>
            <a:srgbClr val="FCFBF8"/>
          </a:solidFill>
          <a:ln w="6350">
            <a:solidFill>
              <a:srgbClr val="D6DBE4"/>
            </a:solidFill>
            <a:prstDash val="solid"/>
          </a:ln>
        </p:spPr>
      </p:sp>
      <p:pic>
        <p:nvPicPr>
          <p:cNvPr id="5" name="Image 0" descr="DC dvigatel va uzatma tenglamalari">    </p:cNvPr>
          <p:cNvPicPr>
            <a:picLocks noChangeAspect="1"/>
          </p:cNvPicPr>
          <p:nvPr/>
        </p:nvPicPr>
        <p:blipFill>
          <a:blip r:embed="rId1"/>
          <a:srcRect l="-68" r="-68" t="0" b="0"/>
          <a:stretch/>
        </p:blipFill>
        <p:spPr>
          <a:xfrm>
            <a:off x="1370965" y="2062479"/>
            <a:ext cx="4273550" cy="2641600"/>
          </a:xfrm>
          <a:prstGeom prst="rect">
            <a:avLst/>
          </a:prstGeom>
        </p:spPr>
      </p:pic>
      <p:sp>
        <p:nvSpPr>
          <p:cNvPr id="6" name="Text 3"/>
          <p:cNvSpPr/>
          <p:nvPr/>
        </p:nvSpPr>
        <p:spPr>
          <a:xfrm>
            <a:off x="6507480" y="2062479"/>
            <a:ext cx="501787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B4862"/>
                </a:solidFill>
                <a:latin typeface="Noto Sans" pitchFamily="34" charset="0"/>
                <a:ea typeface="Noto Sans" pitchFamily="34" charset="-122"/>
                <a:cs typeface="Noto Sans" pitchFamily="34" charset="-120"/>
              </a:rPr>
              <a:t>u, i</a:t>
            </a:r>
            <a:r>
              <a:rPr lang="en-US" sz="1500" dirty="0">
                <a:solidFill>
                  <a:srgbClr val="3B4862"/>
                </a:solidFill>
                <a:latin typeface="Noto Sans" pitchFamily="34" charset="0"/>
                <a:ea typeface="Noto Sans" pitchFamily="34" charset="-122"/>
                <a:cs typeface="Noto Sans" pitchFamily="34" charset="-120"/>
              </a:rPr>
              <a:t> — yakor kuchlanishi va toki</a:t>
            </a:r>
            <a:endParaRPr lang="en-US" sz="1500" dirty="0"/>
          </a:p>
        </p:txBody>
      </p:sp>
      <p:sp>
        <p:nvSpPr>
          <p:cNvPr id="7" name="Text 4"/>
          <p:cNvSpPr/>
          <p:nvPr/>
        </p:nvSpPr>
        <p:spPr>
          <a:xfrm>
            <a:off x="6507480" y="2456179"/>
            <a:ext cx="501787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B4862"/>
                </a:solidFill>
                <a:latin typeface="Noto Sans" pitchFamily="34" charset="0"/>
                <a:ea typeface="Noto Sans" pitchFamily="34" charset="-122"/>
                <a:cs typeface="Noto Sans" pitchFamily="34" charset="-120"/>
              </a:rPr>
              <a:t>R, L</a:t>
            </a:r>
            <a:r>
              <a:rPr lang="en-US" sz="1500" dirty="0">
                <a:solidFill>
                  <a:srgbClr val="3B4862"/>
                </a:solidFill>
                <a:latin typeface="Noto Sans" pitchFamily="34" charset="0"/>
                <a:ea typeface="Noto Sans" pitchFamily="34" charset="-122"/>
                <a:cs typeface="Noto Sans" pitchFamily="34" charset="-120"/>
              </a:rPr>
              <a:t> — yakor qarshiligi va induktivligi</a:t>
            </a:r>
            <a:endParaRPr lang="en-US" sz="1500" dirty="0"/>
          </a:p>
        </p:txBody>
      </p:sp>
      <p:sp>
        <p:nvSpPr>
          <p:cNvPr id="8" name="Text 5"/>
          <p:cNvSpPr/>
          <p:nvPr/>
        </p:nvSpPr>
        <p:spPr>
          <a:xfrm>
            <a:off x="6507480" y="2849879"/>
            <a:ext cx="5017872"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B4862"/>
                </a:solidFill>
                <a:latin typeface="Noto Sans" pitchFamily="34" charset="0"/>
                <a:ea typeface="Noto Sans" pitchFamily="34" charset="-122"/>
                <a:cs typeface="Noto Sans" pitchFamily="34" charset="-120"/>
              </a:rPr>
              <a:t>kₜ, kₑ</a:t>
            </a:r>
            <a:r>
              <a:rPr lang="en-US" sz="1500" dirty="0">
                <a:solidFill>
                  <a:srgbClr val="3B4862"/>
                </a:solidFill>
                <a:latin typeface="Noto Sans" pitchFamily="34" charset="0"/>
                <a:ea typeface="Noto Sans" pitchFamily="34" charset="-122"/>
                <a:cs typeface="Noto Sans" pitchFamily="34" charset="-120"/>
              </a:rPr>
              <a:t> — moment va teskari EYuK doimiylari (SI da kₜ = kₑ)</a:t>
            </a:r>
            <a:endParaRPr lang="en-US" sz="1500" dirty="0"/>
          </a:p>
        </p:txBody>
      </p:sp>
      <p:sp>
        <p:nvSpPr>
          <p:cNvPr id="9" name="Text 6"/>
          <p:cNvSpPr/>
          <p:nvPr/>
        </p:nvSpPr>
        <p:spPr>
          <a:xfrm>
            <a:off x="6507480" y="3510279"/>
            <a:ext cx="5017872"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B4862"/>
                </a:solidFill>
                <a:latin typeface="Noto Sans" pitchFamily="34" charset="0"/>
                <a:ea typeface="Noto Sans" pitchFamily="34" charset="-122"/>
                <a:cs typeface="Noto Sans" pitchFamily="34" charset="-120"/>
              </a:rPr>
              <a:t>J_eq, b_eq</a:t>
            </a:r>
            <a:r>
              <a:rPr lang="en-US" sz="1500" dirty="0">
                <a:solidFill>
                  <a:srgbClr val="3B4862"/>
                </a:solidFill>
                <a:latin typeface="Noto Sans" pitchFamily="34" charset="0"/>
                <a:ea typeface="Noto Sans" pitchFamily="34" charset="-122"/>
                <a:cs typeface="Noto Sans" pitchFamily="34" charset="-120"/>
              </a:rPr>
              <a:t> — keltirilgan inersiya va qovushqoq ishqalanish</a:t>
            </a:r>
            <a:endParaRPr lang="en-US" sz="1500" dirty="0"/>
          </a:p>
        </p:txBody>
      </p:sp>
      <p:sp>
        <p:nvSpPr>
          <p:cNvPr id="10" name="Text 7"/>
          <p:cNvSpPr/>
          <p:nvPr/>
        </p:nvSpPr>
        <p:spPr>
          <a:xfrm>
            <a:off x="6507480" y="4170679"/>
            <a:ext cx="5017872"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B4862"/>
                </a:solidFill>
                <a:latin typeface="Noto Sans" pitchFamily="34" charset="0"/>
                <a:ea typeface="Noto Sans" pitchFamily="34" charset="-122"/>
                <a:cs typeface="Noto Sans" pitchFamily="34" charset="-120"/>
              </a:rPr>
              <a:t>ρF_L / η</a:t>
            </a:r>
            <a:r>
              <a:rPr lang="en-US" sz="1500" dirty="0">
                <a:solidFill>
                  <a:srgbClr val="3B4862"/>
                </a:solidFill>
                <a:latin typeface="Noto Sans" pitchFamily="34" charset="0"/>
                <a:ea typeface="Noto Sans" pitchFamily="34" charset="-122"/>
                <a:cs typeface="Noto Sans" pitchFamily="34" charset="-120"/>
              </a:rPr>
              <a:t> — dvigatel valiga keltirilgan yuklama momenti</a:t>
            </a:r>
            <a:endParaRPr lang="en-US" sz="1500" dirty="0"/>
          </a:p>
        </p:txBody>
      </p:sp>
      <p:sp>
        <p:nvSpPr>
          <p:cNvPr id="11" name="Text 8"/>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7"/>
                </a:solidFill>
                <a:latin typeface="Noto Sans" pitchFamily="34" charset="0"/>
                <a:ea typeface="Noto Sans" pitchFamily="34" charset="-122"/>
                <a:cs typeface="Noto Sans" pitchFamily="34" charset="-120"/>
              </a:rPr>
              <a:t>Mexatron modul va robotlarni modellashtirish · Amaliyot №5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40F"/>
                </a:solidFill>
                <a:latin typeface="Noto Sans" pitchFamily="34" charset="0"/>
                <a:ea typeface="Noto Sans" pitchFamily="34" charset="-122"/>
                <a:cs typeface="Noto Sans" pitchFamily="34" charset="-120"/>
              </a:rPr>
              <a:t>5 · DINAMIK MODEL</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B57"/>
                </a:solidFill>
                <a:latin typeface="Noto Serif" pitchFamily="18" charset="0"/>
                <a:ea typeface="Noto Serif" pitchFamily="18" charset="-122"/>
                <a:cs typeface="Noto Serif" pitchFamily="18" charset="-120"/>
              </a:rPr>
              <a:t>Strukturaviy blok-sxema va uzatish funksiyasi</a:t>
            </a:r>
            <a:endParaRPr lang="en-US" sz="3200" dirty="0"/>
          </a:p>
        </p:txBody>
      </p:sp>
      <p:sp>
        <p:nvSpPr>
          <p:cNvPr id="4" name="Shape 2"/>
          <p:cNvSpPr/>
          <p:nvPr/>
        </p:nvSpPr>
        <p:spPr>
          <a:xfrm>
            <a:off x="812800" y="1803400"/>
            <a:ext cx="10566400" cy="2362200"/>
          </a:xfrm>
          <a:prstGeom prst="roundRect">
            <a:avLst>
              <a:gd name="adj" fmla="val 4301"/>
            </a:avLst>
          </a:prstGeom>
          <a:solidFill>
            <a:srgbClr val="FFFFFF"/>
          </a:solidFill>
          <a:ln/>
        </p:spPr>
      </p:sp>
      <p:pic>
        <p:nvPicPr>
          <p:cNvPr id="5" name="Image 0" descr="Dvigatel–uzatma–yuklama blok-sxemasi">    </p:cNvPr>
          <p:cNvPicPr>
            <a:picLocks noChangeAspect="1"/>
          </p:cNvPicPr>
          <p:nvPr/>
        </p:nvPicPr>
        <p:blipFill>
          <a:blip r:embed="rId1"/>
          <a:srcRect l="-63" r="-63" t="0" b="0"/>
          <a:stretch/>
        </p:blipFill>
        <p:spPr>
          <a:xfrm>
            <a:off x="2444750" y="1905000"/>
            <a:ext cx="7302500" cy="2159000"/>
          </a:xfrm>
          <a:prstGeom prst="rect">
            <a:avLst/>
          </a:prstGeom>
        </p:spPr>
      </p:pic>
      <p:sp>
        <p:nvSpPr>
          <p:cNvPr id="6" name="Shape 3"/>
          <p:cNvSpPr/>
          <p:nvPr/>
        </p:nvSpPr>
        <p:spPr>
          <a:xfrm>
            <a:off x="815975" y="4422775"/>
            <a:ext cx="10560050" cy="1032510"/>
          </a:xfrm>
          <a:prstGeom prst="roundRect">
            <a:avLst>
              <a:gd name="adj" fmla="val 9533"/>
            </a:avLst>
          </a:prstGeom>
          <a:solidFill>
            <a:srgbClr val="FCFBF8"/>
          </a:solidFill>
          <a:ln w="6350">
            <a:solidFill>
              <a:srgbClr val="D6DBE4"/>
            </a:solidFill>
            <a:prstDash val="solid"/>
          </a:ln>
        </p:spPr>
      </p:sp>
      <p:pic>
        <p:nvPicPr>
          <p:cNvPr id="7" name="Image 1" descr="W(s) = ρkt / s[(Ls+R)(Jeq s+beq)+kt ke]">    </p:cNvPr>
          <p:cNvPicPr>
            <a:picLocks noChangeAspect="1"/>
          </p:cNvPicPr>
          <p:nvPr/>
        </p:nvPicPr>
        <p:blipFill>
          <a:blip r:embed="rId2"/>
          <a:srcRect l="0" r="0" t="-150" b="-150"/>
          <a:stretch/>
        </p:blipFill>
        <p:spPr>
          <a:xfrm>
            <a:off x="3606800" y="4577079"/>
            <a:ext cx="4978400" cy="723900"/>
          </a:xfrm>
          <a:prstGeom prst="rect">
            <a:avLst/>
          </a:prstGeom>
        </p:spPr>
      </p:pic>
      <p:sp>
        <p:nvSpPr>
          <p:cNvPr id="8" name="Text 4"/>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7"/>
                </a:solidFill>
                <a:latin typeface="Noto Sans" pitchFamily="34" charset="0"/>
                <a:ea typeface="Noto Sans" pitchFamily="34" charset="-122"/>
                <a:cs typeface="Noto Sans" pitchFamily="34" charset="-120"/>
              </a:rPr>
              <a:t>Mexatron modul va robotlarni modellashtirish · Amaliyot №5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40F"/>
                </a:solidFill>
                <a:latin typeface="Noto Sans" pitchFamily="34" charset="0"/>
                <a:ea typeface="Noto Sans" pitchFamily="34" charset="-122"/>
                <a:cs typeface="Noto Sans" pitchFamily="34" charset="-120"/>
              </a:rPr>
              <a:t>5 · DINAMIK MODEL</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B57"/>
                </a:solidFill>
                <a:latin typeface="Noto Serif" pitchFamily="18" charset="0"/>
                <a:ea typeface="Noto Serif" pitchFamily="18" charset="-122"/>
                <a:cs typeface="Noto Serif" pitchFamily="18" charset="-120"/>
              </a:rPr>
              <a:t>Holatlar fazosidagi model</a:t>
            </a:r>
            <a:endParaRPr lang="en-US" sz="3200" dirty="0"/>
          </a:p>
        </p:txBody>
      </p:sp>
      <p:sp>
        <p:nvSpPr>
          <p:cNvPr id="4" name="Text 2"/>
          <p:cNvSpPr/>
          <p:nvPr/>
        </p:nvSpPr>
        <p:spPr>
          <a:xfrm>
            <a:off x="812800" y="180340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B57"/>
                </a:solidFill>
                <a:latin typeface="Noto Sans" pitchFamily="34" charset="0"/>
                <a:ea typeface="Noto Sans" pitchFamily="34" charset="-122"/>
                <a:cs typeface="Noto Sans" pitchFamily="34" charset="-120"/>
              </a:rPr>
              <a:t>Holat vektori: </a:t>
            </a:r>
            <a:r>
              <a:rPr lang="en-US" sz="1600" b="1" dirty="0">
                <a:solidFill>
                  <a:srgbClr val="142B57"/>
                </a:solidFill>
                <a:latin typeface="Noto Sans" pitchFamily="34" charset="0"/>
                <a:ea typeface="Noto Sans" pitchFamily="34" charset="-122"/>
                <a:cs typeface="Noto Sans" pitchFamily="34" charset="-120"/>
              </a:rPr>
              <a:t>x</a:t>
            </a:r>
            <a:r>
              <a:rPr lang="en-US" sz="1600" dirty="0">
                <a:solidFill>
                  <a:srgbClr val="142B57"/>
                </a:solidFill>
                <a:latin typeface="Noto Sans" pitchFamily="34" charset="0"/>
                <a:ea typeface="Noto Sans" pitchFamily="34" charset="-122"/>
                <a:cs typeface="Noto Sans" pitchFamily="34" charset="-120"/>
              </a:rPr>
              <a:t> = (x, v, i)ᵀ — ishchi organ oʻrni, tezligi va yakor toki; ωₘ = v / ρ.</a:t>
            </a:r>
            <a:endParaRPr lang="en-US" sz="1600" dirty="0"/>
          </a:p>
        </p:txBody>
      </p:sp>
      <p:sp>
        <p:nvSpPr>
          <p:cNvPr id="5" name="Shape 3"/>
          <p:cNvSpPr/>
          <p:nvPr/>
        </p:nvSpPr>
        <p:spPr>
          <a:xfrm>
            <a:off x="815975" y="2345054"/>
            <a:ext cx="10560050" cy="2429510"/>
          </a:xfrm>
          <a:prstGeom prst="roundRect">
            <a:avLst>
              <a:gd name="adj" fmla="val 4051"/>
            </a:avLst>
          </a:prstGeom>
          <a:solidFill>
            <a:srgbClr val="FCFBF8"/>
          </a:solidFill>
          <a:ln w="6350">
            <a:solidFill>
              <a:srgbClr val="D6DBE4"/>
            </a:solidFill>
            <a:prstDash val="solid"/>
          </a:ln>
        </p:spPr>
      </p:sp>
      <p:pic>
        <p:nvPicPr>
          <p:cNvPr id="6" name="Image 0" descr="Holatlar fazosi modeli">    </p:cNvPr>
          <p:cNvPicPr>
            <a:picLocks noChangeAspect="1"/>
          </p:cNvPicPr>
          <p:nvPr/>
        </p:nvPicPr>
        <p:blipFill>
          <a:blip r:embed="rId1"/>
          <a:srcRect l="0" r="0" t="-76" b="-76"/>
          <a:stretch/>
        </p:blipFill>
        <p:spPr>
          <a:xfrm>
            <a:off x="1968500" y="2600958"/>
            <a:ext cx="8255000" cy="1917700"/>
          </a:xfrm>
          <a:prstGeom prst="rect">
            <a:avLst/>
          </a:prstGeom>
        </p:spPr>
      </p:pic>
      <p:sp>
        <p:nvSpPr>
          <p:cNvPr id="7" name="Text 4"/>
          <p:cNvSpPr/>
          <p:nvPr/>
        </p:nvSpPr>
        <p:spPr>
          <a:xfrm>
            <a:off x="812800" y="5031742"/>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B57"/>
                </a:solidFill>
                <a:latin typeface="Noto Sans" pitchFamily="34" charset="0"/>
                <a:ea typeface="Noto Sans" pitchFamily="34" charset="-122"/>
                <a:cs typeface="Noto Sans" pitchFamily="34" charset="-120"/>
              </a:rPr>
              <a:t>Chiqish: y = x = (1 0 0)·</a:t>
            </a:r>
            <a:r>
              <a:rPr lang="en-US" sz="1600" b="1" dirty="0">
                <a:solidFill>
                  <a:srgbClr val="142B57"/>
                </a:solidFill>
                <a:latin typeface="Noto Sans" pitchFamily="34" charset="0"/>
                <a:ea typeface="Noto Sans" pitchFamily="34" charset="-122"/>
                <a:cs typeface="Noto Sans" pitchFamily="34" charset="-120"/>
              </a:rPr>
              <a:t>x</a:t>
            </a:r>
            <a:r>
              <a:rPr lang="en-US" sz="1600" dirty="0">
                <a:solidFill>
                  <a:srgbClr val="142B57"/>
                </a:solidFill>
                <a:latin typeface="Noto Sans" pitchFamily="34" charset="0"/>
                <a:ea typeface="Noto Sans" pitchFamily="34" charset="-122"/>
                <a:cs typeface="Noto Sans" pitchFamily="34" charset="-120"/>
              </a:rPr>
              <a:t> — chiziqli enkoder oʻlchaydigan oʻrin.</a:t>
            </a:r>
            <a:endParaRPr lang="en-US" sz="1600" dirty="0"/>
          </a:p>
        </p:txBody>
      </p:sp>
      <p:sp>
        <p:nvSpPr>
          <p:cNvPr id="8" name="Text 5"/>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7"/>
                </a:solidFill>
                <a:latin typeface="Noto Sans" pitchFamily="34" charset="0"/>
                <a:ea typeface="Noto Sans" pitchFamily="34" charset="-122"/>
                <a:cs typeface="Noto Sans" pitchFamily="34" charset="-120"/>
              </a:rPr>
              <a:t>Mexatron modul va robotlarni modellashtirish · Amaliyot №5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40F"/>
                </a:solidFill>
                <a:latin typeface="Noto Sans" pitchFamily="34" charset="0"/>
                <a:ea typeface="Noto Sans" pitchFamily="34" charset="-122"/>
                <a:cs typeface="Noto Sans" pitchFamily="34" charset="-120"/>
              </a:rPr>
              <a:t>6 · NOCHIZIQLI MEXANIZM</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B57"/>
                </a:solidFill>
                <a:latin typeface="Noto Serif" pitchFamily="18" charset="0"/>
                <a:ea typeface="Noto Serif" pitchFamily="18" charset="-122"/>
                <a:cs typeface="Noto Serif" pitchFamily="18" charset="-120"/>
              </a:rPr>
              <a:t>Krivoship–polzun: kinematik tahlil</a:t>
            </a:r>
            <a:endParaRPr lang="en-US" sz="3200" dirty="0"/>
          </a:p>
        </p:txBody>
      </p:sp>
      <p:sp>
        <p:nvSpPr>
          <p:cNvPr id="4" name="Shape 2"/>
          <p:cNvSpPr/>
          <p:nvPr/>
        </p:nvSpPr>
        <p:spPr>
          <a:xfrm>
            <a:off x="812800" y="2639058"/>
            <a:ext cx="4876800" cy="1847850"/>
          </a:xfrm>
          <a:prstGeom prst="roundRect">
            <a:avLst>
              <a:gd name="adj" fmla="val 5498"/>
            </a:avLst>
          </a:prstGeom>
          <a:solidFill>
            <a:srgbClr val="FFFFFF"/>
          </a:solidFill>
          <a:ln/>
        </p:spPr>
      </p:sp>
      <p:pic>
        <p:nvPicPr>
          <p:cNvPr id="5" name="Image 0" descr="Krivoship–polzun mexanizmi sxemasi">    </p:cNvPr>
          <p:cNvPicPr>
            <a:picLocks noChangeAspect="1"/>
          </p:cNvPicPr>
          <p:nvPr/>
        </p:nvPicPr>
        <p:blipFill>
          <a:blip r:embed="rId1"/>
          <a:srcRect l="-77" r="-77" t="0" b="0"/>
          <a:stretch/>
        </p:blipFill>
        <p:spPr>
          <a:xfrm>
            <a:off x="965200" y="2791458"/>
            <a:ext cx="4572000" cy="1543050"/>
          </a:xfrm>
          <a:prstGeom prst="rect">
            <a:avLst/>
          </a:prstGeom>
        </p:spPr>
      </p:pic>
      <p:sp>
        <p:nvSpPr>
          <p:cNvPr id="6" name="Shape 3"/>
          <p:cNvSpPr/>
          <p:nvPr/>
        </p:nvSpPr>
        <p:spPr>
          <a:xfrm>
            <a:off x="5946775" y="1806575"/>
            <a:ext cx="5429250" cy="1737360"/>
          </a:xfrm>
          <a:prstGeom prst="roundRect">
            <a:avLst>
              <a:gd name="adj" fmla="val 5665"/>
            </a:avLst>
          </a:prstGeom>
          <a:solidFill>
            <a:srgbClr val="FCFBF8"/>
          </a:solidFill>
          <a:ln w="6350">
            <a:solidFill>
              <a:srgbClr val="D6DBE4"/>
            </a:solidFill>
            <a:prstDash val="solid"/>
          </a:ln>
        </p:spPr>
      </p:sp>
      <p:pic>
        <p:nvPicPr>
          <p:cNvPr id="7" name="Image 1" descr="x(φ) va ρ(φ) formulalari">    </p:cNvPr>
          <p:cNvPicPr>
            <a:picLocks noChangeAspect="1"/>
          </p:cNvPicPr>
          <p:nvPr/>
        </p:nvPicPr>
        <p:blipFill>
          <a:blip r:embed="rId2"/>
          <a:srcRect l="-15" r="-15" t="0" b="0"/>
          <a:stretch/>
        </p:blipFill>
        <p:spPr>
          <a:xfrm>
            <a:off x="6202680" y="2062479"/>
            <a:ext cx="4572000" cy="1225550"/>
          </a:xfrm>
          <a:prstGeom prst="rect">
            <a:avLst/>
          </a:prstGeom>
        </p:spPr>
      </p:pic>
      <p:sp>
        <p:nvSpPr>
          <p:cNvPr id="8" name="Shape 4"/>
          <p:cNvSpPr/>
          <p:nvPr/>
        </p:nvSpPr>
        <p:spPr>
          <a:xfrm>
            <a:off x="5946775" y="3702683"/>
            <a:ext cx="5429250" cy="1616710"/>
          </a:xfrm>
          <a:prstGeom prst="roundRect">
            <a:avLst>
              <a:gd name="adj" fmla="val 6088"/>
            </a:avLst>
          </a:prstGeom>
          <a:solidFill>
            <a:srgbClr val="FCFBF8"/>
          </a:solidFill>
          <a:ln w="6350">
            <a:solidFill>
              <a:srgbClr val="D6DBE4"/>
            </a:solidFill>
            <a:prstDash val="solid"/>
          </a:ln>
        </p:spPr>
      </p:sp>
      <p:pic>
        <p:nvPicPr>
          <p:cNvPr id="9" name="Image 2" descr="Taqribiy tezlik va tezlanish">    </p:cNvPr>
          <p:cNvPicPr>
            <a:picLocks noChangeAspect="1"/>
          </p:cNvPicPr>
          <p:nvPr/>
        </p:nvPicPr>
        <p:blipFill>
          <a:blip r:embed="rId3"/>
          <a:srcRect l="0" r="0" t="-57" b="-57"/>
          <a:stretch/>
        </p:blipFill>
        <p:spPr>
          <a:xfrm>
            <a:off x="6202680" y="3958592"/>
            <a:ext cx="3302000" cy="1104900"/>
          </a:xfrm>
          <a:prstGeom prst="rect">
            <a:avLst/>
          </a:prstGeom>
        </p:spPr>
      </p:pic>
      <p:sp>
        <p:nvSpPr>
          <p:cNvPr id="10" name="Text 5"/>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7"/>
                </a:solidFill>
                <a:latin typeface="Noto Sans" pitchFamily="34" charset="0"/>
                <a:ea typeface="Noto Sans" pitchFamily="34" charset="-122"/>
                <a:cs typeface="Noto Sans" pitchFamily="34" charset="-120"/>
              </a:rPr>
              <a:t>Mexatron modul va robotlarni modellashtirish · Amaliyot №5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40F"/>
                </a:solidFill>
                <a:latin typeface="Noto Sans" pitchFamily="34" charset="0"/>
                <a:ea typeface="Noto Sans" pitchFamily="34" charset="-122"/>
                <a:cs typeface="Noto Sans" pitchFamily="34" charset="-120"/>
              </a:rPr>
              <a:t>6 · NOCHIZIQLI MEXANIZM</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B57"/>
                </a:solidFill>
                <a:latin typeface="Noto Serif" pitchFamily="18" charset="0"/>
                <a:ea typeface="Noto Serif" pitchFamily="18" charset="-122"/>
                <a:cs typeface="Noto Serif" pitchFamily="18" charset="-120"/>
              </a:rPr>
              <a:t>Oʻzgaruvchan keltirilgan inersiya</a:t>
            </a:r>
            <a:endParaRPr lang="en-US" sz="3200" dirty="0"/>
          </a:p>
        </p:txBody>
      </p:sp>
      <p:sp>
        <p:nvSpPr>
          <p:cNvPr id="4" name="Shape 2"/>
          <p:cNvSpPr/>
          <p:nvPr/>
        </p:nvSpPr>
        <p:spPr>
          <a:xfrm>
            <a:off x="815975" y="1806575"/>
            <a:ext cx="10560050" cy="1565910"/>
          </a:xfrm>
          <a:prstGeom prst="roundRect">
            <a:avLst>
              <a:gd name="adj" fmla="val 6285"/>
            </a:avLst>
          </a:prstGeom>
          <a:solidFill>
            <a:srgbClr val="FCFBF8"/>
          </a:solidFill>
          <a:ln w="6350">
            <a:solidFill>
              <a:srgbClr val="D6DBE4"/>
            </a:solidFill>
            <a:prstDash val="solid"/>
          </a:ln>
        </p:spPr>
      </p:sp>
      <p:pic>
        <p:nvPicPr>
          <p:cNvPr id="5" name="Image 0" descr="J(φ) va harakat tenglamasi">    </p:cNvPr>
          <p:cNvPicPr>
            <a:picLocks noChangeAspect="1"/>
          </p:cNvPicPr>
          <p:nvPr/>
        </p:nvPicPr>
        <p:blipFill>
          <a:blip r:embed="rId1"/>
          <a:srcRect l="0" r="0" t="0" b="0"/>
          <a:stretch/>
        </p:blipFill>
        <p:spPr>
          <a:xfrm>
            <a:off x="3819525" y="2062479"/>
            <a:ext cx="4552950" cy="1054100"/>
          </a:xfrm>
          <a:prstGeom prst="rect">
            <a:avLst/>
          </a:prstGeom>
        </p:spPr>
      </p:pic>
      <p:sp>
        <p:nvSpPr>
          <p:cNvPr id="6" name="Shape 3"/>
          <p:cNvSpPr/>
          <p:nvPr/>
        </p:nvSpPr>
        <p:spPr>
          <a:xfrm>
            <a:off x="815975" y="3632833"/>
            <a:ext cx="3380317" cy="1687830"/>
          </a:xfrm>
          <a:prstGeom prst="roundRect">
            <a:avLst>
              <a:gd name="adj" fmla="val 5831"/>
            </a:avLst>
          </a:prstGeom>
          <a:solidFill>
            <a:srgbClr val="FCFBF8"/>
          </a:solidFill>
          <a:ln w="6350">
            <a:solidFill>
              <a:srgbClr val="D6DBE4"/>
            </a:solidFill>
            <a:prstDash val="solid"/>
          </a:ln>
        </p:spPr>
      </p:sp>
      <p:sp>
        <p:nvSpPr>
          <p:cNvPr id="7" name="Text 4"/>
          <p:cNvSpPr/>
          <p:nvPr/>
        </p:nvSpPr>
        <p:spPr>
          <a:xfrm>
            <a:off x="1071880" y="3888742"/>
            <a:ext cx="295456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B57"/>
                </a:solidFill>
                <a:latin typeface="Noto Sans" pitchFamily="34" charset="0"/>
                <a:ea typeface="Noto Sans" pitchFamily="34" charset="-122"/>
                <a:cs typeface="Noto Sans" pitchFamily="34" charset="-120"/>
              </a:rPr>
              <a:t>Chetki holatlar</a:t>
            </a:r>
            <a:endParaRPr lang="en-US" sz="1800" dirty="0"/>
          </a:p>
        </p:txBody>
      </p:sp>
      <p:sp>
        <p:nvSpPr>
          <p:cNvPr id="8" name="Text 5"/>
          <p:cNvSpPr/>
          <p:nvPr/>
        </p:nvSpPr>
        <p:spPr>
          <a:xfrm>
            <a:off x="1071880" y="4264658"/>
            <a:ext cx="295456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B4862"/>
                </a:solidFill>
                <a:latin typeface="Noto Sans" pitchFamily="34" charset="0"/>
                <a:ea typeface="Noto Sans" pitchFamily="34" charset="-122"/>
                <a:cs typeface="Noto Sans" pitchFamily="34" charset="-120"/>
              </a:rPr>
              <a:t>φ = 0, π da ρ = 0, demak J = J₀ — polzun dvigatelga «sezilmaydi».</a:t>
            </a:r>
            <a:endParaRPr lang="en-US" sz="1500" dirty="0"/>
          </a:p>
        </p:txBody>
      </p:sp>
      <p:sp>
        <p:nvSpPr>
          <p:cNvPr id="9" name="Shape 6"/>
          <p:cNvSpPr/>
          <p:nvPr/>
        </p:nvSpPr>
        <p:spPr>
          <a:xfrm>
            <a:off x="4405842" y="3632833"/>
            <a:ext cx="3380317" cy="1687830"/>
          </a:xfrm>
          <a:prstGeom prst="roundRect">
            <a:avLst>
              <a:gd name="adj" fmla="val 5831"/>
            </a:avLst>
          </a:prstGeom>
          <a:solidFill>
            <a:srgbClr val="FCFBF8"/>
          </a:solidFill>
          <a:ln w="6350">
            <a:solidFill>
              <a:srgbClr val="D6DBE4"/>
            </a:solidFill>
            <a:prstDash val="solid"/>
          </a:ln>
        </p:spPr>
      </p:sp>
      <p:sp>
        <p:nvSpPr>
          <p:cNvPr id="10" name="Text 7"/>
          <p:cNvSpPr/>
          <p:nvPr/>
        </p:nvSpPr>
        <p:spPr>
          <a:xfrm>
            <a:off x="4661746" y="3888742"/>
            <a:ext cx="295456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B57"/>
                </a:solidFill>
                <a:latin typeface="Noto Sans" pitchFamily="34" charset="0"/>
                <a:ea typeface="Noto Sans" pitchFamily="34" charset="-122"/>
                <a:cs typeface="Noto Sans" pitchFamily="34" charset="-120"/>
              </a:rPr>
              <a:t>Oʻrta holatlar</a:t>
            </a:r>
            <a:endParaRPr lang="en-US" sz="1800" dirty="0"/>
          </a:p>
        </p:txBody>
      </p:sp>
      <p:sp>
        <p:nvSpPr>
          <p:cNvPr id="11" name="Text 8"/>
          <p:cNvSpPr/>
          <p:nvPr/>
        </p:nvSpPr>
        <p:spPr>
          <a:xfrm>
            <a:off x="4661746" y="4264658"/>
            <a:ext cx="295456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B4862"/>
                </a:solidFill>
                <a:latin typeface="Noto Sans" pitchFamily="34" charset="0"/>
                <a:ea typeface="Noto Sans" pitchFamily="34" charset="-122"/>
                <a:cs typeface="Noto Sans" pitchFamily="34" charset="-120"/>
              </a:rPr>
              <a:t>ρ va J(φ) maksimal; ρρ′φ̇² — markazdan qochma tipidagi moment.</a:t>
            </a:r>
            <a:endParaRPr lang="en-US" sz="1500" dirty="0"/>
          </a:p>
        </p:txBody>
      </p:sp>
      <p:sp>
        <p:nvSpPr>
          <p:cNvPr id="12" name="Shape 9"/>
          <p:cNvSpPr/>
          <p:nvPr/>
        </p:nvSpPr>
        <p:spPr>
          <a:xfrm>
            <a:off x="7995708" y="3632833"/>
            <a:ext cx="3380317" cy="1687830"/>
          </a:xfrm>
          <a:prstGeom prst="roundRect">
            <a:avLst>
              <a:gd name="adj" fmla="val 5831"/>
            </a:avLst>
          </a:prstGeom>
          <a:solidFill>
            <a:srgbClr val="FCFBF8"/>
          </a:solidFill>
          <a:ln w="6350">
            <a:solidFill>
              <a:srgbClr val="D6DBE4"/>
            </a:solidFill>
            <a:prstDash val="solid"/>
          </a:ln>
        </p:spPr>
      </p:sp>
      <p:sp>
        <p:nvSpPr>
          <p:cNvPr id="13" name="Text 10"/>
          <p:cNvSpPr/>
          <p:nvPr/>
        </p:nvSpPr>
        <p:spPr>
          <a:xfrm>
            <a:off x="8251613" y="3888742"/>
            <a:ext cx="295456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B57"/>
                </a:solidFill>
                <a:latin typeface="Noto Sans" pitchFamily="34" charset="0"/>
                <a:ea typeface="Noto Sans" pitchFamily="34" charset="-122"/>
                <a:cs typeface="Noto Sans" pitchFamily="34" charset="-120"/>
              </a:rPr>
              <a:t>Yechish</a:t>
            </a:r>
            <a:endParaRPr lang="en-US" sz="1800" dirty="0"/>
          </a:p>
        </p:txBody>
      </p:sp>
      <p:sp>
        <p:nvSpPr>
          <p:cNvPr id="14" name="Text 11"/>
          <p:cNvSpPr/>
          <p:nvPr/>
        </p:nvSpPr>
        <p:spPr>
          <a:xfrm>
            <a:off x="8251613" y="4264658"/>
            <a:ext cx="295456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B4862"/>
                </a:solidFill>
                <a:latin typeface="Noto Sans" pitchFamily="34" charset="0"/>
                <a:ea typeface="Noto Sans" pitchFamily="34" charset="-122"/>
                <a:cs typeface="Noto Sans" pitchFamily="34" charset="-120"/>
              </a:rPr>
              <a:t>Tenglama nochiziqli: sonli integrallash, masalan Runge–Kutta usuli.</a:t>
            </a:r>
            <a:endParaRPr lang="en-US" sz="1500" dirty="0"/>
          </a:p>
        </p:txBody>
      </p:sp>
      <p:sp>
        <p:nvSpPr>
          <p:cNvPr id="15" name="Text 12"/>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7"/>
                </a:solidFill>
                <a:latin typeface="Noto Sans" pitchFamily="34" charset="0"/>
                <a:ea typeface="Noto Sans" pitchFamily="34" charset="-122"/>
                <a:cs typeface="Noto Sans" pitchFamily="34" charset="-120"/>
              </a:rPr>
              <a:t>Mexatron modul va robotlarni modellashtirish · Amaliyot №5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40F"/>
                </a:solidFill>
                <a:latin typeface="Noto Sans" pitchFamily="34" charset="0"/>
                <a:ea typeface="Noto Sans" pitchFamily="34" charset="-122"/>
                <a:cs typeface="Noto Sans" pitchFamily="34" charset="-120"/>
              </a:rPr>
              <a:t>7 · REAL UZATMALAR</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B57"/>
                </a:solidFill>
                <a:latin typeface="Noto Serif" pitchFamily="18" charset="0"/>
                <a:ea typeface="Noto Serif" pitchFamily="18" charset="-122"/>
                <a:cs typeface="Noto Serif" pitchFamily="18" charset="-120"/>
              </a:rPr>
              <a:t>Real uzatmalarning nochiziqli effektlari</a:t>
            </a:r>
            <a:endParaRPr lang="en-US" sz="3200" dirty="0"/>
          </a:p>
        </p:txBody>
      </p:sp>
      <p:sp>
        <p:nvSpPr>
          <p:cNvPr id="4" name="Shape 2"/>
          <p:cNvSpPr/>
          <p:nvPr/>
        </p:nvSpPr>
        <p:spPr>
          <a:xfrm>
            <a:off x="815975" y="1806575"/>
            <a:ext cx="3380317" cy="2802890"/>
          </a:xfrm>
          <a:prstGeom prst="roundRect">
            <a:avLst>
              <a:gd name="adj" fmla="val 3512"/>
            </a:avLst>
          </a:prstGeom>
          <a:solidFill>
            <a:srgbClr val="FCFBF8"/>
          </a:solidFill>
          <a:ln w="6350">
            <a:solidFill>
              <a:srgbClr val="D6DBE4"/>
            </a:solidFill>
            <a:prstDash val="solid"/>
          </a:ln>
        </p:spPr>
      </p:sp>
      <p:sp>
        <p:nvSpPr>
          <p:cNvPr id="5" name="Text 3"/>
          <p:cNvSpPr/>
          <p:nvPr/>
        </p:nvSpPr>
        <p:spPr>
          <a:xfrm>
            <a:off x="1071880" y="2062485"/>
            <a:ext cx="295456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B57"/>
                </a:solidFill>
                <a:latin typeface="Noto Sans" pitchFamily="34" charset="0"/>
                <a:ea typeface="Noto Sans" pitchFamily="34" charset="-122"/>
                <a:cs typeface="Noto Sans" pitchFamily="34" charset="-120"/>
              </a:rPr>
              <a:t>Elastiklik</a:t>
            </a:r>
            <a:endParaRPr lang="en-US" sz="1800" dirty="0"/>
          </a:p>
        </p:txBody>
      </p:sp>
      <p:sp>
        <p:nvSpPr>
          <p:cNvPr id="6" name="Shape 4"/>
          <p:cNvSpPr/>
          <p:nvPr/>
        </p:nvSpPr>
        <p:spPr>
          <a:xfrm>
            <a:off x="1071880" y="2438400"/>
            <a:ext cx="2868507" cy="908050"/>
          </a:xfrm>
          <a:prstGeom prst="roundRect">
            <a:avLst>
              <a:gd name="adj" fmla="val 8392"/>
            </a:avLst>
          </a:prstGeom>
          <a:solidFill>
            <a:srgbClr val="FFFFFF"/>
          </a:solidFill>
          <a:ln/>
        </p:spPr>
      </p:sp>
      <p:pic>
        <p:nvPicPr>
          <p:cNvPr id="7" name="Image 0" descr="Elastiklik">    </p:cNvPr>
          <p:cNvPicPr>
            <a:picLocks noChangeAspect="1"/>
          </p:cNvPicPr>
          <p:nvPr/>
        </p:nvPicPr>
        <p:blipFill>
          <a:blip r:embed="rId1"/>
          <a:srcRect l="0" r="0" t="-158" b="-158"/>
          <a:stretch/>
        </p:blipFill>
        <p:spPr>
          <a:xfrm>
            <a:off x="1173480" y="2540000"/>
            <a:ext cx="2665307" cy="704850"/>
          </a:xfrm>
          <a:prstGeom prst="rect">
            <a:avLst/>
          </a:prstGeom>
        </p:spPr>
      </p:pic>
      <p:sp>
        <p:nvSpPr>
          <p:cNvPr id="8" name="Text 5"/>
          <p:cNvSpPr/>
          <p:nvPr/>
        </p:nvSpPr>
        <p:spPr>
          <a:xfrm>
            <a:off x="1071880" y="3448050"/>
            <a:ext cx="2954562"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862"/>
                </a:solidFill>
                <a:latin typeface="Noto Sans" pitchFamily="34" charset="0"/>
                <a:ea typeface="Noto Sans" pitchFamily="34" charset="-122"/>
                <a:cs typeface="Noto Sans" pitchFamily="34" charset="-120"/>
              </a:rPr>
              <a:t>Ikki massali model: tezlik konturining kesish chastotasi ωᵣ dan ancha past tanlanadi.</a:t>
            </a:r>
            <a:endParaRPr lang="en-US" sz="1400" dirty="0"/>
          </a:p>
        </p:txBody>
      </p:sp>
      <p:sp>
        <p:nvSpPr>
          <p:cNvPr id="9" name="Shape 6"/>
          <p:cNvSpPr/>
          <p:nvPr/>
        </p:nvSpPr>
        <p:spPr>
          <a:xfrm>
            <a:off x="4405842" y="1806575"/>
            <a:ext cx="3380317" cy="2802890"/>
          </a:xfrm>
          <a:prstGeom prst="roundRect">
            <a:avLst>
              <a:gd name="adj" fmla="val 3512"/>
            </a:avLst>
          </a:prstGeom>
          <a:solidFill>
            <a:srgbClr val="FCFBF8"/>
          </a:solidFill>
          <a:ln w="6350">
            <a:solidFill>
              <a:srgbClr val="D6DBE4"/>
            </a:solidFill>
            <a:prstDash val="solid"/>
          </a:ln>
        </p:spPr>
      </p:sp>
      <p:sp>
        <p:nvSpPr>
          <p:cNvPr id="10" name="Text 7"/>
          <p:cNvSpPr/>
          <p:nvPr/>
        </p:nvSpPr>
        <p:spPr>
          <a:xfrm>
            <a:off x="4661746" y="2062485"/>
            <a:ext cx="295456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B57"/>
                </a:solidFill>
                <a:latin typeface="Noto Sans" pitchFamily="34" charset="0"/>
                <a:ea typeface="Noto Sans" pitchFamily="34" charset="-122"/>
                <a:cs typeface="Noto Sans" pitchFamily="34" charset="-120"/>
              </a:rPr>
              <a:t>Lyuft</a:t>
            </a:r>
            <a:endParaRPr lang="en-US" sz="1800" dirty="0"/>
          </a:p>
        </p:txBody>
      </p:sp>
      <p:sp>
        <p:nvSpPr>
          <p:cNvPr id="11" name="Shape 8"/>
          <p:cNvSpPr/>
          <p:nvPr/>
        </p:nvSpPr>
        <p:spPr>
          <a:xfrm>
            <a:off x="4661746" y="2438400"/>
            <a:ext cx="2868507" cy="1066800"/>
          </a:xfrm>
          <a:prstGeom prst="roundRect">
            <a:avLst>
              <a:gd name="adj" fmla="val 7143"/>
            </a:avLst>
          </a:prstGeom>
          <a:solidFill>
            <a:srgbClr val="FFFFFF"/>
          </a:solidFill>
          <a:ln/>
        </p:spPr>
      </p:sp>
      <p:pic>
        <p:nvPicPr>
          <p:cNvPr id="12" name="Image 1" descr="Lyuft">    </p:cNvPr>
          <p:cNvPicPr>
            <a:picLocks noChangeAspect="1"/>
          </p:cNvPicPr>
          <p:nvPr/>
        </p:nvPicPr>
        <p:blipFill>
          <a:blip r:embed="rId2"/>
          <a:srcRect l="0" r="0" t="-7" b="-7"/>
          <a:stretch/>
        </p:blipFill>
        <p:spPr>
          <a:xfrm>
            <a:off x="4763346" y="2540000"/>
            <a:ext cx="2665307" cy="863600"/>
          </a:xfrm>
          <a:prstGeom prst="rect">
            <a:avLst/>
          </a:prstGeom>
        </p:spPr>
      </p:pic>
      <p:sp>
        <p:nvSpPr>
          <p:cNvPr id="13" name="Text 9"/>
          <p:cNvSpPr/>
          <p:nvPr/>
        </p:nvSpPr>
        <p:spPr>
          <a:xfrm>
            <a:off x="4661746" y="3606800"/>
            <a:ext cx="2954562"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862"/>
                </a:solidFill>
                <a:latin typeface="Noto Sans" pitchFamily="34" charset="0"/>
                <a:ea typeface="Noto Sans" pitchFamily="34" charset="-122"/>
                <a:cs typeface="Noto Sans" pitchFamily="34" charset="-120"/>
              </a:rPr>
              <a:t>Tishlar orasidagi tirqish 2δ: oʻlik zona. Oldindan zoʻriqtirish bilan yoʻqotiladi.</a:t>
            </a:r>
            <a:endParaRPr lang="en-US" sz="1400" dirty="0"/>
          </a:p>
        </p:txBody>
      </p:sp>
      <p:sp>
        <p:nvSpPr>
          <p:cNvPr id="14" name="Shape 10"/>
          <p:cNvSpPr/>
          <p:nvPr/>
        </p:nvSpPr>
        <p:spPr>
          <a:xfrm>
            <a:off x="7995708" y="1806575"/>
            <a:ext cx="3380317" cy="2802890"/>
          </a:xfrm>
          <a:prstGeom prst="roundRect">
            <a:avLst>
              <a:gd name="adj" fmla="val 3512"/>
            </a:avLst>
          </a:prstGeom>
          <a:solidFill>
            <a:srgbClr val="FCFBF8"/>
          </a:solidFill>
          <a:ln w="6350">
            <a:solidFill>
              <a:srgbClr val="D6DBE4"/>
            </a:solidFill>
            <a:prstDash val="solid"/>
          </a:ln>
        </p:spPr>
      </p:sp>
      <p:sp>
        <p:nvSpPr>
          <p:cNvPr id="15" name="Text 11"/>
          <p:cNvSpPr/>
          <p:nvPr/>
        </p:nvSpPr>
        <p:spPr>
          <a:xfrm>
            <a:off x="8251613" y="2062485"/>
            <a:ext cx="295456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B57"/>
                </a:solidFill>
                <a:latin typeface="Noto Sans" pitchFamily="34" charset="0"/>
                <a:ea typeface="Noto Sans" pitchFamily="34" charset="-122"/>
                <a:cs typeface="Noto Sans" pitchFamily="34" charset="-120"/>
              </a:rPr>
              <a:t>Ishqalanish</a:t>
            </a:r>
            <a:endParaRPr lang="en-US" sz="1800" dirty="0"/>
          </a:p>
        </p:txBody>
      </p:sp>
      <p:sp>
        <p:nvSpPr>
          <p:cNvPr id="16" name="Shape 12"/>
          <p:cNvSpPr/>
          <p:nvPr/>
        </p:nvSpPr>
        <p:spPr>
          <a:xfrm>
            <a:off x="8251613" y="2438400"/>
            <a:ext cx="2868507" cy="635000"/>
          </a:xfrm>
          <a:prstGeom prst="roundRect">
            <a:avLst>
              <a:gd name="adj" fmla="val 12000"/>
            </a:avLst>
          </a:prstGeom>
          <a:solidFill>
            <a:srgbClr val="FFFFFF"/>
          </a:solidFill>
          <a:ln/>
        </p:spPr>
      </p:sp>
      <p:pic>
        <p:nvPicPr>
          <p:cNvPr id="17" name="Image 2" descr="Ishqalanish">    </p:cNvPr>
          <p:cNvPicPr>
            <a:picLocks noChangeAspect="1"/>
          </p:cNvPicPr>
          <p:nvPr/>
        </p:nvPicPr>
        <p:blipFill>
          <a:blip r:embed="rId3"/>
          <a:srcRect l="0" r="0" t="-128" b="-128"/>
          <a:stretch/>
        </p:blipFill>
        <p:spPr>
          <a:xfrm>
            <a:off x="8353213" y="2540000"/>
            <a:ext cx="2665307" cy="431800"/>
          </a:xfrm>
          <a:prstGeom prst="rect">
            <a:avLst/>
          </a:prstGeom>
        </p:spPr>
      </p:pic>
      <p:sp>
        <p:nvSpPr>
          <p:cNvPr id="18" name="Text 13"/>
          <p:cNvSpPr/>
          <p:nvPr/>
        </p:nvSpPr>
        <p:spPr>
          <a:xfrm>
            <a:off x="8251613" y="3175000"/>
            <a:ext cx="2954562"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862"/>
                </a:solidFill>
                <a:latin typeface="Noto Sans" pitchFamily="34" charset="0"/>
                <a:ea typeface="Noto Sans" pitchFamily="34" charset="-122"/>
                <a:cs typeface="Noto Sans" pitchFamily="34" charset="-120"/>
              </a:rPr>
              <a:t>Kulon + qovushqoq ishqalanish: qoldiq xatolik va avtotebranishlar manbai.</a:t>
            </a:r>
            <a:endParaRPr lang="en-US" sz="1400" dirty="0"/>
          </a:p>
        </p:txBody>
      </p:sp>
      <p:sp>
        <p:nvSpPr>
          <p:cNvPr id="19" name="Text 14"/>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7"/>
                </a:solidFill>
                <a:latin typeface="Noto Sans" pitchFamily="34" charset="0"/>
                <a:ea typeface="Noto Sans" pitchFamily="34" charset="-122"/>
                <a:cs typeface="Noto Sans" pitchFamily="34" charset="-120"/>
              </a:rPr>
              <a:t>Mexatron modul va robotlarni modellashtirish · Amaliyot №5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40F"/>
                </a:solidFill>
                <a:latin typeface="Noto Sans" pitchFamily="34" charset="0"/>
                <a:ea typeface="Noto Sans" pitchFamily="34" charset="-122"/>
                <a:cs typeface="Noto Sans" pitchFamily="34" charset="-120"/>
              </a:rPr>
              <a:t>8 · AMALIY MASALALAR</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B57"/>
                </a:solidFill>
                <a:latin typeface="Noto Serif" pitchFamily="18" charset="0"/>
                <a:ea typeface="Noto Serif" pitchFamily="18" charset="-122"/>
                <a:cs typeface="Noto Serif" pitchFamily="18" charset="-120"/>
              </a:rPr>
              <a:t>Masala 1: vint–gayka moduli</a:t>
            </a:r>
            <a:endParaRPr lang="en-US" sz="3200" dirty="0"/>
          </a:p>
        </p:txBody>
      </p:sp>
      <p:sp>
        <p:nvSpPr>
          <p:cNvPr id="4" name="Text 2"/>
          <p:cNvSpPr/>
          <p:nvPr/>
        </p:nvSpPr>
        <p:spPr>
          <a:xfrm>
            <a:off x="812800" y="1803400"/>
            <a:ext cx="528472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B57"/>
                </a:solidFill>
                <a:latin typeface="Noto Sans" pitchFamily="34" charset="0"/>
                <a:ea typeface="Noto Sans" pitchFamily="34" charset="-122"/>
                <a:cs typeface="Noto Sans" pitchFamily="34" charset="-120"/>
              </a:rPr>
              <a:t>Berilgan</a:t>
            </a:r>
            <a:endParaRPr lang="en-US" sz="1800" dirty="0"/>
          </a:p>
        </p:txBody>
      </p:sp>
      <p:sp>
        <p:nvSpPr>
          <p:cNvPr id="5" name="Text 3"/>
          <p:cNvSpPr/>
          <p:nvPr/>
        </p:nvSpPr>
        <p:spPr>
          <a:xfrm>
            <a:off x="812800" y="2166615"/>
            <a:ext cx="528472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862"/>
                </a:solidFill>
                <a:latin typeface="Noto Sans" pitchFamily="34" charset="0"/>
                <a:ea typeface="Noto Sans" pitchFamily="34" charset="-122"/>
                <a:cs typeface="Noto Sans" pitchFamily="34" charset="-120"/>
              </a:rPr>
              <a:t>m = 25 kg, pₕ = 10 mm, d_v = 16 mm, L_v = 0.6 m</a:t>
            </a:r>
            <a:endParaRPr lang="en-US" sz="1400" dirty="0"/>
          </a:p>
        </p:txBody>
      </p:sp>
      <p:sp>
        <p:nvSpPr>
          <p:cNvPr id="6" name="Text 4"/>
          <p:cNvSpPr/>
          <p:nvPr/>
        </p:nvSpPr>
        <p:spPr>
          <a:xfrm>
            <a:off x="812800" y="2504442"/>
            <a:ext cx="528472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862"/>
                </a:solidFill>
                <a:latin typeface="Noto Sans" pitchFamily="34" charset="0"/>
                <a:ea typeface="Noto Sans" pitchFamily="34" charset="-122"/>
                <a:cs typeface="Noto Sans" pitchFamily="34" charset="-120"/>
              </a:rPr>
              <a:t>Jₘ = 0.6·10⁻⁴ kg·m², η = 0.9, μ = 0.05</a:t>
            </a:r>
            <a:endParaRPr lang="en-US" sz="1400" dirty="0"/>
          </a:p>
        </p:txBody>
      </p:sp>
      <p:sp>
        <p:nvSpPr>
          <p:cNvPr id="7" name="Text 5"/>
          <p:cNvSpPr/>
          <p:nvPr/>
        </p:nvSpPr>
        <p:spPr>
          <a:xfrm>
            <a:off x="812800" y="2842258"/>
            <a:ext cx="528472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862"/>
                </a:solidFill>
                <a:latin typeface="Noto Sans" pitchFamily="34" charset="0"/>
                <a:ea typeface="Noto Sans" pitchFamily="34" charset="-122"/>
                <a:cs typeface="Noto Sans" pitchFamily="34" charset="-120"/>
              </a:rPr>
              <a:t>a = 2 m/s², vₘₐₓ = 0.5 m/s, F_L = 0</a:t>
            </a:r>
            <a:endParaRPr lang="en-US" sz="1400" dirty="0"/>
          </a:p>
        </p:txBody>
      </p:sp>
      <p:sp>
        <p:nvSpPr>
          <p:cNvPr id="8" name="Text 6"/>
          <p:cNvSpPr/>
          <p:nvPr/>
        </p:nvSpPr>
        <p:spPr>
          <a:xfrm>
            <a:off x="812800" y="3180085"/>
            <a:ext cx="528472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8540F"/>
                </a:solidFill>
                <a:latin typeface="Noto Sans" pitchFamily="34" charset="0"/>
                <a:ea typeface="Noto Sans" pitchFamily="34" charset="-122"/>
                <a:cs typeface="Noto Sans" pitchFamily="34" charset="-120"/>
              </a:rPr>
              <a:t>ρ = pₕ / 2π ≈ 1.59·10⁻³ m/rad</a:t>
            </a:r>
            <a:endParaRPr lang="en-US" sz="1400" dirty="0"/>
          </a:p>
        </p:txBody>
      </p:sp>
      <p:sp>
        <p:nvSpPr>
          <p:cNvPr id="9" name="Text 7"/>
          <p:cNvSpPr/>
          <p:nvPr/>
        </p:nvSpPr>
        <p:spPr>
          <a:xfrm>
            <a:off x="812800" y="3517900"/>
            <a:ext cx="528472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8540F"/>
                </a:solidFill>
                <a:latin typeface="Noto Sans" pitchFamily="34" charset="0"/>
                <a:ea typeface="Noto Sans" pitchFamily="34" charset="-122"/>
                <a:cs typeface="Noto Sans" pitchFamily="34" charset="-120"/>
              </a:rPr>
              <a:t>J_v ≈ 3.03·10⁻⁵, mρ²/η ≈ 7.04·10⁻⁵ kg·m²</a:t>
            </a:r>
            <a:endParaRPr lang="en-US" sz="1400" dirty="0"/>
          </a:p>
        </p:txBody>
      </p:sp>
      <p:sp>
        <p:nvSpPr>
          <p:cNvPr id="10" name="Shape 8"/>
          <p:cNvSpPr/>
          <p:nvPr/>
        </p:nvSpPr>
        <p:spPr>
          <a:xfrm>
            <a:off x="6251575" y="1806575"/>
            <a:ext cx="2482850" cy="1189990"/>
          </a:xfrm>
          <a:prstGeom prst="roundRect">
            <a:avLst>
              <a:gd name="adj" fmla="val 8271"/>
            </a:avLst>
          </a:prstGeom>
          <a:solidFill>
            <a:srgbClr val="FCFBF8"/>
          </a:solidFill>
          <a:ln w="6350">
            <a:solidFill>
              <a:srgbClr val="D6DBE4"/>
            </a:solidFill>
            <a:prstDash val="solid"/>
          </a:ln>
        </p:spPr>
      </p:sp>
      <p:sp>
        <p:nvSpPr>
          <p:cNvPr id="11" name="Text 9"/>
          <p:cNvSpPr/>
          <p:nvPr/>
        </p:nvSpPr>
        <p:spPr>
          <a:xfrm>
            <a:off x="6456680" y="2011685"/>
            <a:ext cx="2134819" cy="523240"/>
          </a:xfrm>
          <a:prstGeom prst="rect">
            <a:avLst/>
          </a:prstGeom>
          <a:noFill/>
          <a:ln/>
        </p:spPr>
        <p:txBody>
          <a:bodyPr wrap="none" lIns="0" tIns="0" rIns="0" bIns="0" rtlCol="0" anchor="t">
            <a:normAutofit/>
          </a:bodyPr>
          <a:lstStyle/>
          <a:p>
            <a:pPr algn="l" indent="0" marL="0">
              <a:lnSpc>
                <a:spcPts val="3920"/>
              </a:lnSpc>
              <a:buNone/>
            </a:pPr>
            <a:r>
              <a:rPr lang="en-US" sz="2800" b="1" dirty="0">
                <a:solidFill>
                  <a:srgbClr val="142B57"/>
                </a:solidFill>
                <a:latin typeface="Noto Serif" pitchFamily="18" charset="0"/>
                <a:ea typeface="Noto Serif" pitchFamily="18" charset="-122"/>
                <a:cs typeface="Noto Serif" pitchFamily="18" charset="-120"/>
              </a:rPr>
              <a:t>1.61·10⁻⁴</a:t>
            </a:r>
            <a:endParaRPr lang="en-US" sz="2800" dirty="0"/>
          </a:p>
        </p:txBody>
      </p:sp>
      <p:sp>
        <p:nvSpPr>
          <p:cNvPr id="12" name="Text 10"/>
          <p:cNvSpPr/>
          <p:nvPr/>
        </p:nvSpPr>
        <p:spPr>
          <a:xfrm>
            <a:off x="6456680" y="2560315"/>
            <a:ext cx="213481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862"/>
                </a:solidFill>
                <a:latin typeface="Noto Sans" pitchFamily="34" charset="0"/>
                <a:ea typeface="Noto Sans" pitchFamily="34" charset="-122"/>
                <a:cs typeface="Noto Sans" pitchFamily="34" charset="-120"/>
              </a:rPr>
              <a:t>J_eq, kg·m²</a:t>
            </a:r>
            <a:endParaRPr lang="en-US" sz="1300" dirty="0"/>
          </a:p>
        </p:txBody>
      </p:sp>
      <p:sp>
        <p:nvSpPr>
          <p:cNvPr id="13" name="Shape 11"/>
          <p:cNvSpPr/>
          <p:nvPr/>
        </p:nvSpPr>
        <p:spPr>
          <a:xfrm>
            <a:off x="8893175" y="1806575"/>
            <a:ext cx="2482850" cy="1189990"/>
          </a:xfrm>
          <a:prstGeom prst="roundRect">
            <a:avLst>
              <a:gd name="adj" fmla="val 8271"/>
            </a:avLst>
          </a:prstGeom>
          <a:solidFill>
            <a:srgbClr val="FCFBF8"/>
          </a:solidFill>
          <a:ln w="6350">
            <a:solidFill>
              <a:srgbClr val="D6DBE4"/>
            </a:solidFill>
            <a:prstDash val="solid"/>
          </a:ln>
        </p:spPr>
      </p:sp>
      <p:sp>
        <p:nvSpPr>
          <p:cNvPr id="14" name="Text 12"/>
          <p:cNvSpPr/>
          <p:nvPr/>
        </p:nvSpPr>
        <p:spPr>
          <a:xfrm>
            <a:off x="9098280" y="2011685"/>
            <a:ext cx="2134819" cy="523240"/>
          </a:xfrm>
          <a:prstGeom prst="rect">
            <a:avLst/>
          </a:prstGeom>
          <a:noFill/>
          <a:ln/>
        </p:spPr>
        <p:txBody>
          <a:bodyPr wrap="none" lIns="0" tIns="0" rIns="0" bIns="0" rtlCol="0" anchor="t">
            <a:normAutofit/>
          </a:bodyPr>
          <a:lstStyle/>
          <a:p>
            <a:pPr algn="l" indent="0" marL="0">
              <a:lnSpc>
                <a:spcPts val="3920"/>
              </a:lnSpc>
              <a:buNone/>
            </a:pPr>
            <a:r>
              <a:rPr lang="en-US" sz="2800" b="1" dirty="0">
                <a:solidFill>
                  <a:srgbClr val="142B57"/>
                </a:solidFill>
                <a:latin typeface="Noto Serif" pitchFamily="18" charset="0"/>
                <a:ea typeface="Noto Serif" pitchFamily="18" charset="-122"/>
                <a:cs typeface="Noto Serif" pitchFamily="18" charset="-120"/>
              </a:rPr>
              <a:t>0.224</a:t>
            </a:r>
            <a:endParaRPr lang="en-US" sz="2800" dirty="0"/>
          </a:p>
        </p:txBody>
      </p:sp>
      <p:sp>
        <p:nvSpPr>
          <p:cNvPr id="15" name="Text 13"/>
          <p:cNvSpPr/>
          <p:nvPr/>
        </p:nvSpPr>
        <p:spPr>
          <a:xfrm>
            <a:off x="9098280" y="2560315"/>
            <a:ext cx="213481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862"/>
                </a:solidFill>
                <a:latin typeface="Noto Sans" pitchFamily="34" charset="0"/>
                <a:ea typeface="Noto Sans" pitchFamily="34" charset="-122"/>
                <a:cs typeface="Noto Sans" pitchFamily="34" charset="-120"/>
              </a:rPr>
              <a:t>Tₘ, N·m</a:t>
            </a:r>
            <a:endParaRPr lang="en-US" sz="1300" dirty="0"/>
          </a:p>
        </p:txBody>
      </p:sp>
      <p:sp>
        <p:nvSpPr>
          <p:cNvPr id="16" name="Shape 14"/>
          <p:cNvSpPr/>
          <p:nvPr/>
        </p:nvSpPr>
        <p:spPr>
          <a:xfrm>
            <a:off x="6251575" y="3155317"/>
            <a:ext cx="2482850" cy="1189990"/>
          </a:xfrm>
          <a:prstGeom prst="roundRect">
            <a:avLst>
              <a:gd name="adj" fmla="val 8271"/>
            </a:avLst>
          </a:prstGeom>
          <a:solidFill>
            <a:srgbClr val="FCFBF8"/>
          </a:solidFill>
          <a:ln w="6350">
            <a:solidFill>
              <a:srgbClr val="D6DBE4"/>
            </a:solidFill>
            <a:prstDash val="solid"/>
          </a:ln>
        </p:spPr>
      </p:sp>
      <p:sp>
        <p:nvSpPr>
          <p:cNvPr id="17" name="Text 15"/>
          <p:cNvSpPr/>
          <p:nvPr/>
        </p:nvSpPr>
        <p:spPr>
          <a:xfrm>
            <a:off x="6456680" y="3360415"/>
            <a:ext cx="2134819" cy="523240"/>
          </a:xfrm>
          <a:prstGeom prst="rect">
            <a:avLst/>
          </a:prstGeom>
          <a:noFill/>
          <a:ln/>
        </p:spPr>
        <p:txBody>
          <a:bodyPr wrap="none" lIns="0" tIns="0" rIns="0" bIns="0" rtlCol="0" anchor="t">
            <a:normAutofit/>
          </a:bodyPr>
          <a:lstStyle/>
          <a:p>
            <a:pPr algn="l" indent="0" marL="0">
              <a:lnSpc>
                <a:spcPts val="3920"/>
              </a:lnSpc>
              <a:buNone/>
            </a:pPr>
            <a:r>
              <a:rPr lang="en-US" sz="2800" b="1" dirty="0">
                <a:solidFill>
                  <a:srgbClr val="142B57"/>
                </a:solidFill>
                <a:latin typeface="Noto Serif" pitchFamily="18" charset="0"/>
                <a:ea typeface="Noto Serif" pitchFamily="18" charset="-122"/>
                <a:cs typeface="Noto Serif" pitchFamily="18" charset="-120"/>
              </a:rPr>
              <a:t>3000</a:t>
            </a:r>
            <a:endParaRPr lang="en-US" sz="2800" dirty="0"/>
          </a:p>
        </p:txBody>
      </p:sp>
      <p:sp>
        <p:nvSpPr>
          <p:cNvPr id="18" name="Text 16"/>
          <p:cNvSpPr/>
          <p:nvPr/>
        </p:nvSpPr>
        <p:spPr>
          <a:xfrm>
            <a:off x="6456680" y="3909058"/>
            <a:ext cx="213481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862"/>
                </a:solidFill>
                <a:latin typeface="Noto Sans" pitchFamily="34" charset="0"/>
                <a:ea typeface="Noto Sans" pitchFamily="34" charset="-122"/>
                <a:cs typeface="Noto Sans" pitchFamily="34" charset="-120"/>
              </a:rPr>
              <a:t>nₘ, ayl/min</a:t>
            </a:r>
            <a:endParaRPr lang="en-US" sz="1300" dirty="0"/>
          </a:p>
        </p:txBody>
      </p:sp>
      <p:sp>
        <p:nvSpPr>
          <p:cNvPr id="19" name="Shape 17"/>
          <p:cNvSpPr/>
          <p:nvPr/>
        </p:nvSpPr>
        <p:spPr>
          <a:xfrm>
            <a:off x="8893175" y="3155317"/>
            <a:ext cx="2482850" cy="1189990"/>
          </a:xfrm>
          <a:prstGeom prst="roundRect">
            <a:avLst>
              <a:gd name="adj" fmla="val 8271"/>
            </a:avLst>
          </a:prstGeom>
          <a:solidFill>
            <a:srgbClr val="FCFBF8"/>
          </a:solidFill>
          <a:ln w="6350">
            <a:solidFill>
              <a:srgbClr val="D6DBE4"/>
            </a:solidFill>
            <a:prstDash val="solid"/>
          </a:ln>
        </p:spPr>
      </p:sp>
      <p:sp>
        <p:nvSpPr>
          <p:cNvPr id="20" name="Text 18"/>
          <p:cNvSpPr/>
          <p:nvPr/>
        </p:nvSpPr>
        <p:spPr>
          <a:xfrm>
            <a:off x="9098280" y="3360415"/>
            <a:ext cx="2134819" cy="523240"/>
          </a:xfrm>
          <a:prstGeom prst="rect">
            <a:avLst/>
          </a:prstGeom>
          <a:noFill/>
          <a:ln/>
        </p:spPr>
        <p:txBody>
          <a:bodyPr wrap="none" lIns="0" tIns="0" rIns="0" bIns="0" rtlCol="0" anchor="t">
            <a:normAutofit/>
          </a:bodyPr>
          <a:lstStyle/>
          <a:p>
            <a:pPr algn="l" indent="0" marL="0">
              <a:lnSpc>
                <a:spcPts val="3920"/>
              </a:lnSpc>
              <a:buNone/>
            </a:pPr>
            <a:r>
              <a:rPr lang="en-US" sz="2800" b="1" dirty="0">
                <a:solidFill>
                  <a:srgbClr val="142B57"/>
                </a:solidFill>
                <a:latin typeface="Noto Serif" pitchFamily="18" charset="0"/>
                <a:ea typeface="Noto Serif" pitchFamily="18" charset="-122"/>
                <a:cs typeface="Noto Serif" pitchFamily="18" charset="-120"/>
              </a:rPr>
              <a:t>≈ 70</a:t>
            </a:r>
            <a:endParaRPr lang="en-US" sz="2800" dirty="0"/>
          </a:p>
        </p:txBody>
      </p:sp>
      <p:sp>
        <p:nvSpPr>
          <p:cNvPr id="21" name="Text 19"/>
          <p:cNvSpPr/>
          <p:nvPr/>
        </p:nvSpPr>
        <p:spPr>
          <a:xfrm>
            <a:off x="9098280" y="3909058"/>
            <a:ext cx="213481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862"/>
                </a:solidFill>
                <a:latin typeface="Noto Sans" pitchFamily="34" charset="0"/>
                <a:ea typeface="Noto Sans" pitchFamily="34" charset="-122"/>
                <a:cs typeface="Noto Sans" pitchFamily="34" charset="-120"/>
              </a:rPr>
              <a:t>Pₘₐₓ, W</a:t>
            </a:r>
            <a:endParaRPr lang="en-US" sz="1300" dirty="0"/>
          </a:p>
        </p:txBody>
      </p:sp>
      <p:sp>
        <p:nvSpPr>
          <p:cNvPr id="22" name="Text 20"/>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7"/>
                </a:solidFill>
                <a:latin typeface="Noto Sans" pitchFamily="34" charset="0"/>
                <a:ea typeface="Noto Sans" pitchFamily="34" charset="-122"/>
                <a:cs typeface="Noto Sans" pitchFamily="34" charset="-120"/>
              </a:rPr>
              <a:t>Mexatron modul va robotlarni modellashtirish · Amaliyot №5 · 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3786"/>
          </a:xfrm>
          <a:prstGeom prst="rect">
            <a:avLst/>
          </a:prstGeom>
          <a:noFill/>
          <a:ln/>
        </p:spPr>
        <p:txBody>
          <a:bodyPr wrap="square" lIns="0" tIns="0" rIns="0" bIns="0" rtlCol="0" anchor="t">
            <a:normAutofit/>
          </a:bodyPr>
          <a:lstStyle/>
          <a:p>
            <a:pPr algn="l" indent="0" marL="0">
              <a:lnSpc>
                <a:spcPts val="1670"/>
              </a:lnSpc>
              <a:buNone/>
            </a:pPr>
            <a:r>
              <a:rPr lang="en-US" sz="1193" b="1" spc="100" kern="0" dirty="0">
                <a:solidFill>
                  <a:srgbClr val="A8540F"/>
                </a:solidFill>
                <a:latin typeface="Noto Sans" pitchFamily="34" charset="0"/>
                <a:ea typeface="Noto Sans" pitchFamily="34" charset="-122"/>
                <a:cs typeface="Noto Sans" pitchFamily="34" charset="-120"/>
              </a:rPr>
              <a:t>8 · AMALIY MASALALAR</a:t>
            </a:r>
            <a:endParaRPr lang="en-US" sz="1193" dirty="0"/>
          </a:p>
        </p:txBody>
      </p:sp>
      <p:sp>
        <p:nvSpPr>
          <p:cNvPr id="3" name="Text 1"/>
          <p:cNvSpPr/>
          <p:nvPr>
            <p:ph type="title"/>
          </p:nvPr>
        </p:nvSpPr>
        <p:spPr>
          <a:xfrm>
            <a:off x="812800" y="1097384"/>
            <a:ext cx="10883392" cy="462068"/>
          </a:xfrm>
          <a:prstGeom prst="rect">
            <a:avLst/>
          </a:prstGeom>
          <a:noFill/>
          <a:ln/>
        </p:spPr>
        <p:txBody>
          <a:bodyPr wrap="square" lIns="0" tIns="0" rIns="0" bIns="0" rtlCol="0" anchor="t">
            <a:normAutofit/>
          </a:bodyPr>
          <a:lstStyle/>
          <a:p>
            <a:pPr algn="l" indent="0" marL="0">
              <a:lnSpc>
                <a:spcPts val="3465"/>
              </a:lnSpc>
              <a:buNone/>
            </a:pPr>
            <a:r>
              <a:rPr lang="en-US" sz="3150" b="1" i="0" dirty="0">
                <a:solidFill>
                  <a:srgbClr val="142B57"/>
                </a:solidFill>
                <a:latin typeface="Noto Serif" pitchFamily="18" charset="0"/>
                <a:ea typeface="Noto Serif" pitchFamily="18" charset="-122"/>
                <a:cs typeface="Noto Serif" pitchFamily="18" charset="-120"/>
              </a:rPr>
              <a:t>Masala 2: optimal reduktor nisbati</a:t>
            </a:r>
            <a:endParaRPr lang="en-US" sz="3150" dirty="0"/>
          </a:p>
        </p:txBody>
      </p:sp>
      <p:sp>
        <p:nvSpPr>
          <p:cNvPr id="4" name="Shape 2"/>
          <p:cNvSpPr/>
          <p:nvPr/>
        </p:nvSpPr>
        <p:spPr>
          <a:xfrm>
            <a:off x="812800" y="1744985"/>
            <a:ext cx="6553200" cy="4140200"/>
          </a:xfrm>
          <a:prstGeom prst="roundRect">
            <a:avLst>
              <a:gd name="adj" fmla="val 2454"/>
            </a:avLst>
          </a:prstGeom>
          <a:solidFill>
            <a:srgbClr val="FFFFFF"/>
          </a:solidFill>
          <a:ln/>
        </p:spPr>
      </p:sp>
      <p:pic>
        <p:nvPicPr>
          <p:cNvPr id="5" name="Image 0" descr="Tezlanishning reduktor nisbatiga bogʻliqligi: N=8.49 da maksimum 14.14 m/s²">    </p:cNvPr>
          <p:cNvPicPr>
            <a:picLocks noChangeAspect="1"/>
          </p:cNvPicPr>
          <p:nvPr/>
        </p:nvPicPr>
        <p:blipFill>
          <a:blip r:embed="rId1"/>
          <a:srcRect l="0" r="0" t="0" b="0"/>
          <a:stretch/>
        </p:blipFill>
        <p:spPr>
          <a:xfrm>
            <a:off x="914400" y="1846585"/>
            <a:ext cx="6350000" cy="3937000"/>
          </a:xfrm>
          <a:prstGeom prst="rect">
            <a:avLst/>
          </a:prstGeom>
        </p:spPr>
      </p:pic>
      <p:sp>
        <p:nvSpPr>
          <p:cNvPr id="6" name="Text 3"/>
          <p:cNvSpPr/>
          <p:nvPr/>
        </p:nvSpPr>
        <p:spPr>
          <a:xfrm>
            <a:off x="7620000" y="1892188"/>
            <a:ext cx="387197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862"/>
                </a:solidFill>
                <a:latin typeface="Noto Sans" pitchFamily="34" charset="0"/>
                <a:ea typeface="Noto Sans" pitchFamily="34" charset="-122"/>
                <a:cs typeface="Noto Sans" pitchFamily="34" charset="-120"/>
              </a:rPr>
              <a:t>m = 12 kg, r = 30 mm, Jₘ = 1.5·10⁻⁴ kg·m², Tₘ = 1.2 N·m</a:t>
            </a:r>
            <a:endParaRPr lang="en-US" sz="1400" dirty="0"/>
          </a:p>
        </p:txBody>
      </p:sp>
      <p:sp>
        <p:nvSpPr>
          <p:cNvPr id="7" name="Shape 4"/>
          <p:cNvSpPr/>
          <p:nvPr/>
        </p:nvSpPr>
        <p:spPr>
          <a:xfrm>
            <a:off x="7623175" y="2545606"/>
            <a:ext cx="3752850" cy="1189990"/>
          </a:xfrm>
          <a:prstGeom prst="roundRect">
            <a:avLst>
              <a:gd name="adj" fmla="val 8271"/>
            </a:avLst>
          </a:prstGeom>
          <a:solidFill>
            <a:srgbClr val="FCFBF8"/>
          </a:solidFill>
          <a:ln w="6350">
            <a:solidFill>
              <a:srgbClr val="D6DBE4"/>
            </a:solidFill>
            <a:prstDash val="solid"/>
          </a:ln>
        </p:spPr>
      </p:sp>
      <p:sp>
        <p:nvSpPr>
          <p:cNvPr id="8" name="Text 5"/>
          <p:cNvSpPr/>
          <p:nvPr/>
        </p:nvSpPr>
        <p:spPr>
          <a:xfrm>
            <a:off x="7828280" y="2750716"/>
            <a:ext cx="3442919" cy="523240"/>
          </a:xfrm>
          <a:prstGeom prst="rect">
            <a:avLst/>
          </a:prstGeom>
          <a:noFill/>
          <a:ln/>
        </p:spPr>
        <p:txBody>
          <a:bodyPr wrap="none" lIns="0" tIns="0" rIns="0" bIns="0" rtlCol="0" anchor="t">
            <a:normAutofit/>
          </a:bodyPr>
          <a:lstStyle/>
          <a:p>
            <a:pPr algn="l" indent="0" marL="0">
              <a:lnSpc>
                <a:spcPts val="3920"/>
              </a:lnSpc>
              <a:buNone/>
            </a:pPr>
            <a:r>
              <a:rPr lang="en-US" sz="2800" b="1" dirty="0">
                <a:solidFill>
                  <a:srgbClr val="142B57"/>
                </a:solidFill>
                <a:latin typeface="Noto Serif" pitchFamily="18" charset="0"/>
                <a:ea typeface="Noto Serif" pitchFamily="18" charset="-122"/>
                <a:cs typeface="Noto Serif" pitchFamily="18" charset="-120"/>
              </a:rPr>
              <a:t>N ≈ 8.5</a:t>
            </a:r>
            <a:endParaRPr lang="en-US" sz="2800" dirty="0"/>
          </a:p>
        </p:txBody>
      </p:sp>
      <p:sp>
        <p:nvSpPr>
          <p:cNvPr id="9" name="Text 6"/>
          <p:cNvSpPr/>
          <p:nvPr/>
        </p:nvSpPr>
        <p:spPr>
          <a:xfrm>
            <a:off x="7828280" y="3299358"/>
            <a:ext cx="344291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862"/>
                </a:solidFill>
                <a:latin typeface="Noto Sans" pitchFamily="34" charset="0"/>
                <a:ea typeface="Noto Sans" pitchFamily="34" charset="-122"/>
                <a:cs typeface="Noto Sans" pitchFamily="34" charset="-120"/>
              </a:rPr>
              <a:t>N_opt = r·√(m / Jₘ)</a:t>
            </a:r>
            <a:endParaRPr lang="en-US" sz="1300" dirty="0"/>
          </a:p>
        </p:txBody>
      </p:sp>
      <p:sp>
        <p:nvSpPr>
          <p:cNvPr id="10" name="Shape 7"/>
          <p:cNvSpPr/>
          <p:nvPr/>
        </p:nvSpPr>
        <p:spPr>
          <a:xfrm>
            <a:off x="7623175" y="3894348"/>
            <a:ext cx="3752850" cy="1189990"/>
          </a:xfrm>
          <a:prstGeom prst="roundRect">
            <a:avLst>
              <a:gd name="adj" fmla="val 8271"/>
            </a:avLst>
          </a:prstGeom>
          <a:solidFill>
            <a:srgbClr val="FCFBF8"/>
          </a:solidFill>
          <a:ln w="6350">
            <a:solidFill>
              <a:srgbClr val="D6DBE4"/>
            </a:solidFill>
            <a:prstDash val="solid"/>
          </a:ln>
        </p:spPr>
      </p:sp>
      <p:sp>
        <p:nvSpPr>
          <p:cNvPr id="11" name="Text 8"/>
          <p:cNvSpPr/>
          <p:nvPr/>
        </p:nvSpPr>
        <p:spPr>
          <a:xfrm>
            <a:off x="7828280" y="4099458"/>
            <a:ext cx="3442919" cy="523240"/>
          </a:xfrm>
          <a:prstGeom prst="rect">
            <a:avLst/>
          </a:prstGeom>
          <a:noFill/>
          <a:ln/>
        </p:spPr>
        <p:txBody>
          <a:bodyPr wrap="none" lIns="0" tIns="0" rIns="0" bIns="0" rtlCol="0" anchor="t">
            <a:normAutofit/>
          </a:bodyPr>
          <a:lstStyle/>
          <a:p>
            <a:pPr algn="l" indent="0" marL="0">
              <a:lnSpc>
                <a:spcPts val="3920"/>
              </a:lnSpc>
              <a:buNone/>
            </a:pPr>
            <a:r>
              <a:rPr lang="en-US" sz="2800" b="1" dirty="0">
                <a:solidFill>
                  <a:srgbClr val="142B57"/>
                </a:solidFill>
                <a:latin typeface="Noto Serif" pitchFamily="18" charset="0"/>
                <a:ea typeface="Noto Serif" pitchFamily="18" charset="-122"/>
                <a:cs typeface="Noto Serif" pitchFamily="18" charset="-120"/>
              </a:rPr>
              <a:t>14.1 m/s²</a:t>
            </a:r>
            <a:endParaRPr lang="en-US" sz="2800" dirty="0"/>
          </a:p>
        </p:txBody>
      </p:sp>
      <p:sp>
        <p:nvSpPr>
          <p:cNvPr id="12" name="Text 9"/>
          <p:cNvSpPr/>
          <p:nvPr/>
        </p:nvSpPr>
        <p:spPr>
          <a:xfrm>
            <a:off x="7828280" y="4648088"/>
            <a:ext cx="344291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862"/>
                </a:solidFill>
                <a:latin typeface="Noto Sans" pitchFamily="34" charset="0"/>
                <a:ea typeface="Noto Sans" pitchFamily="34" charset="-122"/>
                <a:cs typeface="Noto Sans" pitchFamily="34" charset="-120"/>
              </a:rPr>
              <a:t>aₘₐₓ = Tₘ / 2√(Jₘm)</a:t>
            </a:r>
            <a:endParaRPr lang="en-US" sz="1300" dirty="0"/>
          </a:p>
        </p:txBody>
      </p:sp>
      <p:sp>
        <p:nvSpPr>
          <p:cNvPr id="13" name="Text 10"/>
          <p:cNvSpPr/>
          <p:nvPr/>
        </p:nvSpPr>
        <p:spPr>
          <a:xfrm>
            <a:off x="7620000" y="5239916"/>
            <a:ext cx="387197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8540F"/>
                </a:solidFill>
                <a:latin typeface="Noto Sans" pitchFamily="34" charset="0"/>
                <a:ea typeface="Noto Sans" pitchFamily="34" charset="-122"/>
                <a:cs typeface="Noto Sans" pitchFamily="34" charset="-120"/>
              </a:rPr>
              <a:t>Standart N = 8 yoki 10 da yoʻqotish 1.5 % dan kam.</a:t>
            </a:r>
            <a:endParaRPr lang="en-US" sz="1400" dirty="0"/>
          </a:p>
        </p:txBody>
      </p:sp>
      <p:sp>
        <p:nvSpPr>
          <p:cNvPr id="14" name="Text 11"/>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7"/>
                </a:solidFill>
                <a:latin typeface="Noto Sans" pitchFamily="34" charset="0"/>
                <a:ea typeface="Noto Sans" pitchFamily="34" charset="-122"/>
                <a:cs typeface="Noto Sans" pitchFamily="34" charset="-120"/>
              </a:rPr>
              <a:t>Mexatron modul va robotlarni modellashtirish · Amaliyot №5 · 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40F"/>
                </a:solidFill>
                <a:latin typeface="Noto Sans" pitchFamily="34" charset="0"/>
                <a:ea typeface="Noto Sans" pitchFamily="34" charset="-122"/>
                <a:cs typeface="Noto Sans" pitchFamily="34" charset="-120"/>
              </a:rPr>
              <a:t>8 · AMALIY MASALALAR</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B57"/>
                </a:solidFill>
                <a:latin typeface="Noto Serif" pitchFamily="18" charset="0"/>
                <a:ea typeface="Noto Serif" pitchFamily="18" charset="-122"/>
                <a:cs typeface="Noto Serif" pitchFamily="18" charset="-120"/>
              </a:rPr>
              <a:t>Masala 3: krivoship–polzun, φ = 60°</a:t>
            </a:r>
            <a:endParaRPr lang="en-US" sz="3200" dirty="0"/>
          </a:p>
        </p:txBody>
      </p:sp>
      <p:sp>
        <p:nvSpPr>
          <p:cNvPr id="4" name="Text 2"/>
          <p:cNvSpPr/>
          <p:nvPr/>
        </p:nvSpPr>
        <p:spPr>
          <a:xfrm>
            <a:off x="812800" y="18034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B57"/>
                </a:solidFill>
                <a:latin typeface="Noto Sans" pitchFamily="34" charset="0"/>
                <a:ea typeface="Noto Sans" pitchFamily="34" charset="-122"/>
                <a:cs typeface="Noto Sans" pitchFamily="34" charset="-120"/>
              </a:rPr>
              <a:t>r = 50 mm, l = 200 mm (λ = 0.25), ω = 100 rad/s, mₚ = 0.8 kg, F_q = 0</a:t>
            </a:r>
            <a:endParaRPr lang="en-US" sz="1500" dirty="0"/>
          </a:p>
        </p:txBody>
      </p:sp>
      <p:sp>
        <p:nvSpPr>
          <p:cNvPr id="5" name="Shape 3"/>
          <p:cNvSpPr/>
          <p:nvPr/>
        </p:nvSpPr>
        <p:spPr>
          <a:xfrm>
            <a:off x="815975" y="2327275"/>
            <a:ext cx="3414183" cy="1189990"/>
          </a:xfrm>
          <a:prstGeom prst="roundRect">
            <a:avLst>
              <a:gd name="adj" fmla="val 8271"/>
            </a:avLst>
          </a:prstGeom>
          <a:solidFill>
            <a:srgbClr val="FCFBF8"/>
          </a:solidFill>
          <a:ln w="6350">
            <a:solidFill>
              <a:srgbClr val="D6DBE4"/>
            </a:solidFill>
            <a:prstDash val="solid"/>
          </a:ln>
        </p:spPr>
      </p:sp>
      <p:sp>
        <p:nvSpPr>
          <p:cNvPr id="6" name="Text 4"/>
          <p:cNvSpPr/>
          <p:nvPr/>
        </p:nvSpPr>
        <p:spPr>
          <a:xfrm>
            <a:off x="1021080" y="2532385"/>
            <a:ext cx="3094092" cy="523240"/>
          </a:xfrm>
          <a:prstGeom prst="rect">
            <a:avLst/>
          </a:prstGeom>
          <a:noFill/>
          <a:ln/>
        </p:spPr>
        <p:txBody>
          <a:bodyPr wrap="none" lIns="0" tIns="0" rIns="0" bIns="0" rtlCol="0" anchor="t">
            <a:normAutofit/>
          </a:bodyPr>
          <a:lstStyle/>
          <a:p>
            <a:pPr algn="l" indent="0" marL="0">
              <a:lnSpc>
                <a:spcPts val="3920"/>
              </a:lnSpc>
              <a:buNone/>
            </a:pPr>
            <a:r>
              <a:rPr lang="en-US" sz="2800" b="1" dirty="0">
                <a:solidFill>
                  <a:srgbClr val="142B57"/>
                </a:solidFill>
                <a:latin typeface="Noto Serif" pitchFamily="18" charset="0"/>
                <a:ea typeface="Noto Serif" pitchFamily="18" charset="-122"/>
                <a:cs typeface="Noto Serif" pitchFamily="18" charset="-120"/>
              </a:rPr>
              <a:t>220.3 mm</a:t>
            </a:r>
            <a:endParaRPr lang="en-US" sz="2800" dirty="0"/>
          </a:p>
        </p:txBody>
      </p:sp>
      <p:sp>
        <p:nvSpPr>
          <p:cNvPr id="7" name="Text 5"/>
          <p:cNvSpPr/>
          <p:nvPr/>
        </p:nvSpPr>
        <p:spPr>
          <a:xfrm>
            <a:off x="1021080" y="3081015"/>
            <a:ext cx="309409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862"/>
                </a:solidFill>
                <a:latin typeface="Noto Sans" pitchFamily="34" charset="0"/>
                <a:ea typeface="Noto Sans" pitchFamily="34" charset="-122"/>
                <a:cs typeface="Noto Sans" pitchFamily="34" charset="-120"/>
              </a:rPr>
              <a:t>Polzun oʻrni x</a:t>
            </a:r>
            <a:endParaRPr lang="en-US" sz="1300" dirty="0"/>
          </a:p>
        </p:txBody>
      </p:sp>
      <p:sp>
        <p:nvSpPr>
          <p:cNvPr id="8" name="Shape 6"/>
          <p:cNvSpPr/>
          <p:nvPr/>
        </p:nvSpPr>
        <p:spPr>
          <a:xfrm>
            <a:off x="4388908" y="2327275"/>
            <a:ext cx="3414183" cy="1189990"/>
          </a:xfrm>
          <a:prstGeom prst="roundRect">
            <a:avLst>
              <a:gd name="adj" fmla="val 8271"/>
            </a:avLst>
          </a:prstGeom>
          <a:solidFill>
            <a:srgbClr val="FCFBF8"/>
          </a:solidFill>
          <a:ln w="6350">
            <a:solidFill>
              <a:srgbClr val="D6DBE4"/>
            </a:solidFill>
            <a:prstDash val="solid"/>
          </a:ln>
        </p:spPr>
      </p:sp>
      <p:sp>
        <p:nvSpPr>
          <p:cNvPr id="9" name="Text 7"/>
          <p:cNvSpPr/>
          <p:nvPr/>
        </p:nvSpPr>
        <p:spPr>
          <a:xfrm>
            <a:off x="4594013" y="2532385"/>
            <a:ext cx="3094093" cy="523240"/>
          </a:xfrm>
          <a:prstGeom prst="rect">
            <a:avLst/>
          </a:prstGeom>
          <a:noFill/>
          <a:ln/>
        </p:spPr>
        <p:txBody>
          <a:bodyPr wrap="none" lIns="0" tIns="0" rIns="0" bIns="0" rtlCol="0" anchor="t">
            <a:normAutofit/>
          </a:bodyPr>
          <a:lstStyle/>
          <a:p>
            <a:pPr algn="l" indent="0" marL="0">
              <a:lnSpc>
                <a:spcPts val="3920"/>
              </a:lnSpc>
              <a:buNone/>
            </a:pPr>
            <a:r>
              <a:rPr lang="en-US" sz="2800" b="1" dirty="0">
                <a:solidFill>
                  <a:srgbClr val="142B57"/>
                </a:solidFill>
                <a:latin typeface="Noto Serif" pitchFamily="18" charset="0"/>
                <a:ea typeface="Noto Serif" pitchFamily="18" charset="-122"/>
                <a:cs typeface="Noto Serif" pitchFamily="18" charset="-120"/>
              </a:rPr>
              <a:t>−48.85 mm/rad</a:t>
            </a:r>
            <a:endParaRPr lang="en-US" sz="2800" dirty="0"/>
          </a:p>
        </p:txBody>
      </p:sp>
      <p:sp>
        <p:nvSpPr>
          <p:cNvPr id="10" name="Text 8"/>
          <p:cNvSpPr/>
          <p:nvPr/>
        </p:nvSpPr>
        <p:spPr>
          <a:xfrm>
            <a:off x="4594013" y="3081015"/>
            <a:ext cx="309409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862"/>
                </a:solidFill>
                <a:latin typeface="Noto Sans" pitchFamily="34" charset="0"/>
                <a:ea typeface="Noto Sans" pitchFamily="34" charset="-122"/>
                <a:cs typeface="Noto Sans" pitchFamily="34" charset="-120"/>
              </a:rPr>
              <a:t>Koeffitsient ρ(φ)</a:t>
            </a:r>
            <a:endParaRPr lang="en-US" sz="1300" dirty="0"/>
          </a:p>
        </p:txBody>
      </p:sp>
      <p:sp>
        <p:nvSpPr>
          <p:cNvPr id="11" name="Shape 9"/>
          <p:cNvSpPr/>
          <p:nvPr/>
        </p:nvSpPr>
        <p:spPr>
          <a:xfrm>
            <a:off x="7961842" y="2327275"/>
            <a:ext cx="3414183" cy="1189990"/>
          </a:xfrm>
          <a:prstGeom prst="roundRect">
            <a:avLst>
              <a:gd name="adj" fmla="val 8271"/>
            </a:avLst>
          </a:prstGeom>
          <a:solidFill>
            <a:srgbClr val="FCFBF8"/>
          </a:solidFill>
          <a:ln w="6350">
            <a:solidFill>
              <a:srgbClr val="D6DBE4"/>
            </a:solidFill>
            <a:prstDash val="solid"/>
          </a:ln>
        </p:spPr>
      </p:sp>
      <p:sp>
        <p:nvSpPr>
          <p:cNvPr id="12" name="Text 10"/>
          <p:cNvSpPr/>
          <p:nvPr/>
        </p:nvSpPr>
        <p:spPr>
          <a:xfrm>
            <a:off x="8166946" y="2532385"/>
            <a:ext cx="3094092" cy="523240"/>
          </a:xfrm>
          <a:prstGeom prst="rect">
            <a:avLst/>
          </a:prstGeom>
          <a:noFill/>
          <a:ln/>
        </p:spPr>
        <p:txBody>
          <a:bodyPr wrap="none" lIns="0" tIns="0" rIns="0" bIns="0" rtlCol="0" anchor="t">
            <a:normAutofit/>
          </a:bodyPr>
          <a:lstStyle/>
          <a:p>
            <a:pPr algn="l" indent="0" marL="0">
              <a:lnSpc>
                <a:spcPts val="3920"/>
              </a:lnSpc>
              <a:buNone/>
            </a:pPr>
            <a:r>
              <a:rPr lang="en-US" sz="2800" b="1" dirty="0">
                <a:solidFill>
                  <a:srgbClr val="142B57"/>
                </a:solidFill>
                <a:latin typeface="Noto Serif" pitchFamily="18" charset="0"/>
                <a:ea typeface="Noto Serif" pitchFamily="18" charset="-122"/>
                <a:cs typeface="Noto Serif" pitchFamily="18" charset="-120"/>
              </a:rPr>
              <a:t>−4.89 m/s</a:t>
            </a:r>
            <a:endParaRPr lang="en-US" sz="2800" dirty="0"/>
          </a:p>
        </p:txBody>
      </p:sp>
      <p:sp>
        <p:nvSpPr>
          <p:cNvPr id="13" name="Text 11"/>
          <p:cNvSpPr/>
          <p:nvPr/>
        </p:nvSpPr>
        <p:spPr>
          <a:xfrm>
            <a:off x="8166946" y="3081015"/>
            <a:ext cx="309409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862"/>
                </a:solidFill>
                <a:latin typeface="Noto Sans" pitchFamily="34" charset="0"/>
                <a:ea typeface="Noto Sans" pitchFamily="34" charset="-122"/>
                <a:cs typeface="Noto Sans" pitchFamily="34" charset="-120"/>
              </a:rPr>
              <a:t>Tezlik v = ρω</a:t>
            </a:r>
            <a:endParaRPr lang="en-US" sz="1300" dirty="0"/>
          </a:p>
        </p:txBody>
      </p:sp>
      <p:sp>
        <p:nvSpPr>
          <p:cNvPr id="14" name="Shape 12"/>
          <p:cNvSpPr/>
          <p:nvPr/>
        </p:nvSpPr>
        <p:spPr>
          <a:xfrm>
            <a:off x="815975" y="3676017"/>
            <a:ext cx="3414183" cy="1189990"/>
          </a:xfrm>
          <a:prstGeom prst="roundRect">
            <a:avLst>
              <a:gd name="adj" fmla="val 8271"/>
            </a:avLst>
          </a:prstGeom>
          <a:solidFill>
            <a:srgbClr val="FCFBF8"/>
          </a:solidFill>
          <a:ln w="6350">
            <a:solidFill>
              <a:srgbClr val="D6DBE4"/>
            </a:solidFill>
            <a:prstDash val="solid"/>
          </a:ln>
        </p:spPr>
      </p:sp>
      <p:sp>
        <p:nvSpPr>
          <p:cNvPr id="15" name="Text 13"/>
          <p:cNvSpPr/>
          <p:nvPr/>
        </p:nvSpPr>
        <p:spPr>
          <a:xfrm>
            <a:off x="1021080" y="3881115"/>
            <a:ext cx="3094092" cy="523240"/>
          </a:xfrm>
          <a:prstGeom prst="rect">
            <a:avLst/>
          </a:prstGeom>
          <a:noFill/>
          <a:ln/>
        </p:spPr>
        <p:txBody>
          <a:bodyPr wrap="none" lIns="0" tIns="0" rIns="0" bIns="0" rtlCol="0" anchor="t">
            <a:normAutofit/>
          </a:bodyPr>
          <a:lstStyle/>
          <a:p>
            <a:pPr algn="l" indent="0" marL="0">
              <a:lnSpc>
                <a:spcPts val="3920"/>
              </a:lnSpc>
              <a:buNone/>
            </a:pPr>
            <a:r>
              <a:rPr lang="en-US" sz="2800" b="1" dirty="0">
                <a:solidFill>
                  <a:srgbClr val="142B57"/>
                </a:solidFill>
                <a:latin typeface="Noto Serif" pitchFamily="18" charset="0"/>
                <a:ea typeface="Noto Serif" pitchFamily="18" charset="-122"/>
                <a:cs typeface="Noto Serif" pitchFamily="18" charset="-120"/>
              </a:rPr>
              <a:t>−187.5 m/s²</a:t>
            </a:r>
            <a:endParaRPr lang="en-US" sz="2800" dirty="0"/>
          </a:p>
        </p:txBody>
      </p:sp>
      <p:sp>
        <p:nvSpPr>
          <p:cNvPr id="16" name="Text 14"/>
          <p:cNvSpPr/>
          <p:nvPr/>
        </p:nvSpPr>
        <p:spPr>
          <a:xfrm>
            <a:off x="1021080" y="4429758"/>
            <a:ext cx="309409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862"/>
                </a:solidFill>
                <a:latin typeface="Noto Sans" pitchFamily="34" charset="0"/>
                <a:ea typeface="Noto Sans" pitchFamily="34" charset="-122"/>
                <a:cs typeface="Noto Sans" pitchFamily="34" charset="-120"/>
              </a:rPr>
              <a:t>Tezlanish a</a:t>
            </a:r>
            <a:endParaRPr lang="en-US" sz="1300" dirty="0"/>
          </a:p>
        </p:txBody>
      </p:sp>
      <p:sp>
        <p:nvSpPr>
          <p:cNvPr id="17" name="Shape 15"/>
          <p:cNvSpPr/>
          <p:nvPr/>
        </p:nvSpPr>
        <p:spPr>
          <a:xfrm>
            <a:off x="4388908" y="3676017"/>
            <a:ext cx="3414183" cy="1189990"/>
          </a:xfrm>
          <a:prstGeom prst="roundRect">
            <a:avLst>
              <a:gd name="adj" fmla="val 8271"/>
            </a:avLst>
          </a:prstGeom>
          <a:solidFill>
            <a:srgbClr val="FCFBF8"/>
          </a:solidFill>
          <a:ln w="6350">
            <a:solidFill>
              <a:srgbClr val="D6DBE4"/>
            </a:solidFill>
            <a:prstDash val="solid"/>
          </a:ln>
        </p:spPr>
      </p:sp>
      <p:sp>
        <p:nvSpPr>
          <p:cNvPr id="18" name="Text 16"/>
          <p:cNvSpPr/>
          <p:nvPr/>
        </p:nvSpPr>
        <p:spPr>
          <a:xfrm>
            <a:off x="4594013" y="3881115"/>
            <a:ext cx="3094093" cy="523240"/>
          </a:xfrm>
          <a:prstGeom prst="rect">
            <a:avLst/>
          </a:prstGeom>
          <a:noFill/>
          <a:ln/>
        </p:spPr>
        <p:txBody>
          <a:bodyPr wrap="none" lIns="0" tIns="0" rIns="0" bIns="0" rtlCol="0" anchor="t">
            <a:normAutofit/>
          </a:bodyPr>
          <a:lstStyle/>
          <a:p>
            <a:pPr algn="l" indent="0" marL="0">
              <a:lnSpc>
                <a:spcPts val="3920"/>
              </a:lnSpc>
              <a:buNone/>
            </a:pPr>
            <a:r>
              <a:rPr lang="en-US" sz="2800" b="1" dirty="0">
                <a:solidFill>
                  <a:srgbClr val="142B57"/>
                </a:solidFill>
                <a:latin typeface="Noto Serif" pitchFamily="18" charset="0"/>
                <a:ea typeface="Noto Serif" pitchFamily="18" charset="-122"/>
                <a:cs typeface="Noto Serif" pitchFamily="18" charset="-120"/>
              </a:rPr>
              <a:t>1.91·10⁻³</a:t>
            </a:r>
            <a:endParaRPr lang="en-US" sz="2800" dirty="0"/>
          </a:p>
        </p:txBody>
      </p:sp>
      <p:sp>
        <p:nvSpPr>
          <p:cNvPr id="19" name="Text 17"/>
          <p:cNvSpPr/>
          <p:nvPr/>
        </p:nvSpPr>
        <p:spPr>
          <a:xfrm>
            <a:off x="4594013" y="4429758"/>
            <a:ext cx="309409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862"/>
                </a:solidFill>
                <a:latin typeface="Noto Sans" pitchFamily="34" charset="0"/>
                <a:ea typeface="Noto Sans" pitchFamily="34" charset="-122"/>
                <a:cs typeface="Noto Sans" pitchFamily="34" charset="-120"/>
              </a:rPr>
              <a:t>mₚρ², kg·m²</a:t>
            </a:r>
            <a:endParaRPr lang="en-US" sz="1300" dirty="0"/>
          </a:p>
        </p:txBody>
      </p:sp>
      <p:sp>
        <p:nvSpPr>
          <p:cNvPr id="20" name="Shape 18"/>
          <p:cNvSpPr/>
          <p:nvPr/>
        </p:nvSpPr>
        <p:spPr>
          <a:xfrm>
            <a:off x="7961842" y="3676017"/>
            <a:ext cx="3414183" cy="1189990"/>
          </a:xfrm>
          <a:prstGeom prst="roundRect">
            <a:avLst>
              <a:gd name="adj" fmla="val 8271"/>
            </a:avLst>
          </a:prstGeom>
          <a:solidFill>
            <a:srgbClr val="FCFBF8"/>
          </a:solidFill>
          <a:ln w="6350">
            <a:solidFill>
              <a:srgbClr val="D6DBE4"/>
            </a:solidFill>
            <a:prstDash val="solid"/>
          </a:ln>
        </p:spPr>
      </p:sp>
      <p:sp>
        <p:nvSpPr>
          <p:cNvPr id="21" name="Text 19"/>
          <p:cNvSpPr/>
          <p:nvPr/>
        </p:nvSpPr>
        <p:spPr>
          <a:xfrm>
            <a:off x="8166946" y="3881115"/>
            <a:ext cx="3094092" cy="523240"/>
          </a:xfrm>
          <a:prstGeom prst="rect">
            <a:avLst/>
          </a:prstGeom>
          <a:noFill/>
          <a:ln/>
        </p:spPr>
        <p:txBody>
          <a:bodyPr wrap="none" lIns="0" tIns="0" rIns="0" bIns="0" rtlCol="0" anchor="t">
            <a:normAutofit/>
          </a:bodyPr>
          <a:lstStyle/>
          <a:p>
            <a:pPr algn="l" indent="0" marL="0">
              <a:lnSpc>
                <a:spcPts val="3920"/>
              </a:lnSpc>
              <a:buNone/>
            </a:pPr>
            <a:r>
              <a:rPr lang="en-US" sz="2800" b="1" dirty="0">
                <a:solidFill>
                  <a:srgbClr val="142B57"/>
                </a:solidFill>
                <a:latin typeface="Noto Serif" pitchFamily="18" charset="0"/>
                <a:ea typeface="Noto Serif" pitchFamily="18" charset="-122"/>
                <a:cs typeface="Noto Serif" pitchFamily="18" charset="-120"/>
              </a:rPr>
              <a:t>7.33 N·m</a:t>
            </a:r>
            <a:endParaRPr lang="en-US" sz="2800" dirty="0"/>
          </a:p>
        </p:txBody>
      </p:sp>
      <p:sp>
        <p:nvSpPr>
          <p:cNvPr id="22" name="Text 20"/>
          <p:cNvSpPr/>
          <p:nvPr/>
        </p:nvSpPr>
        <p:spPr>
          <a:xfrm>
            <a:off x="8166946" y="4429758"/>
            <a:ext cx="309409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862"/>
                </a:solidFill>
                <a:latin typeface="Noto Sans" pitchFamily="34" charset="0"/>
                <a:ea typeface="Noto Sans" pitchFamily="34" charset="-122"/>
                <a:cs typeface="Noto Sans" pitchFamily="34" charset="-120"/>
              </a:rPr>
              <a:t>Moment T = mₚaρ</a:t>
            </a:r>
            <a:endParaRPr lang="en-US" sz="1300" dirty="0"/>
          </a:p>
        </p:txBody>
      </p:sp>
      <p:sp>
        <p:nvSpPr>
          <p:cNvPr id="23" name="Text 21"/>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7"/>
                </a:solidFill>
                <a:latin typeface="Noto Sans" pitchFamily="34" charset="0"/>
                <a:ea typeface="Noto Sans" pitchFamily="34" charset="-122"/>
                <a:cs typeface="Noto Sans" pitchFamily="34" charset="-120"/>
              </a:rPr>
              <a:t>Mexatron modul va robotlarni modellashtirish · Amaliyot №5 · 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40F"/>
                </a:solidFill>
                <a:latin typeface="Noto Sans" pitchFamily="34" charset="0"/>
                <a:ea typeface="Noto Sans" pitchFamily="34" charset="-122"/>
                <a:cs typeface="Noto Sans" pitchFamily="34" charset="-120"/>
              </a:rPr>
              <a:t>9 · VARIANTLAR</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B57"/>
                </a:solidFill>
                <a:latin typeface="Noto Serif" pitchFamily="18" charset="0"/>
                <a:ea typeface="Noto Serif" pitchFamily="18" charset="-122"/>
                <a:cs typeface="Noto Serif" pitchFamily="18" charset="-120"/>
              </a:rPr>
              <a:t>Mustaqil ish: individual variantlar</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13560"/>
          <a:ext cx="10556240" cy="2971800"/>
        </p:xfrm>
        <a:graphic>
          <a:graphicData uri="http://schemas.openxmlformats.org/drawingml/2006/table">
            <a:tbl>
              <a:tblPr/>
              <a:tblGrid>
                <a:gridCol w="1172916"/>
                <a:gridCol w="1172916"/>
                <a:gridCol w="1172916"/>
                <a:gridCol w="1172916"/>
                <a:gridCol w="1172916"/>
                <a:gridCol w="1172916"/>
                <a:gridCol w="1172916"/>
                <a:gridCol w="1172916"/>
                <a:gridCol w="1172916"/>
              </a:tblGrid>
              <a:tr h="330200">
                <a:tc>
                  <a:txBody>
                    <a:bodyPr/>
                    <a:lstStyle/>
                    <a:p>
                      <a:pPr indent="0" marL="0">
                        <a:lnSpc>
                          <a:spcPts val="1680"/>
                        </a:lnSpc>
                        <a:buNone/>
                      </a:pPr>
                      <a:r>
                        <a:rPr lang="en-US" sz="1200" b="1" dirty="0">
                          <a:solidFill>
                            <a:srgbClr val="142B57"/>
                          </a:solidFill>
                          <a:latin typeface="Noto Sans" pitchFamily="34" charset="0"/>
                          <a:ea typeface="Noto Sans" pitchFamily="34" charset="-122"/>
                          <a:cs typeface="Noto Sans" pitchFamily="34" charset="-120"/>
                        </a:rPr>
                        <a:t>Var.</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680"/>
                        </a:lnSpc>
                        <a:buNone/>
                      </a:pPr>
                      <a:r>
                        <a:rPr lang="en-US" sz="1200" b="1" dirty="0">
                          <a:solidFill>
                            <a:srgbClr val="142B57"/>
                          </a:solidFill>
                          <a:latin typeface="Noto Sans" pitchFamily="34" charset="0"/>
                          <a:ea typeface="Noto Sans" pitchFamily="34" charset="-122"/>
                          <a:cs typeface="Noto Sans" pitchFamily="34" charset="-120"/>
                        </a:rPr>
                        <a:t>m, kg</a:t>
                      </a:r>
                      <a:endParaRPr lang="en-US" sz="1200" dirty="0">
                        <a:latin typeface="Noto Sans" charset="0"/>
                        <a:ea typeface="Noto Sans" charset="0"/>
                        <a:cs typeface="Noto Sans" charset="0"/>
                      </a:endParaRPr>
                    </a:p>
                  </a:txBody>
                  <a:tcPr marL="53340" marR="53340" marT="53340" marB="5334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680"/>
                        </a:lnSpc>
                        <a:buNone/>
                      </a:pPr>
                      <a:r>
                        <a:rPr lang="en-US" sz="1200" b="1" dirty="0">
                          <a:solidFill>
                            <a:srgbClr val="142B57"/>
                          </a:solidFill>
                          <a:latin typeface="Noto Sans" pitchFamily="34" charset="0"/>
                          <a:ea typeface="Noto Sans" pitchFamily="34" charset="-122"/>
                          <a:cs typeface="Noto Sans" pitchFamily="34" charset="-120"/>
                        </a:rPr>
                        <a:t>pₕ, mm</a:t>
                      </a:r>
                      <a:endParaRPr lang="en-US" sz="1200" dirty="0">
                        <a:latin typeface="Noto Sans" charset="0"/>
                        <a:ea typeface="Noto Sans" charset="0"/>
                        <a:cs typeface="Noto Sans" charset="0"/>
                      </a:endParaRPr>
                    </a:p>
                  </a:txBody>
                  <a:tcPr marL="53340" marR="53340" marT="53340" marB="5334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680"/>
                        </a:lnSpc>
                        <a:buNone/>
                      </a:pPr>
                      <a:r>
                        <a:rPr lang="en-US" sz="1200" b="1" dirty="0">
                          <a:solidFill>
                            <a:srgbClr val="142B57"/>
                          </a:solidFill>
                          <a:latin typeface="Noto Sans" pitchFamily="34" charset="0"/>
                          <a:ea typeface="Noto Sans" pitchFamily="34" charset="-122"/>
                          <a:cs typeface="Noto Sans" pitchFamily="34" charset="-120"/>
                        </a:rPr>
                        <a:t>Jₘ, 10⁻⁴</a:t>
                      </a:r>
                      <a:endParaRPr lang="en-US" sz="1200" dirty="0">
                        <a:latin typeface="Noto Sans" charset="0"/>
                        <a:ea typeface="Noto Sans" charset="0"/>
                        <a:cs typeface="Noto Sans" charset="0"/>
                      </a:endParaRPr>
                    </a:p>
                  </a:txBody>
                  <a:tcPr marL="53340" marR="53340" marT="53340" marB="5334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680"/>
                        </a:lnSpc>
                        <a:buNone/>
                      </a:pPr>
                      <a:r>
                        <a:rPr lang="en-US" sz="1200" b="1" dirty="0">
                          <a:solidFill>
                            <a:srgbClr val="142B57"/>
                          </a:solidFill>
                          <a:latin typeface="Noto Sans" pitchFamily="34" charset="0"/>
                          <a:ea typeface="Noto Sans" pitchFamily="34" charset="-122"/>
                          <a:cs typeface="Noto Sans" pitchFamily="34" charset="-120"/>
                        </a:rPr>
                        <a:t>a, m/s²</a:t>
                      </a:r>
                      <a:endParaRPr lang="en-US" sz="1200" dirty="0">
                        <a:latin typeface="Noto Sans" charset="0"/>
                        <a:ea typeface="Noto Sans" charset="0"/>
                        <a:cs typeface="Noto Sans" charset="0"/>
                      </a:endParaRPr>
                    </a:p>
                  </a:txBody>
                  <a:tcPr marL="53340" marR="53340" marT="53340" marB="5334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680"/>
                        </a:lnSpc>
                        <a:buNone/>
                      </a:pPr>
                      <a:r>
                        <a:rPr lang="en-US" sz="1200" b="1" dirty="0">
                          <a:solidFill>
                            <a:srgbClr val="142B57"/>
                          </a:solidFill>
                          <a:latin typeface="Noto Sans" pitchFamily="34" charset="0"/>
                          <a:ea typeface="Noto Sans" pitchFamily="34" charset="-122"/>
                          <a:cs typeface="Noto Sans" pitchFamily="34" charset="-120"/>
                        </a:rPr>
                        <a:t>vₘₐₓ, m/s</a:t>
                      </a:r>
                      <a:endParaRPr lang="en-US" sz="1200" dirty="0">
                        <a:latin typeface="Noto Sans" charset="0"/>
                        <a:ea typeface="Noto Sans" charset="0"/>
                        <a:cs typeface="Noto Sans" charset="0"/>
                      </a:endParaRPr>
                    </a:p>
                  </a:txBody>
                  <a:tcPr marL="53340" marR="53340" marT="53340" marB="5334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680"/>
                        </a:lnSpc>
                        <a:buNone/>
                      </a:pPr>
                      <a:r>
                        <a:rPr lang="en-US" sz="1200" b="1" dirty="0">
                          <a:solidFill>
                            <a:srgbClr val="142B57"/>
                          </a:solidFill>
                          <a:latin typeface="Noto Sans" pitchFamily="34" charset="0"/>
                          <a:ea typeface="Noto Sans" pitchFamily="34" charset="-122"/>
                          <a:cs typeface="Noto Sans" pitchFamily="34" charset="-120"/>
                        </a:rPr>
                        <a:t>r, mm</a:t>
                      </a:r>
                      <a:endParaRPr lang="en-US" sz="1200" dirty="0">
                        <a:latin typeface="Noto Sans" charset="0"/>
                        <a:ea typeface="Noto Sans" charset="0"/>
                        <a:cs typeface="Noto Sans" charset="0"/>
                      </a:endParaRPr>
                    </a:p>
                  </a:txBody>
                  <a:tcPr marL="53340" marR="53340" marT="53340" marB="5334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680"/>
                        </a:lnSpc>
                        <a:buNone/>
                      </a:pPr>
                      <a:r>
                        <a:rPr lang="en-US" sz="1200" b="1" dirty="0">
                          <a:solidFill>
                            <a:srgbClr val="142B57"/>
                          </a:solidFill>
                          <a:latin typeface="Noto Sans" pitchFamily="34" charset="0"/>
                          <a:ea typeface="Noto Sans" pitchFamily="34" charset="-122"/>
                          <a:cs typeface="Noto Sans" pitchFamily="34" charset="-120"/>
                        </a:rPr>
                        <a:t>l, mm</a:t>
                      </a:r>
                      <a:endParaRPr lang="en-US" sz="1200" dirty="0">
                        <a:latin typeface="Noto Sans" charset="0"/>
                        <a:ea typeface="Noto Sans" charset="0"/>
                        <a:cs typeface="Noto Sans" charset="0"/>
                      </a:endParaRPr>
                    </a:p>
                  </a:txBody>
                  <a:tcPr marL="53340" marR="53340" marT="53340" marB="5334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680"/>
                        </a:lnSpc>
                        <a:buNone/>
                      </a:pPr>
                      <a:r>
                        <a:rPr lang="en-US" sz="1200" b="1" dirty="0">
                          <a:solidFill>
                            <a:srgbClr val="142B57"/>
                          </a:solidFill>
                          <a:latin typeface="Noto Sans" pitchFamily="34" charset="0"/>
                          <a:ea typeface="Noto Sans" pitchFamily="34" charset="-122"/>
                          <a:cs typeface="Noto Sans" pitchFamily="34" charset="-120"/>
                        </a:rPr>
                        <a:t>φ, °</a:t>
                      </a:r>
                      <a:endParaRPr lang="en-US" sz="1200" dirty="0">
                        <a:latin typeface="Noto Sans" charset="0"/>
                        <a:ea typeface="Noto Sans" charset="0"/>
                        <a:cs typeface="Noto Sans" charset="0"/>
                      </a:endParaRPr>
                    </a:p>
                  </a:txBody>
                  <a:tcPr marL="53340" marR="53340" marT="53340" marB="5334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r>
              <a:tr h="330200">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1</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10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5</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0.3</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1.5</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0.25</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40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160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30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2</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15</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10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0.5</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2.0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0.4</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45</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180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45</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3</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20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10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0.6</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2.5</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0.5</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50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200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60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4</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30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16</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1.2</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2.0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0.6</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55</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200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75</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5</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40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20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2.0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1.5</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0.8</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60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240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90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6</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50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20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2.5</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1.0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0.7</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60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200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120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7</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60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25</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3.5</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1.5</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1.0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70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280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135</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8</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80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32</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5.0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1.0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1.2</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80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300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42B57"/>
                          </a:solidFill>
                          <a:latin typeface="Noto Sans" pitchFamily="34" charset="0"/>
                          <a:ea typeface="Noto Sans" pitchFamily="34" charset="-122"/>
                          <a:cs typeface="Noto Sans" pitchFamily="34" charset="-120"/>
                        </a:rPr>
                        <a:t>150</a:t>
                      </a:r>
                      <a:endParaRPr lang="en-US" sz="1200" dirty="0">
                        <a:latin typeface="Noto Sans" charset="0"/>
                        <a:ea typeface="Noto Sans" charset="0"/>
                        <a:cs typeface="Noto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5" name="Text 2"/>
          <p:cNvSpPr/>
          <p:nvPr/>
        </p:nvSpPr>
        <p:spPr>
          <a:xfrm>
            <a:off x="812800" y="5039358"/>
            <a:ext cx="1088339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B57"/>
                </a:solidFill>
                <a:latin typeface="Noto Sans" pitchFamily="34" charset="0"/>
                <a:ea typeface="Noto Sans" pitchFamily="34" charset="-122"/>
                <a:cs typeface="Noto Sans" pitchFamily="34" charset="-120"/>
              </a:rPr>
              <a:t>Hisoblang: ρ, J_eq, Tₘ, nₘ, pₕ,opt hamda krivoship–polzun uchun x, ρ(φ), v, a, T. Umumiy: η = 0.9, μ = 0.05, ω = 100 rad/s, mₚ = 0.8 kg.</a:t>
            </a:r>
            <a:endParaRPr lang="en-US" sz="1400" dirty="0"/>
          </a:p>
        </p:txBody>
      </p:sp>
      <p:sp>
        <p:nvSpPr>
          <p:cNvPr id="6" name="Text 3"/>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7"/>
                </a:solidFill>
                <a:latin typeface="Noto Sans" pitchFamily="34" charset="0"/>
                <a:ea typeface="Noto Sans" pitchFamily="34" charset="-122"/>
                <a:cs typeface="Noto Sans" pitchFamily="34" charset="-120"/>
              </a:rPr>
              <a:t>Mexatron modul va robotlarni modellashtirish · Amaliyot №5 · 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9EE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40F"/>
                </a:solidFill>
                <a:latin typeface="Noto Sans" pitchFamily="34" charset="0"/>
                <a:ea typeface="Noto Sans" pitchFamily="34" charset="-122"/>
                <a:cs typeface="Noto Sans" pitchFamily="34" charset="-120"/>
              </a:rPr>
              <a:t>10 · NAZORAT</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B57"/>
                </a:solidFill>
                <a:latin typeface="Noto Serif" pitchFamily="18" charset="0"/>
                <a:ea typeface="Noto Serif" pitchFamily="18" charset="-122"/>
                <a:cs typeface="Noto Serif" pitchFamily="18" charset="-120"/>
              </a:rPr>
              <a:t>Nazorat savollari</a:t>
            </a:r>
            <a:endParaRPr lang="en-US" sz="3200" dirty="0"/>
          </a:p>
        </p:txBody>
      </p:sp>
      <p:sp>
        <p:nvSpPr>
          <p:cNvPr id="4" name="Text 2"/>
          <p:cNvSpPr/>
          <p:nvPr/>
        </p:nvSpPr>
        <p:spPr>
          <a:xfrm>
            <a:off x="812800" y="1803400"/>
            <a:ext cx="3556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A8540F"/>
                </a:solidFill>
                <a:latin typeface="Noto Serif" pitchFamily="18" charset="0"/>
                <a:ea typeface="Noto Serif" pitchFamily="18" charset="-122"/>
                <a:cs typeface="Noto Serif" pitchFamily="18" charset="-120"/>
              </a:rPr>
              <a:t>1</a:t>
            </a:r>
            <a:endParaRPr lang="en-US" sz="1800" dirty="0"/>
          </a:p>
        </p:txBody>
      </p:sp>
      <p:sp>
        <p:nvSpPr>
          <p:cNvPr id="5" name="Text 3"/>
          <p:cNvSpPr/>
          <p:nvPr/>
        </p:nvSpPr>
        <p:spPr>
          <a:xfrm>
            <a:off x="1244600" y="1803400"/>
            <a:ext cx="481380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B57"/>
                </a:solidFill>
                <a:latin typeface="Noto Sans" pitchFamily="34" charset="0"/>
                <a:ea typeface="Noto Sans" pitchFamily="34" charset="-122"/>
                <a:cs typeface="Noto Sans" pitchFamily="34" charset="-120"/>
              </a:rPr>
              <a:t>Harakatni oʻzgartirish mexanizmi qanday vazifalarni bajaradi?</a:t>
            </a:r>
            <a:endParaRPr lang="en-US" sz="1500" dirty="0"/>
          </a:p>
        </p:txBody>
      </p:sp>
      <p:sp>
        <p:nvSpPr>
          <p:cNvPr id="6" name="Text 4"/>
          <p:cNvSpPr/>
          <p:nvPr/>
        </p:nvSpPr>
        <p:spPr>
          <a:xfrm>
            <a:off x="812800" y="2463800"/>
            <a:ext cx="3556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A8540F"/>
                </a:solidFill>
                <a:latin typeface="Noto Serif" pitchFamily="18" charset="0"/>
                <a:ea typeface="Noto Serif" pitchFamily="18" charset="-122"/>
                <a:cs typeface="Noto Serif" pitchFamily="18" charset="-120"/>
              </a:rPr>
              <a:t>2</a:t>
            </a:r>
            <a:endParaRPr lang="en-US" sz="1800" dirty="0"/>
          </a:p>
        </p:txBody>
      </p:sp>
      <p:sp>
        <p:nvSpPr>
          <p:cNvPr id="7" name="Text 5"/>
          <p:cNvSpPr/>
          <p:nvPr/>
        </p:nvSpPr>
        <p:spPr>
          <a:xfrm>
            <a:off x="1244600" y="2463800"/>
            <a:ext cx="481380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B57"/>
                </a:solidFill>
                <a:latin typeface="Noto Sans" pitchFamily="34" charset="0"/>
                <a:ea typeface="Noto Sans" pitchFamily="34" charset="-122"/>
                <a:cs typeface="Noto Sans" pitchFamily="34" charset="-120"/>
              </a:rPr>
              <a:t>ρ nima va u vint, reyka hamda reduktor uchun qanday ifodalanadi?</a:t>
            </a:r>
            <a:endParaRPr lang="en-US" sz="1500" dirty="0"/>
          </a:p>
        </p:txBody>
      </p:sp>
      <p:sp>
        <p:nvSpPr>
          <p:cNvPr id="8" name="Text 6"/>
          <p:cNvSpPr/>
          <p:nvPr/>
        </p:nvSpPr>
        <p:spPr>
          <a:xfrm>
            <a:off x="812800" y="3124200"/>
            <a:ext cx="3556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A8540F"/>
                </a:solidFill>
                <a:latin typeface="Noto Serif" pitchFamily="18" charset="0"/>
                <a:ea typeface="Noto Serif" pitchFamily="18" charset="-122"/>
                <a:cs typeface="Noto Serif" pitchFamily="18" charset="-120"/>
              </a:rPr>
              <a:t>3</a:t>
            </a:r>
            <a:endParaRPr lang="en-US" sz="1800" dirty="0"/>
          </a:p>
        </p:txBody>
      </p:sp>
      <p:sp>
        <p:nvSpPr>
          <p:cNvPr id="9" name="Text 7"/>
          <p:cNvSpPr/>
          <p:nvPr/>
        </p:nvSpPr>
        <p:spPr>
          <a:xfrm>
            <a:off x="1244600" y="3124200"/>
            <a:ext cx="50292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B57"/>
                </a:solidFill>
                <a:latin typeface="Noto Sans" pitchFamily="34" charset="0"/>
                <a:ea typeface="Noto Sans" pitchFamily="34" charset="-122"/>
                <a:cs typeface="Noto Sans" pitchFamily="34" charset="-120"/>
              </a:rPr>
              <a:t>Nima uchun keltirilgan inersiya ρ² ga proporsional?</a:t>
            </a:r>
            <a:endParaRPr lang="en-US" sz="1500" dirty="0"/>
          </a:p>
        </p:txBody>
      </p:sp>
      <p:sp>
        <p:nvSpPr>
          <p:cNvPr id="10" name="Text 8"/>
          <p:cNvSpPr/>
          <p:nvPr/>
        </p:nvSpPr>
        <p:spPr>
          <a:xfrm>
            <a:off x="812800" y="3571242"/>
            <a:ext cx="3556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A8540F"/>
                </a:solidFill>
                <a:latin typeface="Noto Serif" pitchFamily="18" charset="0"/>
                <a:ea typeface="Noto Serif" pitchFamily="18" charset="-122"/>
                <a:cs typeface="Noto Serif" pitchFamily="18" charset="-120"/>
              </a:rPr>
              <a:t>4</a:t>
            </a:r>
            <a:endParaRPr lang="en-US" sz="1800" dirty="0"/>
          </a:p>
        </p:txBody>
      </p:sp>
      <p:sp>
        <p:nvSpPr>
          <p:cNvPr id="11" name="Text 9"/>
          <p:cNvSpPr/>
          <p:nvPr/>
        </p:nvSpPr>
        <p:spPr>
          <a:xfrm>
            <a:off x="1244600" y="3571242"/>
            <a:ext cx="481380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B57"/>
                </a:solidFill>
                <a:latin typeface="Noto Sans" pitchFamily="34" charset="0"/>
                <a:ea typeface="Noto Sans" pitchFamily="34" charset="-122"/>
                <a:cs typeface="Noto Sans" pitchFamily="34" charset="-120"/>
              </a:rPr>
              <a:t>FIK motor va generator rejimlarida modelga qanday kiradi?</a:t>
            </a:r>
            <a:endParaRPr lang="en-US" sz="1500" dirty="0"/>
          </a:p>
        </p:txBody>
      </p:sp>
      <p:sp>
        <p:nvSpPr>
          <p:cNvPr id="12" name="Text 10"/>
          <p:cNvSpPr/>
          <p:nvPr/>
        </p:nvSpPr>
        <p:spPr>
          <a:xfrm>
            <a:off x="6273800" y="1803400"/>
            <a:ext cx="3556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A8540F"/>
                </a:solidFill>
                <a:latin typeface="Noto Serif" pitchFamily="18" charset="0"/>
                <a:ea typeface="Noto Serif" pitchFamily="18" charset="-122"/>
                <a:cs typeface="Noto Serif" pitchFamily="18" charset="-120"/>
              </a:rPr>
              <a:t>5</a:t>
            </a:r>
            <a:endParaRPr lang="en-US" sz="1800" dirty="0"/>
          </a:p>
        </p:txBody>
      </p:sp>
      <p:sp>
        <p:nvSpPr>
          <p:cNvPr id="13" name="Text 11"/>
          <p:cNvSpPr/>
          <p:nvPr/>
        </p:nvSpPr>
        <p:spPr>
          <a:xfrm>
            <a:off x="6705600" y="1803400"/>
            <a:ext cx="481380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B57"/>
                </a:solidFill>
                <a:latin typeface="Noto Sans" pitchFamily="34" charset="0"/>
                <a:ea typeface="Noto Sans" pitchFamily="34" charset="-122"/>
                <a:cs typeface="Noto Sans" pitchFamily="34" charset="-120"/>
              </a:rPr>
              <a:t>Inersiyalarni moslashtirish sharti qanday keltirib chiqariladi?</a:t>
            </a:r>
            <a:endParaRPr lang="en-US" sz="1500" dirty="0"/>
          </a:p>
        </p:txBody>
      </p:sp>
      <p:sp>
        <p:nvSpPr>
          <p:cNvPr id="14" name="Text 12"/>
          <p:cNvSpPr/>
          <p:nvPr/>
        </p:nvSpPr>
        <p:spPr>
          <a:xfrm>
            <a:off x="6273800" y="2463800"/>
            <a:ext cx="3556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A8540F"/>
                </a:solidFill>
                <a:latin typeface="Noto Serif" pitchFamily="18" charset="0"/>
                <a:ea typeface="Noto Serif" pitchFamily="18" charset="-122"/>
                <a:cs typeface="Noto Serif" pitchFamily="18" charset="-120"/>
              </a:rPr>
              <a:t>6</a:t>
            </a:r>
            <a:endParaRPr lang="en-US" sz="1800" dirty="0"/>
          </a:p>
        </p:txBody>
      </p:sp>
      <p:sp>
        <p:nvSpPr>
          <p:cNvPr id="15" name="Text 13"/>
          <p:cNvSpPr/>
          <p:nvPr/>
        </p:nvSpPr>
        <p:spPr>
          <a:xfrm>
            <a:off x="6705600" y="2463800"/>
            <a:ext cx="481380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B57"/>
                </a:solidFill>
                <a:latin typeface="Noto Sans" pitchFamily="34" charset="0"/>
                <a:ea typeface="Noto Sans" pitchFamily="34" charset="-122"/>
                <a:cs typeface="Noto Sans" pitchFamily="34" charset="-120"/>
              </a:rPr>
              <a:t>Krivoship–polzunda keltirilgan inersiya nima uchun oʻzgaruvchan?</a:t>
            </a:r>
            <a:endParaRPr lang="en-US" sz="1500" dirty="0"/>
          </a:p>
        </p:txBody>
      </p:sp>
      <p:sp>
        <p:nvSpPr>
          <p:cNvPr id="16" name="Text 14"/>
          <p:cNvSpPr/>
          <p:nvPr/>
        </p:nvSpPr>
        <p:spPr>
          <a:xfrm>
            <a:off x="6273800" y="3124200"/>
            <a:ext cx="3556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A8540F"/>
                </a:solidFill>
                <a:latin typeface="Noto Serif" pitchFamily="18" charset="0"/>
                <a:ea typeface="Noto Serif" pitchFamily="18" charset="-122"/>
                <a:cs typeface="Noto Serif" pitchFamily="18" charset="-120"/>
              </a:rPr>
              <a:t>7</a:t>
            </a:r>
            <a:endParaRPr lang="en-US" sz="1800" dirty="0"/>
          </a:p>
        </p:txBody>
      </p:sp>
      <p:sp>
        <p:nvSpPr>
          <p:cNvPr id="17" name="Text 15"/>
          <p:cNvSpPr/>
          <p:nvPr/>
        </p:nvSpPr>
        <p:spPr>
          <a:xfrm>
            <a:off x="6705600" y="3124200"/>
            <a:ext cx="481380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B57"/>
                </a:solidFill>
                <a:latin typeface="Noto Sans" pitchFamily="34" charset="0"/>
                <a:ea typeface="Noto Sans" pitchFamily="34" charset="-122"/>
                <a:cs typeface="Noto Sans" pitchFamily="34" charset="-120"/>
              </a:rPr>
              <a:t>Rezonans va antirezonans chastotalari qanday aniqlanadi?</a:t>
            </a:r>
            <a:endParaRPr lang="en-US" sz="1500" dirty="0"/>
          </a:p>
        </p:txBody>
      </p:sp>
      <p:sp>
        <p:nvSpPr>
          <p:cNvPr id="18" name="Text 16"/>
          <p:cNvSpPr/>
          <p:nvPr/>
        </p:nvSpPr>
        <p:spPr>
          <a:xfrm>
            <a:off x="6273800" y="3784600"/>
            <a:ext cx="3556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A8540F"/>
                </a:solidFill>
                <a:latin typeface="Noto Serif" pitchFamily="18" charset="0"/>
                <a:ea typeface="Noto Serif" pitchFamily="18" charset="-122"/>
                <a:cs typeface="Noto Serif" pitchFamily="18" charset="-120"/>
              </a:rPr>
              <a:t>8</a:t>
            </a:r>
            <a:endParaRPr lang="en-US" sz="1800" dirty="0"/>
          </a:p>
        </p:txBody>
      </p:sp>
      <p:sp>
        <p:nvSpPr>
          <p:cNvPr id="19" name="Text 17"/>
          <p:cNvSpPr/>
          <p:nvPr/>
        </p:nvSpPr>
        <p:spPr>
          <a:xfrm>
            <a:off x="6705600" y="3784600"/>
            <a:ext cx="481380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B57"/>
                </a:solidFill>
                <a:latin typeface="Noto Sans" pitchFamily="34" charset="0"/>
                <a:ea typeface="Noto Sans" pitchFamily="34" charset="-122"/>
                <a:cs typeface="Noto Sans" pitchFamily="34" charset="-120"/>
              </a:rPr>
              <a:t>Lyuft va Kulon ishqalanishi boshqaruvga qanday taʼsir qiladi?</a:t>
            </a:r>
            <a:endParaRPr lang="en-US" sz="1500" dirty="0"/>
          </a:p>
        </p:txBody>
      </p:sp>
      <p:sp>
        <p:nvSpPr>
          <p:cNvPr id="20" name="Text 18"/>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7"/>
                </a:solidFill>
                <a:latin typeface="Noto Sans" pitchFamily="34" charset="0"/>
                <a:ea typeface="Noto Sans" pitchFamily="34" charset="-122"/>
                <a:cs typeface="Noto Sans" pitchFamily="34" charset="-120"/>
              </a:rPr>
              <a:t>Mexatron modul va robotlarni modellashtirish · Amaliyot №5 · 21</a:t>
            </a:r>
            <a:endParaRPr lang="en-US" sz="1200" dirty="0"/>
          </a:p>
        </p:txBody>
      </p:sp>
    </p:spTree>
  </p:cSld>
  <p:clrMapOvr>
    <a:masterClrMapping/>
  </p:clrMapOvr>
</p:sld>
</file>

<file path=ppt/theme/theme1.xml><?xml version="1.0" encoding="utf-8"?>
<a:theme xmlns:a="http://schemas.openxmlformats.org/drawingml/2006/main" name="Harakatni oʻzgartirish mexanizmlarini modellashtirish — Amaliyot №5">
  <a:themeElements>
    <a:clrScheme name="Harakatni oʻzgartirish mexanizmlarini modellashtirish — Amaliyot №5">
      <a:dk1>
        <a:srgbClr val="142B57"/>
      </a:dk1>
      <a:lt1>
        <a:srgbClr val="F5F4EF"/>
      </a:lt1>
      <a:dk2>
        <a:srgbClr val="4C5D7D"/>
      </a:dk2>
      <a:lt2>
        <a:srgbClr val="DFE0E0"/>
      </a:lt2>
      <a:accent1>
        <a:srgbClr val="3B4862"/>
      </a:accent1>
      <a:accent2>
        <a:srgbClr val="A8540F"/>
      </a:accent2>
      <a:accent3>
        <a:srgbClr val="D9731F"/>
      </a:accent3>
      <a:accent4>
        <a:srgbClr val="F0A766"/>
      </a:accent4>
      <a:accent5>
        <a:srgbClr val="6B7487"/>
      </a:accent5>
      <a:accent6>
        <a:srgbClr val="C9D3E6"/>
      </a:accent6>
      <a:hlink>
        <a:srgbClr val="0563C1"/>
      </a:hlink>
      <a:folHlink>
        <a:srgbClr val="954F72"/>
      </a:folHlink>
    </a:clrScheme>
    <a:fontScheme name="Harakatni oʻzgartirish mexanizmlarini modellashtirish — Amaliyot №5">
      <a:majorFont>
        <a:latin typeface="Noto Serif"/>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Harakatni oʻzgartirish mexanizmlarini modellashtirish — Amaliyot №5</dc:title>
  <dc:subject/>
  <dc:creator/>
  <cp:lastModifiedBy/>
  <cp:revision>1</cp:revision>
  <dcterms:created xsi:type="dcterms:W3CDTF">2026-10-20T04:22:13Z</dcterms:created>
  <dcterms:modified xsi:type="dcterms:W3CDTF">2026-10-20T04:22:13Z</dcterms:modified>
</cp:coreProperties>
</file>